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4" r:id="rId4"/>
    <p:sldId id="263"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00FE7D-2B81-4D6A-9061-7060556C8D91}" type="datetimeFigureOut">
              <a:rPr lang="en-IN" smtClean="0"/>
              <a:t>18-10-2026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05F2D6-B3D2-4A03-9A05-C10A63EEBF88}" type="slidenum">
              <a:rPr lang="en-IN" smtClean="0"/>
              <a:t>‹#›</a:t>
            </a:fld>
            <a:endParaRPr lang="en-IN"/>
          </a:p>
        </p:txBody>
      </p:sp>
    </p:spTree>
    <p:extLst>
      <p:ext uri="{BB962C8B-B14F-4D97-AF65-F5344CB8AC3E}">
        <p14:creationId xmlns:p14="http://schemas.microsoft.com/office/powerpoint/2010/main" val="370418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Payer is the small hotel owner. We chose a monthly per-property subscription over a per-quote fee for predictable revenue. Starter is 499 a month up to 15 rooms, Growth 899 for 16 to 30 rooms; setup 999, waived for annual plans. Blended at 70/30 the hotel brings 619 a month against 120 variable cost: 499 contribution, about 81% margin. CAC 1,500 pays back in 3 months; LTV 9,980 at 5% churn gives 6.7x LTV to CAC. At 100 hotels: about 6 lakh annual contribution; even the low-demand case (50 hotels) yields about 3 lakh.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in Mumbai and nearby leisure towns with independent 10 to 50 room hotels that get group enquiries. Leads come from directories, Google Maps, hotel associations, referrals and direct outreach. Every demo uses a realistic 40-guest wedding block. Week by week: list 60 hotels, run 20 demos, put 8 on a 14-day pilot, convert 3. These are targets until they happen. Decision at day 30: at least 30% contact-to-demo keeps the channel; 3 or more paid hotels means we add the next city. Budget is team time only, no paid ads.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build: 1) Built different, what sets C32 apart for 10–25 room hotels. 2) What hotels gain day to day. 3) The C32 advantage, four business outcomes. 4) The dashboard snapshot: 12 open quotes, 8 confirmed groups, 240 rooms booked, +35% booking trend.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3469E-DE66-0493-048D-A7A1F97493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797D47-2F35-9A00-9B27-D75295397A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655604-B496-0F75-F301-10A793301187}"/>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5" name="Footer Placeholder 4">
            <a:extLst>
              <a:ext uri="{FF2B5EF4-FFF2-40B4-BE49-F238E27FC236}">
                <a16:creationId xmlns:a16="http://schemas.microsoft.com/office/drawing/2014/main" id="{4600BD58-1C60-6F6F-B275-32F2525A30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E4754F-3EBD-30D5-3AD8-D3E081599F75}"/>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152700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C9E52-2DE3-962C-0220-C97589E552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0DD85E-BBC2-A36C-FA04-6DF8138F0F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1B2B68-8214-F13F-0DF3-A77F207F77DC}"/>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5" name="Footer Placeholder 4">
            <a:extLst>
              <a:ext uri="{FF2B5EF4-FFF2-40B4-BE49-F238E27FC236}">
                <a16:creationId xmlns:a16="http://schemas.microsoft.com/office/drawing/2014/main" id="{FC06F005-D9BE-F1CE-EB27-D70F4FE3D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0B7594-31FD-4D8F-F6DE-73E5B97BBE2E}"/>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1257977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D5F9-DF05-05C9-631A-CAC14D4991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ADE8C3-8CD2-B220-8B8C-0B24B38849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0D026E-6DCF-FA9C-3F71-A6E8A2F6C516}"/>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5" name="Footer Placeholder 4">
            <a:extLst>
              <a:ext uri="{FF2B5EF4-FFF2-40B4-BE49-F238E27FC236}">
                <a16:creationId xmlns:a16="http://schemas.microsoft.com/office/drawing/2014/main" id="{A2533714-AD7D-DE8F-1CD5-44D8999FFC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B5BD82-A663-D177-012E-65387701626D}"/>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2015712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6C00D-FFBA-0A88-CCC7-9BD7EA7060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DFBFE-2832-2340-E4AB-00DEBB3664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DA3B6C-280D-006E-5A1E-705B172BC6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C34AD5-8220-C962-5F7A-591CEF2861A2}"/>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6" name="Footer Placeholder 5">
            <a:extLst>
              <a:ext uri="{FF2B5EF4-FFF2-40B4-BE49-F238E27FC236}">
                <a16:creationId xmlns:a16="http://schemas.microsoft.com/office/drawing/2014/main" id="{2D28CDEB-A811-41A2-07A0-D61592D141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BAA21E-15E9-A4BC-0040-680853FB1594}"/>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2741392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BAF5D-8771-CED1-F343-19D825C03A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A6AF21-81E4-FF85-6719-120B34EAC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1F2355-E091-64FC-1064-707405E497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A197D0-C940-2FED-90AD-D923B5A225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E15E43-B859-E8C1-CF1B-E41ADE1579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45817A-BBFB-E9B9-BE6F-AB54F6C703FD}"/>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8" name="Footer Placeholder 7">
            <a:extLst>
              <a:ext uri="{FF2B5EF4-FFF2-40B4-BE49-F238E27FC236}">
                <a16:creationId xmlns:a16="http://schemas.microsoft.com/office/drawing/2014/main" id="{4DEB2925-CEC0-121E-5147-61780332A0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2F65B7-E4B8-0A53-EC9E-84A4595A9259}"/>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392060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1C5F-FE77-00EB-548E-A55CA48CC27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051C58-A8D8-14D0-87DA-E098AC7716B9}"/>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4" name="Footer Placeholder 3">
            <a:extLst>
              <a:ext uri="{FF2B5EF4-FFF2-40B4-BE49-F238E27FC236}">
                <a16:creationId xmlns:a16="http://schemas.microsoft.com/office/drawing/2014/main" id="{025BF49E-B1F8-757E-CDF0-06D78B9A0F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B169C7-25F2-6462-B25E-EB47C2785D44}"/>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2243146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B687E4-0677-2101-2E77-5BC15B3C4B8E}"/>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3" name="Footer Placeholder 2">
            <a:extLst>
              <a:ext uri="{FF2B5EF4-FFF2-40B4-BE49-F238E27FC236}">
                <a16:creationId xmlns:a16="http://schemas.microsoft.com/office/drawing/2014/main" id="{B2523059-14C6-95DA-A666-F4F49CBE81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82A1E0-121A-89A3-81D5-E8D2F1333ED4}"/>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355281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27206-F5B2-8197-24CF-81EDF5A53E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71710E2-81D0-EA2E-67BD-8BCA36AB79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4EEEBE-D343-CDC7-9164-CDF420009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DA4032-853B-CD1C-1E94-C90392228630}"/>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6" name="Footer Placeholder 5">
            <a:extLst>
              <a:ext uri="{FF2B5EF4-FFF2-40B4-BE49-F238E27FC236}">
                <a16:creationId xmlns:a16="http://schemas.microsoft.com/office/drawing/2014/main" id="{52562FF4-1EC4-712B-E22B-D15C5D1398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98E15C-C32D-7281-1468-13A8CC46759E}"/>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283306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9669D-D870-DCC7-9E1D-C3FF8E6061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DFC8C3C-ABA4-2ABE-0DFB-0DA5AD5391A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916E0ED-E20E-7435-27E7-6783027377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E0A064-67AB-C3A3-0176-67A38DDF9E8D}"/>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6" name="Footer Placeholder 5">
            <a:extLst>
              <a:ext uri="{FF2B5EF4-FFF2-40B4-BE49-F238E27FC236}">
                <a16:creationId xmlns:a16="http://schemas.microsoft.com/office/drawing/2014/main" id="{6572C5EA-2F38-3E19-41E9-0D2E17B6CE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F44B9D-301B-7F73-659C-8AFD6E823F35}"/>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733956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ED79E-A668-C37A-E620-99D304EE4C9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C03487-1FD9-FDBD-6C26-61145277C2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06AE65-72BE-5C37-77E6-BB7571564730}"/>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5" name="Footer Placeholder 4">
            <a:extLst>
              <a:ext uri="{FF2B5EF4-FFF2-40B4-BE49-F238E27FC236}">
                <a16:creationId xmlns:a16="http://schemas.microsoft.com/office/drawing/2014/main" id="{2D3405BF-94E5-5732-4B5A-47AC8948D2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C719B8-13B3-8F1D-D2DE-A9A44521C4A8}"/>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1048226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BC93-6D3E-C371-54DB-AF8F555740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78B67C-67CE-7185-730F-2952A9EAEF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F41569-C68F-F258-B9C9-B33197CAF33D}"/>
              </a:ext>
            </a:extLst>
          </p:cNvPr>
          <p:cNvSpPr>
            <a:spLocks noGrp="1"/>
          </p:cNvSpPr>
          <p:nvPr>
            <p:ph type="dt" sz="half" idx="10"/>
          </p:nvPr>
        </p:nvSpPr>
        <p:spPr/>
        <p:txBody>
          <a:bodyPr/>
          <a:lstStyle/>
          <a:p>
            <a:fld id="{FD756AA0-B89E-4E2C-B949-0DF06B20FB36}" type="datetimeFigureOut">
              <a:rPr lang="en-IN" smtClean="0"/>
              <a:t>18-10-2026</a:t>
            </a:fld>
            <a:endParaRPr lang="en-IN"/>
          </a:p>
        </p:txBody>
      </p:sp>
      <p:sp>
        <p:nvSpPr>
          <p:cNvPr id="5" name="Footer Placeholder 4">
            <a:extLst>
              <a:ext uri="{FF2B5EF4-FFF2-40B4-BE49-F238E27FC236}">
                <a16:creationId xmlns:a16="http://schemas.microsoft.com/office/drawing/2014/main" id="{F5F55AC9-30CB-802C-5026-0C68A98380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7F2DCA-72B5-5615-CA7D-27E917E2CC74}"/>
              </a:ext>
            </a:extLst>
          </p:cNvPr>
          <p:cNvSpPr>
            <a:spLocks noGrp="1"/>
          </p:cNvSpPr>
          <p:nvPr>
            <p:ph type="sldNum" sz="quarter" idx="12"/>
          </p:nvPr>
        </p:nvSpPr>
        <p:spPr/>
        <p:txBody>
          <a:bodyPr/>
          <a:lstStyle/>
          <a:p>
            <a:fld id="{308935C7-CB04-4CBE-94AE-43C96709BDC6}" type="slidenum">
              <a:rPr lang="en-IN" smtClean="0"/>
              <a:t>‹#›</a:t>
            </a:fld>
            <a:endParaRPr lang="en-IN"/>
          </a:p>
        </p:txBody>
      </p:sp>
    </p:spTree>
    <p:extLst>
      <p:ext uri="{BB962C8B-B14F-4D97-AF65-F5344CB8AC3E}">
        <p14:creationId xmlns:p14="http://schemas.microsoft.com/office/powerpoint/2010/main" val="1313059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bg>
      <p:bgPr>
        <a:solidFill>
          <a:schemeClr val="bg2"/>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236136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558800"/>
            <a:ext cx="5551884" cy="530860"/>
          </a:xfrm>
          <a:prstGeom prst="rect">
            <a:avLst/>
          </a:prstGeom>
          <a:noFill/>
          <a:ln/>
        </p:spPr>
        <p:txBody>
          <a:bodyPr wrap="square" lIns="0" tIns="0" rIns="0" bIns="0" rtlCol="0" anchor="t"/>
          <a:lstStyle>
            <a:lvl1pPr marL="0" indent="0" algn="l">
              <a:lnSpc>
                <a:spcPct val="110000"/>
              </a:lnSpc>
              <a:buNone/>
              <a:defRPr lang="en-US" sz="3800" dirty="0">
                <a:solidFill>
                  <a:srgbClr val="F4F0E6"/>
                </a:solidFill>
                <a:latin typeface="DM Sans" pitchFamily="34" charset="0"/>
                <a:ea typeface="DM Sans" pitchFamily="34" charset="-122"/>
                <a:cs typeface="DM Sans" pitchFamily="34" charset="-120"/>
              </a:defRPr>
            </a:lvl1pPr>
          </a:lstStyle>
          <a:p>
            <a:pPr marL="0" indent="0" algn="l">
              <a:lnSpc>
                <a:spcPct val="110000"/>
              </a:lnSpc>
              <a:buNone/>
            </a:pPr>
            <a:endParaRPr lang="en-US" sz="3800" dirty="0"/>
          </a:p>
        </p:txBody>
      </p:sp>
      <p:sp>
        <p:nvSpPr>
          <p:cNvPr id="3" name="Text Placeholder 2"/>
          <p:cNvSpPr>
            <a:spLocks noGrp="1"/>
          </p:cNvSpPr>
          <p:nvPr>
            <p:ph type="body" idx="101"/>
          </p:nvPr>
        </p:nvSpPr>
        <p:spPr>
          <a:xfrm>
            <a:off x="812800" y="1394460"/>
            <a:ext cx="10566400" cy="4650740"/>
          </a:xfrm>
          <a:prstGeom prst="rect">
            <a:avLst/>
          </a:prstGeom>
          <a:noFill/>
          <a:ln/>
        </p:spPr>
        <p:txBody>
          <a:bodyPr wrap="square" lIns="0" tIns="0" rIns="0" bIns="0" rtlCol="0" anchor="t"/>
          <a:lstStyle>
            <a:lvl1pPr marL="0" indent="0" algn="l">
              <a:lnSpc>
                <a:spcPct val="140000"/>
              </a:lnSpc>
              <a:buNone/>
              <a:defRPr lang="en-US" sz="1600" dirty="0">
                <a:solidFill>
                  <a:srgbClr val="F4F0E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4166280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1D6BD0-5D24-92EE-7AB1-16AF37305D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3F2F65-5CCC-76FB-CD11-EA54446F65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A36D9C-E70A-CC4B-2A1C-8BA9F581CB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756AA0-B89E-4E2C-B949-0DF06B20FB36}" type="datetimeFigureOut">
              <a:rPr lang="en-IN" smtClean="0"/>
              <a:t>18-10-2026</a:t>
            </a:fld>
            <a:endParaRPr lang="en-IN"/>
          </a:p>
        </p:txBody>
      </p:sp>
      <p:sp>
        <p:nvSpPr>
          <p:cNvPr id="5" name="Footer Placeholder 4">
            <a:extLst>
              <a:ext uri="{FF2B5EF4-FFF2-40B4-BE49-F238E27FC236}">
                <a16:creationId xmlns:a16="http://schemas.microsoft.com/office/drawing/2014/main" id="{CBB36B91-30E8-A550-9E41-223F810687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4D73DF0-519B-6D42-A976-57B122C4DD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8935C7-CB04-4CBE-94AE-43C96709BDC6}" type="slidenum">
              <a:rPr lang="en-IN" smtClean="0"/>
              <a:t>‹#›</a:t>
            </a:fld>
            <a:endParaRPr lang="en-IN"/>
          </a:p>
        </p:txBody>
      </p:sp>
    </p:spTree>
    <p:extLst>
      <p:ext uri="{BB962C8B-B14F-4D97-AF65-F5344CB8AC3E}">
        <p14:creationId xmlns:p14="http://schemas.microsoft.com/office/powerpoint/2010/main" val="1514762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9226BFE7-7D3D-A17A-FCF9-FB93FC472C83}"/>
              </a:ext>
            </a:extLst>
          </p:cNvPr>
          <p:cNvSpPr txBox="1"/>
          <p:nvPr/>
        </p:nvSpPr>
        <p:spPr>
          <a:xfrm>
            <a:off x="457200" y="822960"/>
            <a:ext cx="11247120" cy="457199"/>
          </a:xfrm>
          <a:prstGeom prst="rect">
            <a:avLst/>
          </a:prstGeom>
          <a:noFill/>
          <a:ln/>
        </p:spPr>
        <p:txBody>
          <a:bodyPr wrap="square" lIns="0" tIns="0" rIns="0" bIns="0" rtlCol="0" anchor="t"/>
          <a:lstStyle/>
          <a:p>
            <a:pPr marL="0" indent="0">
              <a:buNone/>
            </a:pPr>
            <a:r>
              <a:rPr lang="en-US" sz="3600" b="1" dirty="0">
                <a:solidFill>
                  <a:schemeClr val="tx1"/>
                </a:solidFill>
              </a:rPr>
              <a:t>Why this product needs to exist</a:t>
            </a:r>
            <a:endParaRPr lang="en-US" sz="3600" dirty="0"/>
          </a:p>
        </p:txBody>
      </p:sp>
      <p:sp>
        <p:nvSpPr>
          <p:cNvPr id="5" name="Value proposition">
            <a:extLst>
              <a:ext uri="{FF2B5EF4-FFF2-40B4-BE49-F238E27FC236}">
                <a16:creationId xmlns:a16="http://schemas.microsoft.com/office/drawing/2014/main" id="{F4B973DE-F407-5909-F99A-0EC8FD754A7F}"/>
              </a:ext>
            </a:extLst>
          </p:cNvPr>
          <p:cNvSpPr/>
          <p:nvPr/>
        </p:nvSpPr>
        <p:spPr>
          <a:xfrm>
            <a:off x="457200" y="1463040"/>
            <a:ext cx="11274552" cy="822960"/>
          </a:xfrm>
          <a:prstGeom prst="roundRect">
            <a:avLst>
              <a:gd name="adj" fmla="val 13333"/>
            </a:avLst>
          </a:prstGeom>
          <a:solidFill>
            <a:schemeClr val="tx2"/>
          </a:solidFill>
          <a:ln w="12700">
            <a:solidFill>
              <a:schemeClr val="tx2"/>
            </a:solidFill>
            <a:prstDash val="solid"/>
          </a:ln>
        </p:spPr>
        <p:txBody>
          <a:bodyPr/>
          <a:lstStyle/>
          <a:p>
            <a:endParaRPr lang="en-IN"/>
          </a:p>
        </p:txBody>
      </p:sp>
      <p:sp>
        <p:nvSpPr>
          <p:cNvPr id="7" name="Shape 3">
            <a:extLst>
              <a:ext uri="{FF2B5EF4-FFF2-40B4-BE49-F238E27FC236}">
                <a16:creationId xmlns:a16="http://schemas.microsoft.com/office/drawing/2014/main" id="{286BD9D6-F34C-5B8B-FA48-5BA531765762}"/>
              </a:ext>
            </a:extLst>
          </p:cNvPr>
          <p:cNvSpPr/>
          <p:nvPr/>
        </p:nvSpPr>
        <p:spPr>
          <a:xfrm>
            <a:off x="685800" y="1627632"/>
            <a:ext cx="493776" cy="493776"/>
          </a:xfrm>
          <a:prstGeom prst="ellipse">
            <a:avLst/>
          </a:prstGeom>
          <a:solidFill>
            <a:srgbClr val="E3A23B"/>
          </a:solidFill>
          <a:ln w="12700">
            <a:solidFill>
              <a:srgbClr val="E3A23B"/>
            </a:solidFill>
            <a:prstDash val="solid"/>
          </a:ln>
        </p:spPr>
        <p:txBody>
          <a:bodyPr/>
          <a:lstStyle/>
          <a:p>
            <a:endParaRPr lang="en-IN"/>
          </a:p>
        </p:txBody>
      </p:sp>
      <p:pic>
        <p:nvPicPr>
          <p:cNvPr id="9" name="Image 0" descr="preencoded.png">
            <a:extLst>
              <a:ext uri="{FF2B5EF4-FFF2-40B4-BE49-F238E27FC236}">
                <a16:creationId xmlns:a16="http://schemas.microsoft.com/office/drawing/2014/main" id="{0E2B8AB5-BA14-AAB6-EB37-6F5090D16714}"/>
              </a:ext>
            </a:extLst>
          </p:cNvPr>
          <p:cNvPicPr>
            <a:picLocks noChangeAspect="1"/>
          </p:cNvPicPr>
          <p:nvPr/>
        </p:nvPicPr>
        <p:blipFill>
          <a:blip r:embed="rId2"/>
          <a:stretch>
            <a:fillRect/>
          </a:stretch>
        </p:blipFill>
        <p:spPr>
          <a:xfrm>
            <a:off x="804672" y="1746504"/>
            <a:ext cx="256032" cy="256032"/>
          </a:xfrm>
          <a:prstGeom prst="rect">
            <a:avLst/>
          </a:prstGeom>
        </p:spPr>
      </p:pic>
      <p:sp>
        <p:nvSpPr>
          <p:cNvPr id="11" name="Text 4">
            <a:extLst>
              <a:ext uri="{FF2B5EF4-FFF2-40B4-BE49-F238E27FC236}">
                <a16:creationId xmlns:a16="http://schemas.microsoft.com/office/drawing/2014/main" id="{F44743B7-905C-8E7B-3CEB-B8DDAA81BCE9}"/>
              </a:ext>
            </a:extLst>
          </p:cNvPr>
          <p:cNvSpPr txBox="1"/>
          <p:nvPr/>
        </p:nvSpPr>
        <p:spPr>
          <a:xfrm>
            <a:off x="1371600" y="1536192"/>
            <a:ext cx="10149840" cy="685800"/>
          </a:xfrm>
          <a:prstGeom prst="rect">
            <a:avLst/>
          </a:prstGeom>
          <a:noFill/>
          <a:ln/>
        </p:spPr>
        <p:txBody>
          <a:bodyPr wrap="square" lIns="0" tIns="0" rIns="0" bIns="0" rtlCol="0" anchor="ctr"/>
          <a:lstStyle/>
          <a:p>
            <a:pPr marL="0" indent="0">
              <a:buNone/>
            </a:pPr>
            <a:r>
              <a:rPr lang="en-US" sz="1100" b="1" kern="0" spc="200" dirty="0">
                <a:solidFill>
                  <a:srgbClr val="F6D38A"/>
                </a:solidFill>
              </a:rPr>
              <a:t>VALUE PROPOSITION</a:t>
            </a:r>
            <a:endParaRPr lang="en-US" sz="1100" dirty="0"/>
          </a:p>
          <a:p>
            <a:pPr marL="0" indent="0">
              <a:buNone/>
            </a:pPr>
            <a:r>
              <a:rPr lang="en-US" sz="1700" b="1" dirty="0">
                <a:solidFill>
                  <a:srgbClr val="FFFFFF"/>
                </a:solidFill>
              </a:rPr>
              <a:t>Faster, more reliable group quotations, without accidentally accepting infeasible or unprofitable bookings</a:t>
            </a:r>
            <a:endParaRPr lang="en-US" sz="1100" dirty="0"/>
          </a:p>
        </p:txBody>
      </p:sp>
      <p:sp>
        <p:nvSpPr>
          <p:cNvPr id="13" name="Shape 5">
            <a:extLst>
              <a:ext uri="{FF2B5EF4-FFF2-40B4-BE49-F238E27FC236}">
                <a16:creationId xmlns:a16="http://schemas.microsoft.com/office/drawing/2014/main" id="{EE2B2662-BB13-3CAC-D27A-62350CE174FE}"/>
              </a:ext>
            </a:extLst>
          </p:cNvPr>
          <p:cNvSpPr/>
          <p:nvPr/>
        </p:nvSpPr>
        <p:spPr>
          <a:xfrm>
            <a:off x="457200" y="2606040"/>
            <a:ext cx="512064" cy="512064"/>
          </a:xfrm>
          <a:prstGeom prst="ellipse">
            <a:avLst/>
          </a:prstGeom>
          <a:solidFill>
            <a:schemeClr val="accent3"/>
          </a:solidFill>
          <a:ln w="12700">
            <a:solidFill>
              <a:schemeClr val="accent3"/>
            </a:solidFill>
            <a:prstDash val="solid"/>
          </a:ln>
        </p:spPr>
        <p:txBody>
          <a:bodyPr/>
          <a:lstStyle/>
          <a:p>
            <a:endParaRPr lang="en-IN"/>
          </a:p>
        </p:txBody>
      </p:sp>
      <p:pic>
        <p:nvPicPr>
          <p:cNvPr id="15" name="Image 1" descr="preencoded.png">
            <a:extLst>
              <a:ext uri="{FF2B5EF4-FFF2-40B4-BE49-F238E27FC236}">
                <a16:creationId xmlns:a16="http://schemas.microsoft.com/office/drawing/2014/main" id="{BFC27813-1871-C802-8415-9AD4E3A95362}"/>
              </a:ext>
            </a:extLst>
          </p:cNvPr>
          <p:cNvPicPr>
            <a:picLocks noChangeAspect="1"/>
          </p:cNvPicPr>
          <p:nvPr/>
        </p:nvPicPr>
        <p:blipFill>
          <a:blip r:embed="rId3"/>
          <a:stretch>
            <a:fillRect/>
          </a:stretch>
        </p:blipFill>
        <p:spPr>
          <a:xfrm>
            <a:off x="585216" y="2734056"/>
            <a:ext cx="256032" cy="256032"/>
          </a:xfrm>
          <a:prstGeom prst="rect">
            <a:avLst/>
          </a:prstGeom>
        </p:spPr>
      </p:pic>
      <p:sp>
        <p:nvSpPr>
          <p:cNvPr id="17" name="Text 6">
            <a:extLst>
              <a:ext uri="{FF2B5EF4-FFF2-40B4-BE49-F238E27FC236}">
                <a16:creationId xmlns:a16="http://schemas.microsoft.com/office/drawing/2014/main" id="{210B90FE-F4E4-AC9C-1978-45D1C22877BC}"/>
              </a:ext>
            </a:extLst>
          </p:cNvPr>
          <p:cNvSpPr txBox="1"/>
          <p:nvPr/>
        </p:nvSpPr>
        <p:spPr>
          <a:xfrm>
            <a:off x="1143000" y="2587752"/>
            <a:ext cx="2377440" cy="274320"/>
          </a:xfrm>
          <a:prstGeom prst="rect">
            <a:avLst/>
          </a:prstGeom>
          <a:noFill/>
          <a:ln/>
        </p:spPr>
        <p:txBody>
          <a:bodyPr wrap="square" lIns="0" tIns="0" rIns="0" bIns="0" rtlCol="0" anchor="t"/>
          <a:lstStyle/>
          <a:p>
            <a:pPr marL="0" indent="0">
              <a:buNone/>
            </a:pPr>
            <a:r>
              <a:rPr lang="en-US" sz="1500" b="1" dirty="0">
                <a:solidFill>
                  <a:schemeClr val="tx1"/>
                </a:solidFill>
              </a:rPr>
              <a:t>Target segment</a:t>
            </a:r>
            <a:endParaRPr lang="en-US" sz="1500" dirty="0"/>
          </a:p>
        </p:txBody>
      </p:sp>
      <p:sp>
        <p:nvSpPr>
          <p:cNvPr id="19" name="Text 7">
            <a:extLst>
              <a:ext uri="{FF2B5EF4-FFF2-40B4-BE49-F238E27FC236}">
                <a16:creationId xmlns:a16="http://schemas.microsoft.com/office/drawing/2014/main" id="{601ABACD-36B9-AC7E-D260-6E98BBCE66EC}"/>
              </a:ext>
            </a:extLst>
          </p:cNvPr>
          <p:cNvSpPr txBox="1"/>
          <p:nvPr/>
        </p:nvSpPr>
        <p:spPr>
          <a:xfrm>
            <a:off x="1143000" y="2898648"/>
            <a:ext cx="3474720" cy="548640"/>
          </a:xfrm>
          <a:prstGeom prst="rect">
            <a:avLst/>
          </a:prstGeom>
          <a:noFill/>
          <a:ln/>
        </p:spPr>
        <p:txBody>
          <a:bodyPr wrap="square" lIns="0" tIns="0" rIns="0" bIns="0" rtlCol="0" anchor="t"/>
          <a:lstStyle/>
          <a:p>
            <a:pPr marL="0" indent="0">
              <a:buNone/>
            </a:pPr>
            <a:r>
              <a:rPr lang="en-US" sz="1300" dirty="0">
                <a:solidFill>
                  <a:schemeClr val="accent6"/>
                </a:solidFill>
              </a:rPr>
              <a:t>Independent budget hotels and small properties; beachhead of about 10–50 rooms</a:t>
            </a:r>
            <a:endParaRPr lang="en-US" sz="1300" dirty="0"/>
          </a:p>
        </p:txBody>
      </p:sp>
      <p:sp>
        <p:nvSpPr>
          <p:cNvPr id="21" name="Shape 8">
            <a:extLst>
              <a:ext uri="{FF2B5EF4-FFF2-40B4-BE49-F238E27FC236}">
                <a16:creationId xmlns:a16="http://schemas.microsoft.com/office/drawing/2014/main" id="{94868C07-AF83-D2C4-788A-0589DEDA3C8A}"/>
              </a:ext>
            </a:extLst>
          </p:cNvPr>
          <p:cNvSpPr/>
          <p:nvPr/>
        </p:nvSpPr>
        <p:spPr>
          <a:xfrm>
            <a:off x="457200" y="3557016"/>
            <a:ext cx="512064" cy="512064"/>
          </a:xfrm>
          <a:prstGeom prst="ellipse">
            <a:avLst/>
          </a:prstGeom>
          <a:solidFill>
            <a:schemeClr val="accent3"/>
          </a:solidFill>
          <a:ln w="12700">
            <a:solidFill>
              <a:schemeClr val="accent3"/>
            </a:solidFill>
            <a:prstDash val="solid"/>
          </a:ln>
        </p:spPr>
        <p:txBody>
          <a:bodyPr/>
          <a:lstStyle/>
          <a:p>
            <a:endParaRPr lang="en-IN"/>
          </a:p>
        </p:txBody>
      </p:sp>
      <p:pic>
        <p:nvPicPr>
          <p:cNvPr id="23" name="Image 2" descr="preencoded.png">
            <a:extLst>
              <a:ext uri="{FF2B5EF4-FFF2-40B4-BE49-F238E27FC236}">
                <a16:creationId xmlns:a16="http://schemas.microsoft.com/office/drawing/2014/main" id="{EB1E66B7-2AC7-C44A-9937-7488FBB82556}"/>
              </a:ext>
            </a:extLst>
          </p:cNvPr>
          <p:cNvPicPr>
            <a:picLocks noChangeAspect="1"/>
          </p:cNvPicPr>
          <p:nvPr/>
        </p:nvPicPr>
        <p:blipFill>
          <a:blip r:embed="rId4"/>
          <a:stretch>
            <a:fillRect/>
          </a:stretch>
        </p:blipFill>
        <p:spPr>
          <a:xfrm>
            <a:off x="585216" y="3685032"/>
            <a:ext cx="256032" cy="256032"/>
          </a:xfrm>
          <a:prstGeom prst="rect">
            <a:avLst/>
          </a:prstGeom>
        </p:spPr>
      </p:pic>
      <p:sp>
        <p:nvSpPr>
          <p:cNvPr id="25" name="Text 9">
            <a:extLst>
              <a:ext uri="{FF2B5EF4-FFF2-40B4-BE49-F238E27FC236}">
                <a16:creationId xmlns:a16="http://schemas.microsoft.com/office/drawing/2014/main" id="{CCB559E7-D4E2-19EC-469E-E54B924DAA49}"/>
              </a:ext>
            </a:extLst>
          </p:cNvPr>
          <p:cNvSpPr txBox="1"/>
          <p:nvPr/>
        </p:nvSpPr>
        <p:spPr>
          <a:xfrm>
            <a:off x="1143000" y="3538728"/>
            <a:ext cx="2377440" cy="274320"/>
          </a:xfrm>
          <a:prstGeom prst="rect">
            <a:avLst/>
          </a:prstGeom>
          <a:noFill/>
          <a:ln/>
        </p:spPr>
        <p:txBody>
          <a:bodyPr wrap="square" lIns="0" tIns="0" rIns="0" bIns="0" rtlCol="0" anchor="t"/>
          <a:lstStyle/>
          <a:p>
            <a:pPr marL="0" indent="0">
              <a:buNone/>
            </a:pPr>
            <a:r>
              <a:rPr lang="en-US" sz="1500" b="1" dirty="0">
                <a:solidFill>
                  <a:schemeClr val="tx1"/>
                </a:solidFill>
              </a:rPr>
              <a:t>Primary user</a:t>
            </a:r>
            <a:endParaRPr lang="en-US" sz="1500" dirty="0"/>
          </a:p>
        </p:txBody>
      </p:sp>
      <p:sp>
        <p:nvSpPr>
          <p:cNvPr id="27" name="Text 10">
            <a:extLst>
              <a:ext uri="{FF2B5EF4-FFF2-40B4-BE49-F238E27FC236}">
                <a16:creationId xmlns:a16="http://schemas.microsoft.com/office/drawing/2014/main" id="{D4FA845F-29F7-E53F-52FA-D407DA98D8C5}"/>
              </a:ext>
            </a:extLst>
          </p:cNvPr>
          <p:cNvSpPr txBox="1"/>
          <p:nvPr/>
        </p:nvSpPr>
        <p:spPr>
          <a:xfrm>
            <a:off x="1143000" y="3849624"/>
            <a:ext cx="3474720" cy="548640"/>
          </a:xfrm>
          <a:prstGeom prst="rect">
            <a:avLst/>
          </a:prstGeom>
          <a:noFill/>
          <a:ln/>
        </p:spPr>
        <p:txBody>
          <a:bodyPr wrap="square" lIns="0" tIns="0" rIns="0" bIns="0" rtlCol="0" anchor="t"/>
          <a:lstStyle/>
          <a:p>
            <a:pPr marL="0" indent="0">
              <a:buNone/>
            </a:pPr>
            <a:r>
              <a:rPr lang="en-US" sz="1300" dirty="0">
                <a:solidFill>
                  <a:schemeClr val="accent6"/>
                </a:solidFill>
              </a:rPr>
              <a:t>Hotel owner or sales manager handling group bookings</a:t>
            </a:r>
            <a:endParaRPr lang="en-US" sz="1300" dirty="0"/>
          </a:p>
        </p:txBody>
      </p:sp>
      <p:sp>
        <p:nvSpPr>
          <p:cNvPr id="29" name="Shape 11">
            <a:extLst>
              <a:ext uri="{FF2B5EF4-FFF2-40B4-BE49-F238E27FC236}">
                <a16:creationId xmlns:a16="http://schemas.microsoft.com/office/drawing/2014/main" id="{AF19AE0E-E224-3474-727A-9104B897000C}"/>
              </a:ext>
            </a:extLst>
          </p:cNvPr>
          <p:cNvSpPr/>
          <p:nvPr/>
        </p:nvSpPr>
        <p:spPr>
          <a:xfrm>
            <a:off x="457200" y="4507992"/>
            <a:ext cx="512064" cy="512064"/>
          </a:xfrm>
          <a:prstGeom prst="ellipse">
            <a:avLst/>
          </a:prstGeom>
          <a:solidFill>
            <a:schemeClr val="accent3"/>
          </a:solidFill>
          <a:ln w="12700">
            <a:solidFill>
              <a:schemeClr val="accent3"/>
            </a:solidFill>
            <a:prstDash val="solid"/>
          </a:ln>
        </p:spPr>
        <p:txBody>
          <a:bodyPr/>
          <a:lstStyle/>
          <a:p>
            <a:endParaRPr lang="en-IN"/>
          </a:p>
        </p:txBody>
      </p:sp>
      <p:pic>
        <p:nvPicPr>
          <p:cNvPr id="31" name="Image 3" descr="preencoded.png">
            <a:extLst>
              <a:ext uri="{FF2B5EF4-FFF2-40B4-BE49-F238E27FC236}">
                <a16:creationId xmlns:a16="http://schemas.microsoft.com/office/drawing/2014/main" id="{C0B71118-B428-C0D2-9503-792DFC4A6A94}"/>
              </a:ext>
            </a:extLst>
          </p:cNvPr>
          <p:cNvPicPr>
            <a:picLocks noChangeAspect="1"/>
          </p:cNvPicPr>
          <p:nvPr/>
        </p:nvPicPr>
        <p:blipFill>
          <a:blip r:embed="rId5"/>
          <a:stretch>
            <a:fillRect/>
          </a:stretch>
        </p:blipFill>
        <p:spPr>
          <a:xfrm>
            <a:off x="585216" y="4636008"/>
            <a:ext cx="256032" cy="256032"/>
          </a:xfrm>
          <a:prstGeom prst="rect">
            <a:avLst/>
          </a:prstGeom>
        </p:spPr>
      </p:pic>
      <p:sp>
        <p:nvSpPr>
          <p:cNvPr id="33" name="Text 12">
            <a:extLst>
              <a:ext uri="{FF2B5EF4-FFF2-40B4-BE49-F238E27FC236}">
                <a16:creationId xmlns:a16="http://schemas.microsoft.com/office/drawing/2014/main" id="{D4A4A353-23D8-4DC0-D476-B3BB1B879D7B}"/>
              </a:ext>
            </a:extLst>
          </p:cNvPr>
          <p:cNvSpPr txBox="1"/>
          <p:nvPr/>
        </p:nvSpPr>
        <p:spPr>
          <a:xfrm>
            <a:off x="1143000" y="4489704"/>
            <a:ext cx="2377440" cy="274320"/>
          </a:xfrm>
          <a:prstGeom prst="rect">
            <a:avLst/>
          </a:prstGeom>
          <a:noFill/>
          <a:ln/>
        </p:spPr>
        <p:txBody>
          <a:bodyPr wrap="square" lIns="0" tIns="0" rIns="0" bIns="0" rtlCol="0" anchor="t"/>
          <a:lstStyle/>
          <a:p>
            <a:pPr marL="0" indent="0">
              <a:buNone/>
            </a:pPr>
            <a:r>
              <a:rPr lang="en-US" sz="1500" b="1" dirty="0">
                <a:solidFill>
                  <a:schemeClr val="tx1"/>
                </a:solidFill>
              </a:rPr>
              <a:t>Core problem</a:t>
            </a:r>
            <a:endParaRPr lang="en-US" sz="1500" dirty="0"/>
          </a:p>
        </p:txBody>
      </p:sp>
      <p:sp>
        <p:nvSpPr>
          <p:cNvPr id="35" name="Text 13">
            <a:extLst>
              <a:ext uri="{FF2B5EF4-FFF2-40B4-BE49-F238E27FC236}">
                <a16:creationId xmlns:a16="http://schemas.microsoft.com/office/drawing/2014/main" id="{54C694AE-97E3-45FE-B830-E34FF438044F}"/>
              </a:ext>
            </a:extLst>
          </p:cNvPr>
          <p:cNvSpPr txBox="1"/>
          <p:nvPr/>
        </p:nvSpPr>
        <p:spPr>
          <a:xfrm>
            <a:off x="1143000" y="4800600"/>
            <a:ext cx="3474720" cy="548640"/>
          </a:xfrm>
          <a:prstGeom prst="rect">
            <a:avLst/>
          </a:prstGeom>
          <a:noFill/>
          <a:ln/>
        </p:spPr>
        <p:txBody>
          <a:bodyPr wrap="square" lIns="0" tIns="0" rIns="0" bIns="0" rtlCol="0" anchor="t"/>
          <a:lstStyle/>
          <a:p>
            <a:pPr marL="0" indent="0">
              <a:buNone/>
            </a:pPr>
            <a:r>
              <a:rPr lang="en-US" sz="1300" dirty="0">
                <a:solidFill>
                  <a:schemeClr val="accent6"/>
                </a:solidFill>
              </a:rPr>
              <a:t>Preparing group quotes while checking availability, dates, rates, costs and discounts</a:t>
            </a:r>
            <a:endParaRPr lang="en-US" sz="1300" dirty="0"/>
          </a:p>
        </p:txBody>
      </p:sp>
      <p:sp>
        <p:nvSpPr>
          <p:cNvPr id="37" name="Shape 14">
            <a:extLst>
              <a:ext uri="{FF2B5EF4-FFF2-40B4-BE49-F238E27FC236}">
                <a16:creationId xmlns:a16="http://schemas.microsoft.com/office/drawing/2014/main" id="{A34D0563-EEE5-6B67-435A-99045E9B4CED}"/>
              </a:ext>
            </a:extLst>
          </p:cNvPr>
          <p:cNvSpPr/>
          <p:nvPr/>
        </p:nvSpPr>
        <p:spPr>
          <a:xfrm>
            <a:off x="457200" y="5458968"/>
            <a:ext cx="512064" cy="512064"/>
          </a:xfrm>
          <a:prstGeom prst="ellipse">
            <a:avLst/>
          </a:prstGeom>
          <a:solidFill>
            <a:schemeClr val="accent3"/>
          </a:solidFill>
          <a:ln w="12700">
            <a:solidFill>
              <a:schemeClr val="accent3"/>
            </a:solidFill>
            <a:prstDash val="solid"/>
          </a:ln>
        </p:spPr>
        <p:txBody>
          <a:bodyPr/>
          <a:lstStyle/>
          <a:p>
            <a:endParaRPr lang="en-IN"/>
          </a:p>
        </p:txBody>
      </p:sp>
      <p:pic>
        <p:nvPicPr>
          <p:cNvPr id="39" name="Image 4" descr="preencoded.png">
            <a:extLst>
              <a:ext uri="{FF2B5EF4-FFF2-40B4-BE49-F238E27FC236}">
                <a16:creationId xmlns:a16="http://schemas.microsoft.com/office/drawing/2014/main" id="{6A91EAEF-C897-D56F-8C63-2B11622C02AB}"/>
              </a:ext>
            </a:extLst>
          </p:cNvPr>
          <p:cNvPicPr>
            <a:picLocks noChangeAspect="1"/>
          </p:cNvPicPr>
          <p:nvPr/>
        </p:nvPicPr>
        <p:blipFill>
          <a:blip r:embed="rId6"/>
          <a:stretch>
            <a:fillRect/>
          </a:stretch>
        </p:blipFill>
        <p:spPr>
          <a:xfrm>
            <a:off x="585216" y="5586984"/>
            <a:ext cx="256032" cy="256032"/>
          </a:xfrm>
          <a:prstGeom prst="rect">
            <a:avLst/>
          </a:prstGeom>
        </p:spPr>
      </p:pic>
      <p:sp>
        <p:nvSpPr>
          <p:cNvPr id="41" name="Text 15">
            <a:extLst>
              <a:ext uri="{FF2B5EF4-FFF2-40B4-BE49-F238E27FC236}">
                <a16:creationId xmlns:a16="http://schemas.microsoft.com/office/drawing/2014/main" id="{D328F9AC-92E0-0974-58F9-AC2DC23D2CA0}"/>
              </a:ext>
            </a:extLst>
          </p:cNvPr>
          <p:cNvSpPr txBox="1"/>
          <p:nvPr/>
        </p:nvSpPr>
        <p:spPr>
          <a:xfrm>
            <a:off x="1143000" y="5440680"/>
            <a:ext cx="2377440" cy="274320"/>
          </a:xfrm>
          <a:prstGeom prst="rect">
            <a:avLst/>
          </a:prstGeom>
          <a:noFill/>
          <a:ln/>
        </p:spPr>
        <p:txBody>
          <a:bodyPr wrap="square" lIns="0" tIns="0" rIns="0" bIns="0" rtlCol="0" anchor="t"/>
          <a:lstStyle/>
          <a:p>
            <a:pPr marL="0" indent="0">
              <a:buNone/>
            </a:pPr>
            <a:r>
              <a:rPr lang="en-US" sz="1500" b="1" dirty="0">
                <a:solidFill>
                  <a:schemeClr val="tx1"/>
                </a:solidFill>
              </a:rPr>
              <a:t>Existing alternatives</a:t>
            </a:r>
            <a:endParaRPr lang="en-US" sz="1500" dirty="0"/>
          </a:p>
        </p:txBody>
      </p:sp>
      <p:sp>
        <p:nvSpPr>
          <p:cNvPr id="43" name="Shape 16">
            <a:extLst>
              <a:ext uri="{FF2B5EF4-FFF2-40B4-BE49-F238E27FC236}">
                <a16:creationId xmlns:a16="http://schemas.microsoft.com/office/drawing/2014/main" id="{4AE0EDE3-ABB9-DC4C-4ED9-BBF42CEEA51A}"/>
              </a:ext>
            </a:extLst>
          </p:cNvPr>
          <p:cNvSpPr/>
          <p:nvPr/>
        </p:nvSpPr>
        <p:spPr>
          <a:xfrm>
            <a:off x="3108960" y="5468112"/>
            <a:ext cx="1051560" cy="228600"/>
          </a:xfrm>
          <a:prstGeom prst="roundRect">
            <a:avLst>
              <a:gd name="adj" fmla="val 20000"/>
            </a:avLst>
          </a:prstGeom>
          <a:solidFill>
            <a:schemeClr val="accent5"/>
          </a:solidFill>
          <a:ln w="12700">
            <a:solidFill>
              <a:schemeClr val="accent5"/>
            </a:solidFill>
            <a:prstDash val="solid"/>
          </a:ln>
        </p:spPr>
        <p:txBody>
          <a:bodyPr/>
          <a:lstStyle/>
          <a:p>
            <a:endParaRPr lang="en-IN"/>
          </a:p>
        </p:txBody>
      </p:sp>
      <p:sp>
        <p:nvSpPr>
          <p:cNvPr id="45" name="Text 17">
            <a:extLst>
              <a:ext uri="{FF2B5EF4-FFF2-40B4-BE49-F238E27FC236}">
                <a16:creationId xmlns:a16="http://schemas.microsoft.com/office/drawing/2014/main" id="{765D55DE-AC72-91DC-326D-C127AB918D96}"/>
              </a:ext>
            </a:extLst>
          </p:cNvPr>
          <p:cNvSpPr txBox="1"/>
          <p:nvPr/>
        </p:nvSpPr>
        <p:spPr>
          <a:xfrm>
            <a:off x="3108960" y="5468112"/>
            <a:ext cx="1051560" cy="228600"/>
          </a:xfrm>
          <a:prstGeom prst="rect">
            <a:avLst/>
          </a:prstGeom>
          <a:noFill/>
          <a:ln/>
        </p:spPr>
        <p:txBody>
          <a:bodyPr wrap="square" lIns="0" tIns="0" rIns="0" bIns="0" rtlCol="0" anchor="ctr"/>
          <a:lstStyle/>
          <a:p>
            <a:pPr marL="0" indent="0" algn="ctr">
              <a:buNone/>
            </a:pPr>
            <a:r>
              <a:rPr lang="en-US" sz="900" b="1" kern="0" spc="100" dirty="0">
                <a:solidFill>
                  <a:srgbClr val="8A4B00"/>
                </a:solidFill>
              </a:rPr>
              <a:t>TO VALIDATE</a:t>
            </a:r>
            <a:endParaRPr lang="en-US" sz="900" dirty="0"/>
          </a:p>
        </p:txBody>
      </p:sp>
      <p:sp>
        <p:nvSpPr>
          <p:cNvPr id="47" name="Text 18">
            <a:extLst>
              <a:ext uri="{FF2B5EF4-FFF2-40B4-BE49-F238E27FC236}">
                <a16:creationId xmlns:a16="http://schemas.microsoft.com/office/drawing/2014/main" id="{B312BAB8-39B6-CCC5-D6E0-6B4EBF55469E}"/>
              </a:ext>
            </a:extLst>
          </p:cNvPr>
          <p:cNvSpPr txBox="1"/>
          <p:nvPr/>
        </p:nvSpPr>
        <p:spPr>
          <a:xfrm>
            <a:off x="1143000" y="5751576"/>
            <a:ext cx="3474720" cy="548640"/>
          </a:xfrm>
          <a:prstGeom prst="rect">
            <a:avLst/>
          </a:prstGeom>
          <a:noFill/>
          <a:ln/>
        </p:spPr>
        <p:txBody>
          <a:bodyPr wrap="square" lIns="0" tIns="0" rIns="0" bIns="0" rtlCol="0" anchor="t"/>
          <a:lstStyle/>
          <a:p>
            <a:pPr marL="0" indent="0">
              <a:buNone/>
            </a:pPr>
            <a:r>
              <a:rPr lang="en-US" sz="1300" dirty="0">
                <a:solidFill>
                  <a:schemeClr val="accent6"/>
                </a:solidFill>
              </a:rPr>
              <a:t>Manual calculations, spreadsheets, phone calls, generic booking tools</a:t>
            </a:r>
            <a:endParaRPr lang="en-US" sz="1300" dirty="0"/>
          </a:p>
        </p:txBody>
      </p:sp>
      <p:sp>
        <p:nvSpPr>
          <p:cNvPr id="49" name="Process diagram">
            <a:extLst>
              <a:ext uri="{FF2B5EF4-FFF2-40B4-BE49-F238E27FC236}">
                <a16:creationId xmlns:a16="http://schemas.microsoft.com/office/drawing/2014/main" id="{1DA48489-3C76-12C2-E4DC-28F12A25610E}"/>
              </a:ext>
            </a:extLst>
          </p:cNvPr>
          <p:cNvSpPr/>
          <p:nvPr/>
        </p:nvSpPr>
        <p:spPr>
          <a:xfrm>
            <a:off x="4937760" y="2606040"/>
            <a:ext cx="6793992" cy="3794760"/>
          </a:xfrm>
          <a:prstGeom prst="roundRect">
            <a:avLst>
              <a:gd name="adj" fmla="val 2892"/>
            </a:avLst>
          </a:prstGeom>
          <a:solidFill>
            <a:srgbClr val="FFFFFF"/>
          </a:solidFill>
          <a:ln w="12700">
            <a:solidFill>
              <a:srgbClr val="E2DED4"/>
            </a:solidFill>
            <a:prstDash val="solid"/>
          </a:ln>
          <a:effectLst>
            <a:outerShdw blurRad="127000" dist="25400" dir="5400000" algn="bl" rotWithShape="0">
              <a:srgbClr val="16202E">
                <a:alpha val="8000"/>
              </a:srgbClr>
            </a:outerShdw>
          </a:effectLst>
        </p:spPr>
        <p:txBody>
          <a:bodyPr/>
          <a:lstStyle/>
          <a:p>
            <a:endParaRPr lang="en-IN"/>
          </a:p>
        </p:txBody>
      </p:sp>
      <p:sp>
        <p:nvSpPr>
          <p:cNvPr id="51" name="Text 20">
            <a:extLst>
              <a:ext uri="{FF2B5EF4-FFF2-40B4-BE49-F238E27FC236}">
                <a16:creationId xmlns:a16="http://schemas.microsoft.com/office/drawing/2014/main" id="{FC85947B-692B-AA50-12F8-79A8E0A2569B}"/>
              </a:ext>
            </a:extLst>
          </p:cNvPr>
          <p:cNvSpPr txBox="1"/>
          <p:nvPr/>
        </p:nvSpPr>
        <p:spPr>
          <a:xfrm>
            <a:off x="5212080" y="2834640"/>
            <a:ext cx="6245352" cy="320040"/>
          </a:xfrm>
          <a:prstGeom prst="rect">
            <a:avLst/>
          </a:prstGeom>
          <a:noFill/>
          <a:ln/>
        </p:spPr>
        <p:txBody>
          <a:bodyPr wrap="square" lIns="0" tIns="0" rIns="0" bIns="0" rtlCol="0" anchor="t"/>
          <a:lstStyle/>
          <a:p>
            <a:pPr marL="0" indent="0">
              <a:buNone/>
            </a:pPr>
            <a:r>
              <a:rPr lang="en-US" sz="1600" b="1" dirty="0">
                <a:solidFill>
                  <a:schemeClr val="tx1"/>
                </a:solidFill>
              </a:rPr>
              <a:t>From manual quoting to safe, fast quotes</a:t>
            </a:r>
            <a:endParaRPr lang="en-US" sz="1600" dirty="0"/>
          </a:p>
        </p:txBody>
      </p:sp>
      <p:sp>
        <p:nvSpPr>
          <p:cNvPr id="53" name="Shape 21">
            <a:extLst>
              <a:ext uri="{FF2B5EF4-FFF2-40B4-BE49-F238E27FC236}">
                <a16:creationId xmlns:a16="http://schemas.microsoft.com/office/drawing/2014/main" id="{01863BDD-28E3-781E-A200-806D92FD2FAB}"/>
              </a:ext>
            </a:extLst>
          </p:cNvPr>
          <p:cNvSpPr/>
          <p:nvPr/>
        </p:nvSpPr>
        <p:spPr>
          <a:xfrm>
            <a:off x="6240780" y="3666744"/>
            <a:ext cx="4389120" cy="0"/>
          </a:xfrm>
          <a:prstGeom prst="line">
            <a:avLst/>
          </a:prstGeom>
          <a:noFill/>
          <a:ln w="25400">
            <a:solidFill>
              <a:srgbClr val="B9D3CF"/>
            </a:solidFill>
            <a:prstDash val="dash"/>
          </a:ln>
        </p:spPr>
        <p:txBody>
          <a:bodyPr/>
          <a:lstStyle/>
          <a:p>
            <a:endParaRPr lang="en-IN"/>
          </a:p>
        </p:txBody>
      </p:sp>
      <p:sp>
        <p:nvSpPr>
          <p:cNvPr id="55" name="Shape 22">
            <a:extLst>
              <a:ext uri="{FF2B5EF4-FFF2-40B4-BE49-F238E27FC236}">
                <a16:creationId xmlns:a16="http://schemas.microsoft.com/office/drawing/2014/main" id="{03C17F29-CE68-0D6C-F6A2-7654AAD7F287}"/>
              </a:ext>
            </a:extLst>
          </p:cNvPr>
          <p:cNvSpPr/>
          <p:nvPr/>
        </p:nvSpPr>
        <p:spPr>
          <a:xfrm>
            <a:off x="5911596" y="3337560"/>
            <a:ext cx="658368" cy="658368"/>
          </a:xfrm>
          <a:prstGeom prst="ellipse">
            <a:avLst/>
          </a:prstGeom>
          <a:solidFill>
            <a:srgbClr val="0F6E6A"/>
          </a:solidFill>
          <a:ln w="38100">
            <a:solidFill>
              <a:srgbClr val="FFFFFF"/>
            </a:solidFill>
            <a:prstDash val="solid"/>
          </a:ln>
        </p:spPr>
        <p:txBody>
          <a:bodyPr/>
          <a:lstStyle/>
          <a:p>
            <a:endParaRPr lang="en-IN"/>
          </a:p>
        </p:txBody>
      </p:sp>
      <p:pic>
        <p:nvPicPr>
          <p:cNvPr id="57" name="Image 5" descr="preencoded.png">
            <a:extLst>
              <a:ext uri="{FF2B5EF4-FFF2-40B4-BE49-F238E27FC236}">
                <a16:creationId xmlns:a16="http://schemas.microsoft.com/office/drawing/2014/main" id="{37D02D46-0278-71DB-C3AB-2F83E2B5A3A4}"/>
              </a:ext>
            </a:extLst>
          </p:cNvPr>
          <p:cNvPicPr>
            <a:picLocks noChangeAspect="1"/>
          </p:cNvPicPr>
          <p:nvPr/>
        </p:nvPicPr>
        <p:blipFill>
          <a:blip r:embed="rId7"/>
          <a:stretch>
            <a:fillRect/>
          </a:stretch>
        </p:blipFill>
        <p:spPr>
          <a:xfrm>
            <a:off x="6076188" y="3502152"/>
            <a:ext cx="329184" cy="329184"/>
          </a:xfrm>
          <a:prstGeom prst="rect">
            <a:avLst/>
          </a:prstGeom>
        </p:spPr>
      </p:pic>
      <p:sp>
        <p:nvSpPr>
          <p:cNvPr id="59" name="Text 23">
            <a:extLst>
              <a:ext uri="{FF2B5EF4-FFF2-40B4-BE49-F238E27FC236}">
                <a16:creationId xmlns:a16="http://schemas.microsoft.com/office/drawing/2014/main" id="{6EB28992-CC66-645A-CE68-2800D24C8C24}"/>
              </a:ext>
            </a:extLst>
          </p:cNvPr>
          <p:cNvSpPr txBox="1"/>
          <p:nvPr/>
        </p:nvSpPr>
        <p:spPr>
          <a:xfrm>
            <a:off x="5212080" y="4133088"/>
            <a:ext cx="2057400" cy="274320"/>
          </a:xfrm>
          <a:prstGeom prst="rect">
            <a:avLst/>
          </a:prstGeom>
          <a:noFill/>
          <a:ln/>
        </p:spPr>
        <p:txBody>
          <a:bodyPr wrap="square" lIns="0" tIns="0" rIns="0" bIns="0" rtlCol="0" anchor="t"/>
          <a:lstStyle/>
          <a:p>
            <a:pPr marL="0" indent="0" algn="ctr">
              <a:buNone/>
            </a:pPr>
            <a:r>
              <a:rPr lang="en-US" sz="1500" b="1" dirty="0">
                <a:solidFill>
                  <a:schemeClr val="tx1"/>
                </a:solidFill>
              </a:rPr>
              <a:t>Current process</a:t>
            </a:r>
            <a:endParaRPr lang="en-US" sz="1500" dirty="0"/>
          </a:p>
        </p:txBody>
      </p:sp>
      <p:sp>
        <p:nvSpPr>
          <p:cNvPr id="61" name="Text 24">
            <a:extLst>
              <a:ext uri="{FF2B5EF4-FFF2-40B4-BE49-F238E27FC236}">
                <a16:creationId xmlns:a16="http://schemas.microsoft.com/office/drawing/2014/main" id="{D8E518CB-CA15-B793-0E8B-3ABD7FFE4401}"/>
              </a:ext>
            </a:extLst>
          </p:cNvPr>
          <p:cNvSpPr txBox="1"/>
          <p:nvPr/>
        </p:nvSpPr>
        <p:spPr>
          <a:xfrm>
            <a:off x="5257800" y="4498848"/>
            <a:ext cx="1965960" cy="1828800"/>
          </a:xfrm>
          <a:prstGeom prst="rect">
            <a:avLst/>
          </a:prstGeom>
          <a:noFill/>
          <a:ln/>
        </p:spPr>
        <p:txBody>
          <a:bodyPr wrap="square" lIns="0" tIns="0" rIns="0" bIns="0" rtlCol="0" anchor="t"/>
          <a:lstStyle/>
          <a:p>
            <a:pPr marL="127000" indent="-127000">
              <a:spcAft>
                <a:spcPts val="500"/>
              </a:spcAft>
              <a:buSzPct val="100000"/>
              <a:buChar char="•"/>
            </a:pPr>
            <a:r>
              <a:rPr lang="en-US" sz="1200" dirty="0">
                <a:solidFill>
                  <a:schemeClr val="tx1"/>
                </a:solidFill>
              </a:rPr>
              <a:t>Enquiry by phone, WhatsApp or email</a:t>
            </a:r>
            <a:endParaRPr lang="en-US" sz="1200" dirty="0"/>
          </a:p>
          <a:p>
            <a:pPr marL="127000" indent="-127000">
              <a:spcAft>
                <a:spcPts val="500"/>
              </a:spcAft>
              <a:buSzPct val="100000"/>
              <a:buChar char="•"/>
            </a:pPr>
            <a:r>
              <a:rPr lang="en-US" sz="1200" dirty="0">
                <a:solidFill>
                  <a:schemeClr val="tx1"/>
                </a:solidFill>
              </a:rPr>
              <a:t>Rooms checked by hand against sheets</a:t>
            </a:r>
            <a:endParaRPr lang="en-US" sz="1200" dirty="0"/>
          </a:p>
          <a:p>
            <a:pPr marL="127000" indent="-127000">
              <a:spcAft>
                <a:spcPts val="500"/>
              </a:spcAft>
              <a:buSzPct val="100000"/>
              <a:buChar char="•"/>
            </a:pPr>
            <a:r>
              <a:rPr lang="en-US" sz="1200" dirty="0">
                <a:solidFill>
                  <a:schemeClr val="tx1"/>
                </a:solidFill>
              </a:rPr>
              <a:t>Rates, costs and discounts worked out manually</a:t>
            </a:r>
            <a:endParaRPr lang="en-US" sz="1200" dirty="0"/>
          </a:p>
          <a:p>
            <a:pPr marL="127000" indent="-127000">
              <a:spcAft>
                <a:spcPts val="500"/>
              </a:spcAft>
              <a:buSzPct val="100000"/>
              <a:buChar char="•"/>
            </a:pPr>
            <a:r>
              <a:rPr lang="en-US" sz="1200" dirty="0">
                <a:solidFill>
                  <a:schemeClr val="tx1"/>
                </a:solidFill>
              </a:rPr>
              <a:t>Quote sent; follow-up by phone</a:t>
            </a:r>
            <a:endParaRPr lang="en-US" sz="1200" dirty="0"/>
          </a:p>
        </p:txBody>
      </p:sp>
      <p:sp>
        <p:nvSpPr>
          <p:cNvPr id="63" name="Shape 25">
            <a:extLst>
              <a:ext uri="{FF2B5EF4-FFF2-40B4-BE49-F238E27FC236}">
                <a16:creationId xmlns:a16="http://schemas.microsoft.com/office/drawing/2014/main" id="{B6DA2B3B-CA30-B9FC-FB4E-3DB43A92F245}"/>
              </a:ext>
            </a:extLst>
          </p:cNvPr>
          <p:cNvSpPr/>
          <p:nvPr/>
        </p:nvSpPr>
        <p:spPr>
          <a:xfrm>
            <a:off x="8106156" y="3337560"/>
            <a:ext cx="658368" cy="658368"/>
          </a:xfrm>
          <a:prstGeom prst="ellipse">
            <a:avLst/>
          </a:prstGeom>
          <a:solidFill>
            <a:srgbClr val="E3A23B"/>
          </a:solidFill>
          <a:ln w="38100">
            <a:solidFill>
              <a:srgbClr val="FFFFFF"/>
            </a:solidFill>
            <a:prstDash val="solid"/>
          </a:ln>
        </p:spPr>
        <p:txBody>
          <a:bodyPr/>
          <a:lstStyle/>
          <a:p>
            <a:endParaRPr lang="en-IN"/>
          </a:p>
        </p:txBody>
      </p:sp>
      <p:pic>
        <p:nvPicPr>
          <p:cNvPr id="65" name="Image 6" descr="preencoded.png">
            <a:extLst>
              <a:ext uri="{FF2B5EF4-FFF2-40B4-BE49-F238E27FC236}">
                <a16:creationId xmlns:a16="http://schemas.microsoft.com/office/drawing/2014/main" id="{66E4B936-8DEF-7BDE-341B-01DA7E90D50E}"/>
              </a:ext>
            </a:extLst>
          </p:cNvPr>
          <p:cNvPicPr>
            <a:picLocks noChangeAspect="1"/>
          </p:cNvPicPr>
          <p:nvPr/>
        </p:nvPicPr>
        <p:blipFill>
          <a:blip r:embed="rId8"/>
          <a:stretch>
            <a:fillRect/>
          </a:stretch>
        </p:blipFill>
        <p:spPr>
          <a:xfrm>
            <a:off x="8270748" y="3502152"/>
            <a:ext cx="329184" cy="329184"/>
          </a:xfrm>
          <a:prstGeom prst="rect">
            <a:avLst/>
          </a:prstGeom>
        </p:spPr>
      </p:pic>
      <p:sp>
        <p:nvSpPr>
          <p:cNvPr id="67" name="Text 26">
            <a:extLst>
              <a:ext uri="{FF2B5EF4-FFF2-40B4-BE49-F238E27FC236}">
                <a16:creationId xmlns:a16="http://schemas.microsoft.com/office/drawing/2014/main" id="{7B8CBC32-A5A9-40A5-F0B2-D11DC84FBAAF}"/>
              </a:ext>
            </a:extLst>
          </p:cNvPr>
          <p:cNvSpPr txBox="1"/>
          <p:nvPr/>
        </p:nvSpPr>
        <p:spPr>
          <a:xfrm>
            <a:off x="7406640" y="4133088"/>
            <a:ext cx="2057400" cy="274320"/>
          </a:xfrm>
          <a:prstGeom prst="rect">
            <a:avLst/>
          </a:prstGeom>
          <a:noFill/>
          <a:ln/>
        </p:spPr>
        <p:txBody>
          <a:bodyPr wrap="square" lIns="0" tIns="0" rIns="0" bIns="0" rtlCol="0" anchor="t"/>
          <a:lstStyle/>
          <a:p>
            <a:pPr marL="0" indent="0" algn="ctr">
              <a:buNone/>
            </a:pPr>
            <a:r>
              <a:rPr lang="en-US" sz="1500" b="1" dirty="0">
                <a:solidFill>
                  <a:schemeClr val="tx1"/>
                </a:solidFill>
              </a:rPr>
              <a:t>Pain points</a:t>
            </a:r>
            <a:endParaRPr lang="en-US" sz="1500" dirty="0"/>
          </a:p>
        </p:txBody>
      </p:sp>
      <p:sp>
        <p:nvSpPr>
          <p:cNvPr id="69" name="Text 27">
            <a:extLst>
              <a:ext uri="{FF2B5EF4-FFF2-40B4-BE49-F238E27FC236}">
                <a16:creationId xmlns:a16="http://schemas.microsoft.com/office/drawing/2014/main" id="{F46C3DF6-6034-AD1E-E64A-646F1B7A9FCA}"/>
              </a:ext>
            </a:extLst>
          </p:cNvPr>
          <p:cNvSpPr txBox="1"/>
          <p:nvPr/>
        </p:nvSpPr>
        <p:spPr>
          <a:xfrm>
            <a:off x="7452360" y="4498848"/>
            <a:ext cx="1965960" cy="1828800"/>
          </a:xfrm>
          <a:prstGeom prst="rect">
            <a:avLst/>
          </a:prstGeom>
          <a:noFill/>
          <a:ln/>
        </p:spPr>
        <p:txBody>
          <a:bodyPr wrap="square" lIns="0" tIns="0" rIns="0" bIns="0" rtlCol="0" anchor="t"/>
          <a:lstStyle/>
          <a:p>
            <a:pPr marL="127000" indent="-127000">
              <a:spcAft>
                <a:spcPts val="500"/>
              </a:spcAft>
              <a:buSzPct val="100000"/>
              <a:buChar char="•"/>
            </a:pPr>
            <a:r>
              <a:rPr lang="en-US" sz="1200" dirty="0">
                <a:solidFill>
                  <a:schemeClr val="tx1"/>
                </a:solidFill>
              </a:rPr>
              <a:t>Overbooking from inventory mismatch</a:t>
            </a:r>
            <a:endParaRPr lang="en-US" sz="1200" dirty="0"/>
          </a:p>
          <a:p>
            <a:pPr marL="127000" indent="-127000">
              <a:spcAft>
                <a:spcPts val="500"/>
              </a:spcAft>
              <a:buSzPct val="100000"/>
              <a:buChar char="•"/>
            </a:pPr>
            <a:r>
              <a:rPr lang="en-US" sz="1200" dirty="0">
                <a:solidFill>
                  <a:schemeClr val="tx1"/>
                </a:solidFill>
              </a:rPr>
              <a:t>Discounts that erode contribution</a:t>
            </a:r>
            <a:endParaRPr lang="en-US" sz="1200" dirty="0"/>
          </a:p>
          <a:p>
            <a:pPr marL="127000" indent="-127000">
              <a:spcAft>
                <a:spcPts val="500"/>
              </a:spcAft>
              <a:buSzPct val="100000"/>
              <a:buChar char="•"/>
            </a:pPr>
            <a:r>
              <a:rPr lang="en-US" sz="1200" dirty="0">
                <a:solidFill>
                  <a:schemeClr val="tx1"/>
                </a:solidFill>
              </a:rPr>
              <a:t>Calculation errors, slow turnaround</a:t>
            </a:r>
            <a:endParaRPr lang="en-US" sz="1200" dirty="0"/>
          </a:p>
          <a:p>
            <a:pPr marL="127000" indent="-127000">
              <a:spcAft>
                <a:spcPts val="500"/>
              </a:spcAft>
              <a:buSzPct val="100000"/>
              <a:buChar char="•"/>
            </a:pPr>
            <a:r>
              <a:rPr lang="en-US" sz="1200" dirty="0">
                <a:solidFill>
                  <a:schemeClr val="tx1"/>
                </a:solidFill>
              </a:rPr>
              <a:t>Expired quotes, conflicting holds</a:t>
            </a:r>
            <a:endParaRPr lang="en-US" sz="1200" dirty="0"/>
          </a:p>
        </p:txBody>
      </p:sp>
      <p:sp>
        <p:nvSpPr>
          <p:cNvPr id="71" name="Shape 28">
            <a:extLst>
              <a:ext uri="{FF2B5EF4-FFF2-40B4-BE49-F238E27FC236}">
                <a16:creationId xmlns:a16="http://schemas.microsoft.com/office/drawing/2014/main" id="{9A9EC91F-50CE-23A4-2ADC-FDF5232F6112}"/>
              </a:ext>
            </a:extLst>
          </p:cNvPr>
          <p:cNvSpPr/>
          <p:nvPr/>
        </p:nvSpPr>
        <p:spPr>
          <a:xfrm>
            <a:off x="10300716" y="3337560"/>
            <a:ext cx="658368" cy="658368"/>
          </a:xfrm>
          <a:prstGeom prst="ellipse">
            <a:avLst/>
          </a:prstGeom>
          <a:solidFill>
            <a:srgbClr val="0F5F5C"/>
          </a:solidFill>
          <a:ln w="38100">
            <a:solidFill>
              <a:srgbClr val="FFFFFF"/>
            </a:solidFill>
            <a:prstDash val="solid"/>
          </a:ln>
        </p:spPr>
        <p:txBody>
          <a:bodyPr/>
          <a:lstStyle/>
          <a:p>
            <a:endParaRPr lang="en-IN"/>
          </a:p>
        </p:txBody>
      </p:sp>
      <p:pic>
        <p:nvPicPr>
          <p:cNvPr id="73" name="Image 7" descr="preencoded.png">
            <a:extLst>
              <a:ext uri="{FF2B5EF4-FFF2-40B4-BE49-F238E27FC236}">
                <a16:creationId xmlns:a16="http://schemas.microsoft.com/office/drawing/2014/main" id="{F9286DF8-18D4-F13F-40B5-A1FA351B49CA}"/>
              </a:ext>
            </a:extLst>
          </p:cNvPr>
          <p:cNvPicPr>
            <a:picLocks noChangeAspect="1"/>
          </p:cNvPicPr>
          <p:nvPr/>
        </p:nvPicPr>
        <p:blipFill>
          <a:blip r:embed="rId9"/>
          <a:stretch>
            <a:fillRect/>
          </a:stretch>
        </p:blipFill>
        <p:spPr>
          <a:xfrm>
            <a:off x="10465308" y="3502152"/>
            <a:ext cx="329184" cy="329184"/>
          </a:xfrm>
          <a:prstGeom prst="rect">
            <a:avLst/>
          </a:prstGeom>
        </p:spPr>
      </p:pic>
      <p:sp>
        <p:nvSpPr>
          <p:cNvPr id="75" name="Text 29">
            <a:extLst>
              <a:ext uri="{FF2B5EF4-FFF2-40B4-BE49-F238E27FC236}">
                <a16:creationId xmlns:a16="http://schemas.microsoft.com/office/drawing/2014/main" id="{47E00305-15D3-AA11-C94F-53E6C207408C}"/>
              </a:ext>
            </a:extLst>
          </p:cNvPr>
          <p:cNvSpPr txBox="1"/>
          <p:nvPr/>
        </p:nvSpPr>
        <p:spPr>
          <a:xfrm>
            <a:off x="9601200" y="4133088"/>
            <a:ext cx="2057400" cy="274320"/>
          </a:xfrm>
          <a:prstGeom prst="rect">
            <a:avLst/>
          </a:prstGeom>
          <a:noFill/>
          <a:ln/>
        </p:spPr>
        <p:txBody>
          <a:bodyPr wrap="square" lIns="0" tIns="0" rIns="0" bIns="0" rtlCol="0" anchor="t"/>
          <a:lstStyle/>
          <a:p>
            <a:pPr marL="0" indent="0" algn="ctr">
              <a:buNone/>
            </a:pPr>
            <a:r>
              <a:rPr lang="en-US" sz="1500" b="1" dirty="0">
                <a:solidFill>
                  <a:schemeClr val="tx1"/>
                </a:solidFill>
              </a:rPr>
              <a:t>Proposed outcome</a:t>
            </a:r>
            <a:endParaRPr lang="en-US" sz="1500" dirty="0"/>
          </a:p>
        </p:txBody>
      </p:sp>
      <p:sp>
        <p:nvSpPr>
          <p:cNvPr id="77" name="Text 30">
            <a:extLst>
              <a:ext uri="{FF2B5EF4-FFF2-40B4-BE49-F238E27FC236}">
                <a16:creationId xmlns:a16="http://schemas.microsoft.com/office/drawing/2014/main" id="{A08F4D05-49EC-0BEC-5516-A381D02772D2}"/>
              </a:ext>
            </a:extLst>
          </p:cNvPr>
          <p:cNvSpPr txBox="1"/>
          <p:nvPr/>
        </p:nvSpPr>
        <p:spPr>
          <a:xfrm>
            <a:off x="9646920" y="4498848"/>
            <a:ext cx="1965960" cy="1828800"/>
          </a:xfrm>
          <a:prstGeom prst="rect">
            <a:avLst/>
          </a:prstGeom>
          <a:noFill/>
          <a:ln/>
        </p:spPr>
        <p:txBody>
          <a:bodyPr wrap="square" lIns="0" tIns="0" rIns="0" bIns="0" rtlCol="0" anchor="t"/>
          <a:lstStyle/>
          <a:p>
            <a:pPr marL="127000" indent="-127000">
              <a:spcAft>
                <a:spcPts val="500"/>
              </a:spcAft>
              <a:buSzPct val="100000"/>
              <a:buChar char="•"/>
            </a:pPr>
            <a:r>
              <a:rPr lang="en-US" sz="1200" dirty="0">
                <a:solidFill>
                  <a:schemeClr val="tx1"/>
                </a:solidFill>
              </a:rPr>
              <a:t>Room-night availability checked</a:t>
            </a:r>
            <a:endParaRPr lang="en-US" sz="1200" dirty="0"/>
          </a:p>
          <a:p>
            <a:pPr marL="127000" indent="-127000">
              <a:spcAft>
                <a:spcPts val="500"/>
              </a:spcAft>
              <a:buSzPct val="100000"/>
              <a:buChar char="•"/>
            </a:pPr>
            <a:r>
              <a:rPr lang="en-US" sz="1200" dirty="0">
                <a:solidFill>
                  <a:schemeClr val="tx1"/>
                </a:solidFill>
              </a:rPr>
              <a:t>Contribution calculated per quote</a:t>
            </a:r>
            <a:endParaRPr lang="en-US" sz="1200" dirty="0"/>
          </a:p>
          <a:p>
            <a:pPr marL="127000" indent="-127000">
              <a:spcAft>
                <a:spcPts val="500"/>
              </a:spcAft>
              <a:buSzPct val="100000"/>
              <a:buChar char="•"/>
            </a:pPr>
            <a:r>
              <a:rPr lang="en-US" sz="1200" dirty="0">
                <a:solidFill>
                  <a:schemeClr val="tx1"/>
                </a:solidFill>
              </a:rPr>
              <a:t>Below-floor discounts need approval</a:t>
            </a:r>
            <a:endParaRPr lang="en-US" sz="1200" dirty="0"/>
          </a:p>
          <a:p>
            <a:pPr marL="127000" indent="-127000">
              <a:spcAft>
                <a:spcPts val="500"/>
              </a:spcAft>
              <a:buSzPct val="100000"/>
              <a:buChar char="•"/>
            </a:pPr>
            <a:r>
              <a:rPr lang="en-US" sz="1200" dirty="0">
                <a:solidFill>
                  <a:schemeClr val="tx1"/>
                </a:solidFill>
              </a:rPr>
              <a:t>Quotes expire and holds are released</a:t>
            </a:r>
            <a:endParaRPr lang="en-US" sz="1200" dirty="0"/>
          </a:p>
        </p:txBody>
      </p:sp>
      <p:pic>
        <p:nvPicPr>
          <p:cNvPr id="79" name="Picture 78">
            <a:extLst>
              <a:ext uri="{FF2B5EF4-FFF2-40B4-BE49-F238E27FC236}">
                <a16:creationId xmlns:a16="http://schemas.microsoft.com/office/drawing/2014/main" id="{E60A8088-6C14-EDB8-D1CB-F6971381BC64}"/>
              </a:ext>
            </a:extLst>
          </p:cNvPr>
          <p:cNvPicPr>
            <a:picLocks noChangeAspect="1"/>
          </p:cNvPicPr>
          <p:nvPr/>
        </p:nvPicPr>
        <p:blipFill>
          <a:blip r:embed="rId10"/>
          <a:stretch>
            <a:fillRect/>
          </a:stretch>
        </p:blipFill>
        <p:spPr>
          <a:xfrm>
            <a:off x="4543772" y="246443"/>
            <a:ext cx="2679988" cy="603556"/>
          </a:xfrm>
          <a:prstGeom prst="rect">
            <a:avLst/>
          </a:prstGeom>
        </p:spPr>
      </p:pic>
    </p:spTree>
    <p:extLst>
      <p:ext uri="{BB962C8B-B14F-4D97-AF65-F5344CB8AC3E}">
        <p14:creationId xmlns:p14="http://schemas.microsoft.com/office/powerpoint/2010/main" val="3365925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457200" y="640080"/>
            <a:ext cx="10956780" cy="640080"/>
          </a:xfrm>
          <a:prstGeom prst="rect">
            <a:avLst/>
          </a:prstGeom>
          <a:noFill/>
          <a:ln/>
        </p:spPr>
        <p:txBody>
          <a:bodyPr wrap="square" lIns="0" tIns="0" rIns="0" bIns="0" rtlCol="0" anchor="t"/>
          <a:lstStyle/>
          <a:p>
            <a:pPr marL="0" indent="0" algn="ctr">
              <a:buNone/>
            </a:pPr>
            <a:r>
              <a:rPr lang="en-US" sz="3600" b="1" u="sng" dirty="0"/>
              <a:t>BUSINESS MODEL, PRICING AND UNIT ECONOMICS</a:t>
            </a:r>
            <a:endParaRPr lang="en-US" sz="3600" u="sng" dirty="0"/>
          </a:p>
        </p:txBody>
      </p:sp>
      <p:grpSp>
        <p:nvGrpSpPr>
          <p:cNvPr id="91" name="Group 90">
            <a:extLst>
              <a:ext uri="{FF2B5EF4-FFF2-40B4-BE49-F238E27FC236}">
                <a16:creationId xmlns:a16="http://schemas.microsoft.com/office/drawing/2014/main" id="{B7BBEBDD-6D6A-3E7C-B4D9-8EC21A9F480D}"/>
              </a:ext>
            </a:extLst>
          </p:cNvPr>
          <p:cNvGrpSpPr/>
          <p:nvPr/>
        </p:nvGrpSpPr>
        <p:grpSpPr>
          <a:xfrm>
            <a:off x="357204" y="1284732"/>
            <a:ext cx="11056776" cy="937260"/>
            <a:chOff x="457200" y="1627632"/>
            <a:chExt cx="7077456" cy="713232"/>
          </a:xfrm>
        </p:grpSpPr>
        <p:sp>
          <p:nvSpPr>
            <p:cNvPr id="5" name="Payer"/>
            <p:cNvSpPr/>
            <p:nvPr/>
          </p:nvSpPr>
          <p:spPr>
            <a:xfrm>
              <a:off x="457200" y="1627632"/>
              <a:ext cx="2286000" cy="713232"/>
            </a:xfrm>
            <a:prstGeom prst="roundRect">
              <a:avLst>
                <a:gd name="adj" fmla="val 12821"/>
              </a:avLst>
            </a:prstGeom>
            <a:solidFill>
              <a:schemeClr val="accent3"/>
            </a:solidFill>
            <a:ln w="12700">
              <a:solidFill>
                <a:schemeClr val="accent3"/>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594360" y="1764792"/>
              <a:ext cx="219456" cy="219456"/>
            </a:xfrm>
            <a:prstGeom prst="rect">
              <a:avLst/>
            </a:prstGeom>
          </p:spPr>
        </p:pic>
        <p:sp>
          <p:nvSpPr>
            <p:cNvPr id="7" name="Text 4"/>
            <p:cNvSpPr txBox="1"/>
            <p:nvPr/>
          </p:nvSpPr>
          <p:spPr>
            <a:xfrm>
              <a:off x="896112" y="1746504"/>
              <a:ext cx="1737360" cy="228600"/>
            </a:xfrm>
            <a:prstGeom prst="rect">
              <a:avLst/>
            </a:prstGeom>
            <a:noFill/>
            <a:ln/>
          </p:spPr>
          <p:txBody>
            <a:bodyPr wrap="square" lIns="0" tIns="0" rIns="0" bIns="0" rtlCol="0" anchor="t"/>
            <a:lstStyle/>
            <a:p>
              <a:pPr marL="0" indent="0">
                <a:buNone/>
              </a:pPr>
              <a:r>
                <a:rPr lang="en-US" sz="1200" b="1" dirty="0">
                  <a:solidFill>
                    <a:srgbClr val="0F5F5C"/>
                  </a:solidFill>
                </a:rPr>
                <a:t>Payer</a:t>
              </a:r>
              <a:endParaRPr lang="en-US" sz="1200" dirty="0"/>
            </a:p>
          </p:txBody>
        </p:sp>
        <p:sp>
          <p:nvSpPr>
            <p:cNvPr id="8" name="Text 5"/>
            <p:cNvSpPr txBox="1"/>
            <p:nvPr/>
          </p:nvSpPr>
          <p:spPr>
            <a:xfrm>
              <a:off x="896112" y="1975104"/>
              <a:ext cx="1783080" cy="347472"/>
            </a:xfrm>
            <a:prstGeom prst="rect">
              <a:avLst/>
            </a:prstGeom>
            <a:noFill/>
            <a:ln/>
          </p:spPr>
          <p:txBody>
            <a:bodyPr wrap="square" lIns="0" tIns="0" rIns="0" bIns="0" rtlCol="0" anchor="t"/>
            <a:lstStyle/>
            <a:p>
              <a:pPr marL="0" indent="0">
                <a:buNone/>
              </a:pPr>
              <a:r>
                <a:rPr lang="en-US" sz="1000" dirty="0">
                  <a:solidFill>
                    <a:srgbClr val="16202E"/>
                  </a:solidFill>
                </a:rPr>
                <a:t>Small hotel owner (10–30 rooms)</a:t>
              </a:r>
              <a:endParaRPr lang="en-US" sz="1000" dirty="0"/>
            </a:p>
          </p:txBody>
        </p:sp>
        <p:sp>
          <p:nvSpPr>
            <p:cNvPr id="9" name="Offer"/>
            <p:cNvSpPr/>
            <p:nvPr/>
          </p:nvSpPr>
          <p:spPr>
            <a:xfrm>
              <a:off x="2852928" y="1627632"/>
              <a:ext cx="2286000" cy="713232"/>
            </a:xfrm>
            <a:prstGeom prst="roundRect">
              <a:avLst>
                <a:gd name="adj" fmla="val 12821"/>
              </a:avLst>
            </a:prstGeom>
            <a:solidFill>
              <a:schemeClr val="accent3"/>
            </a:solidFill>
            <a:ln w="12700">
              <a:solidFill>
                <a:schemeClr val="accent3"/>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2990088" y="1764792"/>
              <a:ext cx="219456" cy="219456"/>
            </a:xfrm>
            <a:prstGeom prst="rect">
              <a:avLst/>
            </a:prstGeom>
          </p:spPr>
        </p:pic>
        <p:sp>
          <p:nvSpPr>
            <p:cNvPr id="11" name="Text 7"/>
            <p:cNvSpPr txBox="1"/>
            <p:nvPr/>
          </p:nvSpPr>
          <p:spPr>
            <a:xfrm>
              <a:off x="3291840" y="1746504"/>
              <a:ext cx="1737360" cy="228600"/>
            </a:xfrm>
            <a:prstGeom prst="rect">
              <a:avLst/>
            </a:prstGeom>
            <a:noFill/>
            <a:ln/>
          </p:spPr>
          <p:txBody>
            <a:bodyPr wrap="square" lIns="0" tIns="0" rIns="0" bIns="0" rtlCol="0" anchor="t"/>
            <a:lstStyle/>
            <a:p>
              <a:pPr marL="0" indent="0">
                <a:buNone/>
              </a:pPr>
              <a:r>
                <a:rPr lang="en-US" sz="1200" b="1" dirty="0">
                  <a:solidFill>
                    <a:srgbClr val="0F5F5C"/>
                  </a:solidFill>
                </a:rPr>
                <a:t>Offer</a:t>
              </a:r>
              <a:endParaRPr lang="en-US" sz="1200" dirty="0"/>
            </a:p>
          </p:txBody>
        </p:sp>
        <p:sp>
          <p:nvSpPr>
            <p:cNvPr id="12" name="Text 8"/>
            <p:cNvSpPr txBox="1"/>
            <p:nvPr/>
          </p:nvSpPr>
          <p:spPr>
            <a:xfrm>
              <a:off x="3291840" y="1975104"/>
              <a:ext cx="1783080" cy="347472"/>
            </a:xfrm>
            <a:prstGeom prst="rect">
              <a:avLst/>
            </a:prstGeom>
            <a:noFill/>
            <a:ln/>
          </p:spPr>
          <p:txBody>
            <a:bodyPr wrap="square" lIns="0" tIns="0" rIns="0" bIns="0" rtlCol="0" anchor="t"/>
            <a:lstStyle/>
            <a:p>
              <a:pPr marL="0" indent="0">
                <a:buNone/>
              </a:pPr>
              <a:r>
                <a:rPr lang="en-US" sz="1000" dirty="0">
                  <a:solidFill>
                    <a:srgbClr val="16202E"/>
                  </a:solidFill>
                </a:rPr>
                <a:t>Group quotation and profitability workflow</a:t>
              </a:r>
              <a:endParaRPr lang="en-US" sz="1000" dirty="0"/>
            </a:p>
          </p:txBody>
        </p:sp>
        <p:grpSp>
          <p:nvGrpSpPr>
            <p:cNvPr id="90" name="Group 89">
              <a:extLst>
                <a:ext uri="{FF2B5EF4-FFF2-40B4-BE49-F238E27FC236}">
                  <a16:creationId xmlns:a16="http://schemas.microsoft.com/office/drawing/2014/main" id="{42AA27C5-759D-92B6-AB82-CFD8AE0C8642}"/>
                </a:ext>
              </a:extLst>
            </p:cNvPr>
            <p:cNvGrpSpPr/>
            <p:nvPr/>
          </p:nvGrpSpPr>
          <p:grpSpPr>
            <a:xfrm>
              <a:off x="5248656" y="1627632"/>
              <a:ext cx="2286000" cy="713232"/>
              <a:chOff x="5248656" y="1627632"/>
              <a:chExt cx="2286000" cy="713232"/>
            </a:xfrm>
          </p:grpSpPr>
          <p:sp>
            <p:nvSpPr>
              <p:cNvPr id="13" name="Why it works"/>
              <p:cNvSpPr/>
              <p:nvPr/>
            </p:nvSpPr>
            <p:spPr>
              <a:xfrm>
                <a:off x="5248656" y="1627632"/>
                <a:ext cx="2286000" cy="713232"/>
              </a:xfrm>
              <a:prstGeom prst="roundRect">
                <a:avLst>
                  <a:gd name="adj" fmla="val 12821"/>
                </a:avLst>
              </a:prstGeom>
              <a:solidFill>
                <a:schemeClr val="accent3"/>
              </a:solidFill>
              <a:ln w="12700">
                <a:solidFill>
                  <a:schemeClr val="accent3"/>
                </a:solidFill>
                <a:prstDash val="solid"/>
              </a:ln>
            </p:spPr>
            <p:txBody>
              <a:bodyPr/>
              <a:lstStyle/>
              <a:p>
                <a:endParaRPr lang="en-IN"/>
              </a:p>
            </p:txBody>
          </p:sp>
          <p:pic>
            <p:nvPicPr>
              <p:cNvPr id="14" name="Image 2" descr="preencoded.png"/>
              <p:cNvPicPr>
                <a:picLocks noChangeAspect="1"/>
              </p:cNvPicPr>
              <p:nvPr/>
            </p:nvPicPr>
            <p:blipFill>
              <a:blip r:embed="rId5"/>
              <a:stretch>
                <a:fillRect/>
              </a:stretch>
            </p:blipFill>
            <p:spPr>
              <a:xfrm>
                <a:off x="5385816" y="1764792"/>
                <a:ext cx="219456" cy="219456"/>
              </a:xfrm>
              <a:prstGeom prst="rect">
                <a:avLst/>
              </a:prstGeom>
            </p:spPr>
          </p:pic>
          <p:sp>
            <p:nvSpPr>
              <p:cNvPr id="15" name="Text 10"/>
              <p:cNvSpPr txBox="1"/>
              <p:nvPr/>
            </p:nvSpPr>
            <p:spPr>
              <a:xfrm>
                <a:off x="5687568" y="1746504"/>
                <a:ext cx="1737360" cy="228600"/>
              </a:xfrm>
              <a:prstGeom prst="rect">
                <a:avLst/>
              </a:prstGeom>
              <a:noFill/>
              <a:ln/>
            </p:spPr>
            <p:txBody>
              <a:bodyPr wrap="square" lIns="0" tIns="0" rIns="0" bIns="0" rtlCol="0" anchor="t"/>
              <a:lstStyle/>
              <a:p>
                <a:pPr marL="0" indent="0">
                  <a:buNone/>
                </a:pPr>
                <a:r>
                  <a:rPr lang="en-US" sz="1200" b="1" dirty="0">
                    <a:solidFill>
                      <a:srgbClr val="0F5F5C"/>
                    </a:solidFill>
                  </a:rPr>
                  <a:t>Why it works</a:t>
                </a:r>
                <a:endParaRPr lang="en-US" sz="1200" dirty="0"/>
              </a:p>
            </p:txBody>
          </p:sp>
          <p:sp>
            <p:nvSpPr>
              <p:cNvPr id="16" name="Text 11"/>
              <p:cNvSpPr txBox="1"/>
              <p:nvPr/>
            </p:nvSpPr>
            <p:spPr>
              <a:xfrm>
                <a:off x="5687568" y="1975104"/>
                <a:ext cx="1783080" cy="347472"/>
              </a:xfrm>
              <a:prstGeom prst="rect">
                <a:avLst/>
              </a:prstGeom>
              <a:noFill/>
              <a:ln/>
            </p:spPr>
            <p:txBody>
              <a:bodyPr wrap="square" lIns="0" tIns="0" rIns="0" bIns="0" rtlCol="0" anchor="t"/>
              <a:lstStyle/>
              <a:p>
                <a:pPr marL="0" indent="0">
                  <a:buNone/>
                </a:pPr>
                <a:r>
                  <a:rPr lang="en-US" sz="1000" dirty="0">
                    <a:solidFill>
                      <a:srgbClr val="16202E"/>
                    </a:solidFill>
                  </a:rPr>
                  <a:t>Saves time, lifts group conversion, easy to use</a:t>
                </a:r>
                <a:endParaRPr lang="en-US" sz="1000" dirty="0"/>
              </a:p>
            </p:txBody>
          </p:sp>
        </p:grpSp>
      </p:grpSp>
      <p:sp>
        <p:nvSpPr>
          <p:cNvPr id="24" name="Text 17"/>
          <p:cNvSpPr txBox="1"/>
          <p:nvPr/>
        </p:nvSpPr>
        <p:spPr>
          <a:xfrm>
            <a:off x="804672" y="2551176"/>
            <a:ext cx="3291840" cy="256032"/>
          </a:xfrm>
          <a:prstGeom prst="rect">
            <a:avLst/>
          </a:prstGeom>
          <a:noFill/>
          <a:ln/>
        </p:spPr>
        <p:txBody>
          <a:bodyPr wrap="square" lIns="0" tIns="0" rIns="0" bIns="0" rtlCol="0" anchor="t"/>
          <a:lstStyle/>
          <a:p>
            <a:pPr marL="0" indent="0">
              <a:buNone/>
            </a:pPr>
            <a:r>
              <a:rPr lang="en-US" sz="1300" b="1" dirty="0">
                <a:solidFill>
                  <a:srgbClr val="16202E"/>
                </a:solidFill>
              </a:rPr>
              <a:t>Plans (monthly subscription)</a:t>
            </a:r>
            <a:endParaRPr lang="en-US" sz="1300" dirty="0"/>
          </a:p>
        </p:txBody>
      </p:sp>
      <p:grpSp>
        <p:nvGrpSpPr>
          <p:cNvPr id="92" name="Group 91">
            <a:extLst>
              <a:ext uri="{FF2B5EF4-FFF2-40B4-BE49-F238E27FC236}">
                <a16:creationId xmlns:a16="http://schemas.microsoft.com/office/drawing/2014/main" id="{9A306516-D42E-E385-0A0B-FEF49F4E9E45}"/>
              </a:ext>
            </a:extLst>
          </p:cNvPr>
          <p:cNvGrpSpPr/>
          <p:nvPr/>
        </p:nvGrpSpPr>
        <p:grpSpPr>
          <a:xfrm>
            <a:off x="571483" y="2354579"/>
            <a:ext cx="4467048" cy="2281429"/>
            <a:chOff x="457200" y="2852928"/>
            <a:chExt cx="3694176" cy="1783080"/>
          </a:xfrm>
        </p:grpSpPr>
        <p:sp>
          <p:nvSpPr>
            <p:cNvPr id="25" name="Starter"/>
            <p:cNvSpPr/>
            <p:nvPr/>
          </p:nvSpPr>
          <p:spPr>
            <a:xfrm>
              <a:off x="457200" y="2852928"/>
              <a:ext cx="1801368" cy="1481328"/>
            </a:xfrm>
            <a:prstGeom prst="roundRect">
              <a:avLst>
                <a:gd name="adj" fmla="val 6173"/>
              </a:avLst>
            </a:prstGeom>
            <a:solidFill>
              <a:schemeClr val="accent3"/>
            </a:solidFill>
            <a:ln w="12700">
              <a:solidFill>
                <a:schemeClr val="accent3"/>
              </a:solidFill>
              <a:prstDash val="solid"/>
            </a:ln>
          </p:spPr>
          <p:txBody>
            <a:bodyPr/>
            <a:lstStyle/>
            <a:p>
              <a:endParaRPr lang="en-IN"/>
            </a:p>
          </p:txBody>
        </p:sp>
        <p:sp>
          <p:nvSpPr>
            <p:cNvPr id="26" name="Text 19"/>
            <p:cNvSpPr txBox="1"/>
            <p:nvPr/>
          </p:nvSpPr>
          <p:spPr>
            <a:xfrm>
              <a:off x="594360" y="2944368"/>
              <a:ext cx="914400" cy="256032"/>
            </a:xfrm>
            <a:prstGeom prst="rect">
              <a:avLst/>
            </a:prstGeom>
            <a:noFill/>
            <a:ln/>
          </p:spPr>
          <p:txBody>
            <a:bodyPr wrap="square" lIns="0" tIns="0" rIns="0" bIns="0" rtlCol="0" anchor="t"/>
            <a:lstStyle/>
            <a:p>
              <a:pPr marL="0" indent="0">
                <a:buNone/>
              </a:pPr>
              <a:r>
                <a:rPr lang="en-US" sz="1600" b="1" dirty="0">
                  <a:solidFill>
                    <a:srgbClr val="0F6E6A"/>
                  </a:solidFill>
                </a:rPr>
                <a:t>Starter</a:t>
              </a:r>
              <a:endParaRPr lang="en-US" sz="1600" dirty="0"/>
            </a:p>
          </p:txBody>
        </p:sp>
        <p:sp>
          <p:nvSpPr>
            <p:cNvPr id="27" name="Text 20"/>
            <p:cNvSpPr txBox="1"/>
            <p:nvPr/>
          </p:nvSpPr>
          <p:spPr>
            <a:xfrm>
              <a:off x="594360" y="3191256"/>
              <a:ext cx="1554480" cy="182880"/>
            </a:xfrm>
            <a:prstGeom prst="rect">
              <a:avLst/>
            </a:prstGeom>
            <a:noFill/>
            <a:ln/>
          </p:spPr>
          <p:txBody>
            <a:bodyPr wrap="square" lIns="0" tIns="0" rIns="0" bIns="0" rtlCol="0" anchor="t"/>
            <a:lstStyle/>
            <a:p>
              <a:pPr marL="0" indent="0">
                <a:buNone/>
              </a:pPr>
              <a:r>
                <a:rPr lang="en-US" sz="1600" dirty="0">
                  <a:solidFill>
                    <a:srgbClr val="5B6472"/>
                  </a:solidFill>
                </a:rPr>
                <a:t>Up to 15 rooms</a:t>
              </a:r>
              <a:endParaRPr lang="en-US" sz="1600" dirty="0"/>
            </a:p>
          </p:txBody>
        </p:sp>
        <p:sp>
          <p:nvSpPr>
            <p:cNvPr id="28" name="Text 21"/>
            <p:cNvSpPr txBox="1"/>
            <p:nvPr/>
          </p:nvSpPr>
          <p:spPr>
            <a:xfrm>
              <a:off x="594360" y="3355848"/>
              <a:ext cx="1600200" cy="265112"/>
            </a:xfrm>
            <a:prstGeom prst="rect">
              <a:avLst/>
            </a:prstGeom>
            <a:noFill/>
            <a:ln/>
          </p:spPr>
          <p:txBody>
            <a:bodyPr wrap="square" lIns="0" tIns="0" rIns="0" bIns="0" rtlCol="0" anchor="b"/>
            <a:lstStyle/>
            <a:p>
              <a:pPr marL="0" indent="0">
                <a:buNone/>
              </a:pPr>
              <a:r>
                <a:rPr lang="en-US" sz="2000" b="1" dirty="0">
                  <a:solidFill>
                    <a:srgbClr val="16202E"/>
                  </a:solidFill>
                </a:rPr>
                <a:t>₹499</a:t>
              </a:r>
              <a:r>
                <a:rPr lang="en-US" sz="1000" dirty="0">
                  <a:solidFill>
                    <a:srgbClr val="16202E"/>
                  </a:solidFill>
                </a:rPr>
                <a:t> /month</a:t>
              </a:r>
              <a:endParaRPr lang="en-US" sz="2000" dirty="0"/>
            </a:p>
          </p:txBody>
        </p:sp>
        <p:sp>
          <p:nvSpPr>
            <p:cNvPr id="29" name="Text 22"/>
            <p:cNvSpPr txBox="1"/>
            <p:nvPr/>
          </p:nvSpPr>
          <p:spPr>
            <a:xfrm>
              <a:off x="594360" y="3675888"/>
              <a:ext cx="1600200" cy="164592"/>
            </a:xfrm>
            <a:prstGeom prst="rect">
              <a:avLst/>
            </a:prstGeom>
            <a:noFill/>
            <a:ln/>
          </p:spPr>
          <p:txBody>
            <a:bodyPr wrap="square" lIns="0" tIns="0" rIns="0" bIns="0" rtlCol="0" anchor="t"/>
            <a:lstStyle/>
            <a:p>
              <a:pPr marL="0" indent="0">
                <a:buNone/>
              </a:pPr>
              <a:r>
                <a:rPr lang="en-US" sz="1400" dirty="0">
                  <a:solidFill>
                    <a:srgbClr val="5B6472"/>
                  </a:solidFill>
                </a:rPr>
                <a:t>or ₹4,999 billed annually</a:t>
              </a:r>
              <a:endParaRPr lang="en-US" sz="1400" dirty="0"/>
            </a:p>
          </p:txBody>
        </p:sp>
        <p:sp>
          <p:nvSpPr>
            <p:cNvPr id="30" name="Text 23"/>
            <p:cNvSpPr txBox="1"/>
            <p:nvPr/>
          </p:nvSpPr>
          <p:spPr>
            <a:xfrm>
              <a:off x="594360" y="3858768"/>
              <a:ext cx="1572768" cy="457200"/>
            </a:xfrm>
            <a:prstGeom prst="rect">
              <a:avLst/>
            </a:prstGeom>
            <a:noFill/>
            <a:ln/>
          </p:spPr>
          <p:txBody>
            <a:bodyPr wrap="square" lIns="0" tIns="0" rIns="0" bIns="0" rtlCol="0" anchor="t"/>
            <a:lstStyle/>
            <a:p>
              <a:pPr marL="0" indent="0">
                <a:buNone/>
              </a:pPr>
              <a:r>
                <a:rPr lang="en-US" sz="1400" dirty="0">
                  <a:solidFill>
                    <a:srgbClr val="16202E"/>
                  </a:solidFill>
                </a:rPr>
                <a:t>Unlimited quotes · Branded PDF quotations · WhatsApp share link</a:t>
              </a:r>
              <a:endParaRPr lang="en-US" sz="1400" dirty="0"/>
            </a:p>
          </p:txBody>
        </p:sp>
        <p:sp>
          <p:nvSpPr>
            <p:cNvPr id="31" name="Growth"/>
            <p:cNvSpPr/>
            <p:nvPr/>
          </p:nvSpPr>
          <p:spPr>
            <a:xfrm>
              <a:off x="2350008" y="2852928"/>
              <a:ext cx="1801368" cy="1481328"/>
            </a:xfrm>
            <a:prstGeom prst="roundRect">
              <a:avLst>
                <a:gd name="adj" fmla="val 6173"/>
              </a:avLst>
            </a:prstGeom>
            <a:solidFill>
              <a:schemeClr val="accent5"/>
            </a:solidFill>
            <a:ln w="12700">
              <a:solidFill>
                <a:schemeClr val="accent5"/>
              </a:solidFill>
              <a:prstDash val="solid"/>
            </a:ln>
          </p:spPr>
          <p:txBody>
            <a:bodyPr/>
            <a:lstStyle/>
            <a:p>
              <a:endParaRPr lang="en-IN"/>
            </a:p>
          </p:txBody>
        </p:sp>
        <p:sp>
          <p:nvSpPr>
            <p:cNvPr id="32" name="Text 25"/>
            <p:cNvSpPr txBox="1"/>
            <p:nvPr/>
          </p:nvSpPr>
          <p:spPr>
            <a:xfrm>
              <a:off x="2487168" y="2944368"/>
              <a:ext cx="914400" cy="256032"/>
            </a:xfrm>
            <a:prstGeom prst="rect">
              <a:avLst/>
            </a:prstGeom>
            <a:noFill/>
            <a:ln/>
          </p:spPr>
          <p:txBody>
            <a:bodyPr wrap="square" lIns="0" tIns="0" rIns="0" bIns="0" rtlCol="0" anchor="t"/>
            <a:lstStyle/>
            <a:p>
              <a:pPr marL="0" indent="0">
                <a:buNone/>
              </a:pPr>
              <a:r>
                <a:rPr lang="en-US" sz="1600" b="1" dirty="0">
                  <a:solidFill>
                    <a:srgbClr val="8A4B00"/>
                  </a:solidFill>
                </a:rPr>
                <a:t>Growth</a:t>
              </a:r>
              <a:endParaRPr lang="en-US" sz="1600" dirty="0"/>
            </a:p>
          </p:txBody>
        </p:sp>
        <p:sp>
          <p:nvSpPr>
            <p:cNvPr id="33" name="Text 26"/>
            <p:cNvSpPr txBox="1"/>
            <p:nvPr/>
          </p:nvSpPr>
          <p:spPr>
            <a:xfrm>
              <a:off x="2487168" y="3191256"/>
              <a:ext cx="1554480" cy="182880"/>
            </a:xfrm>
            <a:prstGeom prst="rect">
              <a:avLst/>
            </a:prstGeom>
            <a:noFill/>
            <a:ln/>
          </p:spPr>
          <p:txBody>
            <a:bodyPr wrap="square" lIns="0" tIns="0" rIns="0" bIns="0" rtlCol="0" anchor="t"/>
            <a:lstStyle/>
            <a:p>
              <a:pPr marL="0" indent="0">
                <a:buNone/>
              </a:pPr>
              <a:r>
                <a:rPr lang="en-US" sz="1600" dirty="0">
                  <a:solidFill>
                    <a:srgbClr val="5B6472"/>
                  </a:solidFill>
                </a:rPr>
                <a:t>16 to 30 rooms</a:t>
              </a:r>
              <a:endParaRPr lang="en-US" sz="1600" dirty="0"/>
            </a:p>
          </p:txBody>
        </p:sp>
        <p:sp>
          <p:nvSpPr>
            <p:cNvPr id="34" name="Text 27"/>
            <p:cNvSpPr txBox="1"/>
            <p:nvPr/>
          </p:nvSpPr>
          <p:spPr>
            <a:xfrm>
              <a:off x="2487168" y="3355849"/>
              <a:ext cx="1600200" cy="265111"/>
            </a:xfrm>
            <a:prstGeom prst="rect">
              <a:avLst/>
            </a:prstGeom>
            <a:noFill/>
            <a:ln/>
          </p:spPr>
          <p:txBody>
            <a:bodyPr wrap="square" lIns="0" tIns="0" rIns="0" bIns="0" rtlCol="0" anchor="b"/>
            <a:lstStyle/>
            <a:p>
              <a:pPr marL="0" indent="0">
                <a:buNone/>
              </a:pPr>
              <a:r>
                <a:rPr lang="en-US" sz="2000" b="1" dirty="0">
                  <a:solidFill>
                    <a:srgbClr val="16202E"/>
                  </a:solidFill>
                </a:rPr>
                <a:t>₹899</a:t>
              </a:r>
              <a:r>
                <a:rPr lang="en-US" sz="1000" dirty="0">
                  <a:solidFill>
                    <a:srgbClr val="16202E"/>
                  </a:solidFill>
                </a:rPr>
                <a:t> /month</a:t>
              </a:r>
              <a:endParaRPr lang="en-US" sz="2000" dirty="0"/>
            </a:p>
          </p:txBody>
        </p:sp>
        <p:sp>
          <p:nvSpPr>
            <p:cNvPr id="35" name="Text 28"/>
            <p:cNvSpPr txBox="1"/>
            <p:nvPr/>
          </p:nvSpPr>
          <p:spPr>
            <a:xfrm>
              <a:off x="2487168" y="3675888"/>
              <a:ext cx="1600200" cy="164592"/>
            </a:xfrm>
            <a:prstGeom prst="rect">
              <a:avLst/>
            </a:prstGeom>
            <a:noFill/>
            <a:ln/>
          </p:spPr>
          <p:txBody>
            <a:bodyPr wrap="square" lIns="0" tIns="0" rIns="0" bIns="0" rtlCol="0" anchor="t"/>
            <a:lstStyle/>
            <a:p>
              <a:pPr marL="0" indent="0">
                <a:buNone/>
              </a:pPr>
              <a:r>
                <a:rPr lang="en-US" sz="1200" dirty="0">
                  <a:solidFill>
                    <a:srgbClr val="5B6472"/>
                  </a:solidFill>
                </a:rPr>
                <a:t>or ₹8,999 billed annually</a:t>
              </a:r>
              <a:endParaRPr lang="en-US" sz="1200" dirty="0"/>
            </a:p>
          </p:txBody>
        </p:sp>
        <p:sp>
          <p:nvSpPr>
            <p:cNvPr id="36" name="Text 29"/>
            <p:cNvSpPr txBox="1"/>
            <p:nvPr/>
          </p:nvSpPr>
          <p:spPr>
            <a:xfrm>
              <a:off x="2487168" y="3858768"/>
              <a:ext cx="1572768" cy="457200"/>
            </a:xfrm>
            <a:prstGeom prst="rect">
              <a:avLst/>
            </a:prstGeom>
            <a:noFill/>
            <a:ln/>
          </p:spPr>
          <p:txBody>
            <a:bodyPr wrap="square" lIns="0" tIns="0" rIns="0" bIns="0" rtlCol="0" anchor="t"/>
            <a:lstStyle/>
            <a:p>
              <a:pPr marL="0" indent="0">
                <a:buNone/>
              </a:pPr>
              <a:r>
                <a:rPr lang="en-US" sz="1400" dirty="0">
                  <a:solidFill>
                    <a:srgbClr val="16202E"/>
                  </a:solidFill>
                </a:rPr>
                <a:t>Starter + multi-user desk, banquet pricing, expiry reminders, receipts</a:t>
              </a:r>
              <a:endParaRPr lang="en-US" sz="1400" dirty="0"/>
            </a:p>
          </p:txBody>
        </p:sp>
        <p:sp>
          <p:nvSpPr>
            <p:cNvPr id="37" name="Shape 30"/>
            <p:cNvSpPr/>
            <p:nvPr/>
          </p:nvSpPr>
          <p:spPr>
            <a:xfrm>
              <a:off x="457200" y="4389120"/>
              <a:ext cx="3694176" cy="246888"/>
            </a:xfrm>
            <a:prstGeom prst="roundRect">
              <a:avLst>
                <a:gd name="adj" fmla="val 18519"/>
              </a:avLst>
            </a:prstGeom>
            <a:solidFill>
              <a:srgbClr val="FFFFFF"/>
            </a:solidFill>
            <a:ln w="12700">
              <a:solidFill>
                <a:srgbClr val="B9B3A6"/>
              </a:solidFill>
              <a:prstDash val="dash"/>
            </a:ln>
          </p:spPr>
          <p:txBody>
            <a:bodyPr/>
            <a:lstStyle/>
            <a:p>
              <a:endParaRPr lang="en-IN"/>
            </a:p>
          </p:txBody>
        </p:sp>
        <p:sp>
          <p:nvSpPr>
            <p:cNvPr id="38" name="Text 31"/>
            <p:cNvSpPr txBox="1"/>
            <p:nvPr/>
          </p:nvSpPr>
          <p:spPr>
            <a:xfrm>
              <a:off x="457200" y="4389120"/>
              <a:ext cx="3694176" cy="246888"/>
            </a:xfrm>
            <a:prstGeom prst="rect">
              <a:avLst/>
            </a:prstGeom>
            <a:noFill/>
            <a:ln/>
          </p:spPr>
          <p:txBody>
            <a:bodyPr wrap="square" lIns="0" tIns="0" rIns="0" bIns="0" rtlCol="0" anchor="ctr"/>
            <a:lstStyle/>
            <a:p>
              <a:pPr marL="0" indent="0" algn="ctr">
                <a:buNone/>
              </a:pPr>
              <a:r>
                <a:rPr lang="en-US" sz="950" b="1" dirty="0">
                  <a:solidFill>
                    <a:srgbClr val="16202E"/>
                  </a:solidFill>
                </a:rPr>
                <a:t>Setup fee: </a:t>
              </a:r>
              <a:r>
                <a:rPr lang="en-US" sz="950" dirty="0">
                  <a:solidFill>
                    <a:srgbClr val="16202E"/>
                  </a:solidFill>
                </a:rPr>
                <a:t>₹999 one-time (waived for annual subscribers)</a:t>
              </a:r>
              <a:endParaRPr lang="en-US" sz="950" dirty="0"/>
            </a:p>
          </p:txBody>
        </p:sp>
      </p:grpSp>
      <p:sp>
        <p:nvSpPr>
          <p:cNvPr id="41" name="Text 34"/>
          <p:cNvSpPr txBox="1"/>
          <p:nvPr/>
        </p:nvSpPr>
        <p:spPr>
          <a:xfrm>
            <a:off x="7455408" y="2522396"/>
            <a:ext cx="3931920" cy="256032"/>
          </a:xfrm>
          <a:prstGeom prst="rect">
            <a:avLst/>
          </a:prstGeom>
          <a:noFill/>
          <a:ln/>
        </p:spPr>
        <p:txBody>
          <a:bodyPr wrap="square" lIns="0" tIns="0" rIns="0" bIns="0" rtlCol="0" anchor="t"/>
          <a:lstStyle/>
          <a:p>
            <a:pPr marL="0" indent="0">
              <a:buNone/>
            </a:pPr>
            <a:r>
              <a:rPr lang="en-US" sz="1300" b="1" dirty="0">
                <a:solidFill>
                  <a:srgbClr val="16202E"/>
                </a:solidFill>
              </a:rPr>
              <a:t>Unit economics (per hotel, per month, ₹)</a:t>
            </a:r>
            <a:endParaRPr lang="en-US" sz="1300" dirty="0"/>
          </a:p>
        </p:txBody>
      </p:sp>
      <p:graphicFrame>
        <p:nvGraphicFramePr>
          <p:cNvPr id="42" name="Table 0"/>
          <p:cNvGraphicFramePr>
            <a:graphicFrameLocks noGrp="1"/>
          </p:cNvGraphicFramePr>
          <p:nvPr/>
        </p:nvGraphicFramePr>
        <p:xfrm>
          <a:off x="5477069" y="2873828"/>
          <a:ext cx="5861490" cy="3046328"/>
        </p:xfrm>
        <a:graphic>
          <a:graphicData uri="http://schemas.openxmlformats.org/drawingml/2006/table">
            <a:tbl>
              <a:tblPr/>
              <a:tblGrid>
                <a:gridCol w="2385490">
                  <a:extLst>
                    <a:ext uri="{9D8B030D-6E8A-4147-A177-3AD203B41FA5}">
                      <a16:colId xmlns:a16="http://schemas.microsoft.com/office/drawing/2014/main" val="20000"/>
                    </a:ext>
                  </a:extLst>
                </a:gridCol>
                <a:gridCol w="1090510">
                  <a:extLst>
                    <a:ext uri="{9D8B030D-6E8A-4147-A177-3AD203B41FA5}">
                      <a16:colId xmlns:a16="http://schemas.microsoft.com/office/drawing/2014/main" val="20001"/>
                    </a:ext>
                  </a:extLst>
                </a:gridCol>
                <a:gridCol w="1090510">
                  <a:extLst>
                    <a:ext uri="{9D8B030D-6E8A-4147-A177-3AD203B41FA5}">
                      <a16:colId xmlns:a16="http://schemas.microsoft.com/office/drawing/2014/main" val="20002"/>
                    </a:ext>
                  </a:extLst>
                </a:gridCol>
                <a:gridCol w="1294980">
                  <a:extLst>
                    <a:ext uri="{9D8B030D-6E8A-4147-A177-3AD203B41FA5}">
                      <a16:colId xmlns:a16="http://schemas.microsoft.com/office/drawing/2014/main" val="20003"/>
                    </a:ext>
                  </a:extLst>
                </a:gridCol>
              </a:tblGrid>
              <a:tr h="30451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Particulars</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3D475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Starter</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F6E6A"/>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Growth</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3A23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Blended 70/30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F5F5C"/>
                    </a:solidFill>
                  </a:tcPr>
                </a:tc>
                <a:extLst>
                  <a:ext uri="{0D108BD9-81ED-4DB2-BD59-A6C34878D82A}">
                    <a16:rowId xmlns:a16="http://schemas.microsoft.com/office/drawing/2014/main" val="10000"/>
                  </a:ext>
                </a:extLst>
              </a:tr>
              <a:tr h="342727">
                <a:tc>
                  <a:txBody>
                    <a:bodyPr/>
                    <a:lstStyle/>
                    <a:p>
                      <a:pPr marL="0" indent="0">
                        <a:buNone/>
                      </a:pPr>
                      <a:r>
                        <a:rPr lang="en-US" sz="1400" b="1" dirty="0">
                          <a:solidFill>
                            <a:srgbClr val="16202E"/>
                          </a:solidFill>
                          <a:latin typeface="Calibri" pitchFamily="34" charset="0"/>
                          <a:ea typeface="Calibri" pitchFamily="34" charset="-122"/>
                          <a:cs typeface="Calibri" pitchFamily="34" charset="-120"/>
                        </a:rPr>
                        <a:t>Subscription revenue</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499</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899</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619</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EF5F4"/>
                    </a:solidFill>
                  </a:tcPr>
                </a:tc>
                <a:extLst>
                  <a:ext uri="{0D108BD9-81ED-4DB2-BD59-A6C34878D82A}">
                    <a16:rowId xmlns:a16="http://schemas.microsoft.com/office/drawing/2014/main" val="10001"/>
                  </a:ext>
                </a:extLst>
              </a:tr>
              <a:tr h="342727">
                <a:tc>
                  <a:txBody>
                    <a:bodyPr/>
                    <a:lstStyle/>
                    <a:p>
                      <a:pPr marL="0" indent="0">
                        <a:buNone/>
                      </a:pPr>
                      <a:r>
                        <a:rPr lang="en-US" sz="1400" b="1" dirty="0">
                          <a:solidFill>
                            <a:srgbClr val="16202E"/>
                          </a:solidFill>
                          <a:latin typeface="Calibri" pitchFamily="34" charset="0"/>
                          <a:ea typeface="Calibri" pitchFamily="34" charset="-122"/>
                          <a:cs typeface="Calibri" pitchFamily="34" charset="-120"/>
                        </a:rPr>
                        <a:t>Variable costs</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120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120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120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EF5F4"/>
                    </a:solidFill>
                  </a:tcPr>
                </a:tc>
                <a:extLst>
                  <a:ext uri="{0D108BD9-81ED-4DB2-BD59-A6C34878D82A}">
                    <a16:rowId xmlns:a16="http://schemas.microsoft.com/office/drawing/2014/main" val="10002"/>
                  </a:ext>
                </a:extLst>
              </a:tr>
              <a:tr h="342727">
                <a:tc>
                  <a:txBody>
                    <a:bodyPr/>
                    <a:lstStyle/>
                    <a:p>
                      <a:pPr marL="0" indent="0">
                        <a:buNone/>
                      </a:pPr>
                      <a:r>
                        <a:rPr lang="en-US" sz="1400" dirty="0">
                          <a:solidFill>
                            <a:srgbClr val="5B6472"/>
                          </a:solidFill>
                          <a:latin typeface="Calibri" pitchFamily="34" charset="0"/>
                          <a:ea typeface="Calibri" pitchFamily="34" charset="-122"/>
                          <a:cs typeface="Calibri" pitchFamily="34" charset="-120"/>
                        </a:rPr>
                        <a:t>   Cloud hosting &amp; infra</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EF5F4"/>
                    </a:solidFill>
                  </a:tcPr>
                </a:tc>
                <a:extLst>
                  <a:ext uri="{0D108BD9-81ED-4DB2-BD59-A6C34878D82A}">
                    <a16:rowId xmlns:a16="http://schemas.microsoft.com/office/drawing/2014/main" val="10003"/>
                  </a:ext>
                </a:extLst>
              </a:tr>
              <a:tr h="342727">
                <a:tc>
                  <a:txBody>
                    <a:bodyPr/>
                    <a:lstStyle/>
                    <a:p>
                      <a:pPr marL="0" indent="0">
                        <a:buNone/>
                      </a:pPr>
                      <a:r>
                        <a:rPr lang="en-US" sz="1400" dirty="0">
                          <a:solidFill>
                            <a:srgbClr val="5B6472"/>
                          </a:solidFill>
                          <a:latin typeface="Calibri" pitchFamily="34" charset="0"/>
                          <a:ea typeface="Calibri" pitchFamily="34" charset="-122"/>
                          <a:cs typeface="Calibri" pitchFamily="34" charset="-120"/>
                        </a:rPr>
                        <a:t>   Messaging &amp; PDF generation</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EF5F4"/>
                    </a:solidFill>
                  </a:tcPr>
                </a:tc>
                <a:extLst>
                  <a:ext uri="{0D108BD9-81ED-4DB2-BD59-A6C34878D82A}">
                    <a16:rowId xmlns:a16="http://schemas.microsoft.com/office/drawing/2014/main" val="10004"/>
                  </a:ext>
                </a:extLst>
              </a:tr>
              <a:tr h="342727">
                <a:tc>
                  <a:txBody>
                    <a:bodyPr/>
                    <a:lstStyle/>
                    <a:p>
                      <a:pPr marL="0" indent="0">
                        <a:buNone/>
                      </a:pPr>
                      <a:r>
                        <a:rPr lang="en-US" sz="1400" dirty="0">
                          <a:solidFill>
                            <a:srgbClr val="5B6472"/>
                          </a:solidFill>
                          <a:latin typeface="Calibri" pitchFamily="34" charset="0"/>
                          <a:ea typeface="Calibri" pitchFamily="34" charset="-122"/>
                          <a:cs typeface="Calibri" pitchFamily="34" charset="-120"/>
                        </a:rPr>
                        <a:t>   Payment processing</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EF5F4"/>
                    </a:solidFill>
                  </a:tcPr>
                </a:tc>
                <a:extLst>
                  <a:ext uri="{0D108BD9-81ED-4DB2-BD59-A6C34878D82A}">
                    <a16:rowId xmlns:a16="http://schemas.microsoft.com/office/drawing/2014/main" val="10005"/>
                  </a:ext>
                </a:extLst>
              </a:tr>
              <a:tr h="342727">
                <a:tc>
                  <a:txBody>
                    <a:bodyPr/>
                    <a:lstStyle/>
                    <a:p>
                      <a:pPr marL="0" indent="0">
                        <a:buNone/>
                      </a:pPr>
                      <a:r>
                        <a:rPr lang="en-US" sz="1400" dirty="0">
                          <a:solidFill>
                            <a:srgbClr val="5B6472"/>
                          </a:solidFill>
                          <a:latin typeface="Calibri" pitchFamily="34" charset="0"/>
                          <a:ea typeface="Calibri" pitchFamily="34" charset="-122"/>
                          <a:cs typeface="Calibri" pitchFamily="34" charset="-120"/>
                        </a:rPr>
                        <a:t>   Support &amp; maintenance</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B6472"/>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EF5F4"/>
                    </a:solidFill>
                  </a:tcPr>
                </a:tc>
                <a:extLst>
                  <a:ext uri="{0D108BD9-81ED-4DB2-BD59-A6C34878D82A}">
                    <a16:rowId xmlns:a16="http://schemas.microsoft.com/office/drawing/2014/main" val="10006"/>
                  </a:ext>
                </a:extLst>
              </a:tr>
              <a:tr h="342727">
                <a:tc>
                  <a:txBody>
                    <a:bodyPr/>
                    <a:lstStyle/>
                    <a:p>
                      <a:pPr marL="0" indent="0">
                        <a:buNone/>
                      </a:pPr>
                      <a:r>
                        <a:rPr lang="en-US" sz="1400" b="1" dirty="0">
                          <a:solidFill>
                            <a:srgbClr val="16202E"/>
                          </a:solidFill>
                          <a:latin typeface="Calibri" pitchFamily="34" charset="0"/>
                          <a:ea typeface="Calibri" pitchFamily="34" charset="-122"/>
                          <a:cs typeface="Calibri" pitchFamily="34" charset="-120"/>
                        </a:rPr>
                        <a:t>Contribution (per hotel)</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6F2F0"/>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379</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6F2F0"/>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779</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6F2F0"/>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499</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6F2F0"/>
                    </a:solidFill>
                  </a:tcPr>
                </a:tc>
                <a:extLst>
                  <a:ext uri="{0D108BD9-81ED-4DB2-BD59-A6C34878D82A}">
                    <a16:rowId xmlns:a16="http://schemas.microsoft.com/office/drawing/2014/main" val="10007"/>
                  </a:ext>
                </a:extLst>
              </a:tr>
              <a:tr h="342727">
                <a:tc>
                  <a:txBody>
                    <a:bodyPr/>
                    <a:lstStyle/>
                    <a:p>
                      <a:pPr marL="0" indent="0">
                        <a:buNone/>
                      </a:pPr>
                      <a:r>
                        <a:rPr lang="en-US" sz="1400" b="1" dirty="0">
                          <a:solidFill>
                            <a:srgbClr val="16202E"/>
                          </a:solidFill>
                          <a:latin typeface="Calibri" pitchFamily="34" charset="0"/>
                          <a:ea typeface="Calibri" pitchFamily="34" charset="-122"/>
                          <a:cs typeface="Calibri" pitchFamily="34" charset="-120"/>
                        </a:rPr>
                        <a:t>Contribution margin</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6F2F0"/>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76.6%</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6F2F0"/>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86.7%</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6F2F0"/>
                    </a:solidFill>
                  </a:tcPr>
                </a:tc>
                <a:tc>
                  <a:txBody>
                    <a:bodyPr/>
                    <a:lstStyle/>
                    <a:p>
                      <a:pPr marL="0" indent="0" algn="ctr">
                        <a:buNone/>
                      </a:pPr>
                      <a:r>
                        <a:rPr lang="en-US" sz="1400" b="1" dirty="0">
                          <a:solidFill>
                            <a:srgbClr val="16202E"/>
                          </a:solidFill>
                          <a:latin typeface="Calibri" pitchFamily="34" charset="0"/>
                          <a:ea typeface="Calibri" pitchFamily="34" charset="-122"/>
                          <a:cs typeface="Calibri" pitchFamily="34" charset="-120"/>
                        </a:rPr>
                        <a:t>80.6%</a:t>
                      </a:r>
                      <a:endParaRPr lang="en-US" sz="1400" dirty="0">
                        <a:latin typeface="Calibri" charset="0"/>
                        <a:ea typeface="Calibri" charset="0"/>
                        <a:cs typeface="Calibri" charset="0"/>
                      </a:endParaRPr>
                    </a:p>
                  </a:txBody>
                  <a:tcPr marL="45720" marR="45720" marT="0" marB="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E6F2F0"/>
                    </a:solidFill>
                  </a:tcPr>
                </a:tc>
                <a:extLst>
                  <a:ext uri="{0D108BD9-81ED-4DB2-BD59-A6C34878D82A}">
                    <a16:rowId xmlns:a16="http://schemas.microsoft.com/office/drawing/2014/main" val="10008"/>
                  </a:ext>
                </a:extLst>
              </a:tr>
            </a:tbl>
          </a:graphicData>
        </a:graphic>
      </p:graphicFrame>
      <p:grpSp>
        <p:nvGrpSpPr>
          <p:cNvPr id="93" name="Group 92">
            <a:extLst>
              <a:ext uri="{FF2B5EF4-FFF2-40B4-BE49-F238E27FC236}">
                <a16:creationId xmlns:a16="http://schemas.microsoft.com/office/drawing/2014/main" id="{27574DE1-CA53-95D9-AFD8-FEA69EC5B207}"/>
              </a:ext>
            </a:extLst>
          </p:cNvPr>
          <p:cNvGrpSpPr/>
          <p:nvPr/>
        </p:nvGrpSpPr>
        <p:grpSpPr>
          <a:xfrm>
            <a:off x="457200" y="4817998"/>
            <a:ext cx="5526701" cy="1845691"/>
            <a:chOff x="457200" y="4700363"/>
            <a:chExt cx="4343400" cy="1682149"/>
          </a:xfrm>
        </p:grpSpPr>
        <p:sp>
          <p:nvSpPr>
            <p:cNvPr id="64" name="Text 52"/>
            <p:cNvSpPr txBox="1"/>
            <p:nvPr/>
          </p:nvSpPr>
          <p:spPr>
            <a:xfrm>
              <a:off x="457200" y="4700363"/>
              <a:ext cx="4206240" cy="256032"/>
            </a:xfrm>
            <a:prstGeom prst="rect">
              <a:avLst/>
            </a:prstGeom>
            <a:noFill/>
            <a:ln/>
          </p:spPr>
          <p:txBody>
            <a:bodyPr wrap="square" lIns="0" tIns="0" rIns="0" bIns="0" rtlCol="0" anchor="t"/>
            <a:lstStyle/>
            <a:p>
              <a:pPr marL="0" indent="0">
                <a:buNone/>
              </a:pPr>
              <a:r>
                <a:rPr lang="en-US" sz="1400" b="1" dirty="0">
                  <a:solidFill>
                    <a:srgbClr val="16202E"/>
                  </a:solidFill>
                </a:rPr>
                <a:t>Customer journey: payment to support</a:t>
              </a:r>
              <a:endParaRPr lang="en-US" sz="1400" dirty="0"/>
            </a:p>
          </p:txBody>
        </p:sp>
        <p:sp>
          <p:nvSpPr>
            <p:cNvPr id="65" name="Shape 53"/>
            <p:cNvSpPr/>
            <p:nvPr/>
          </p:nvSpPr>
          <p:spPr>
            <a:xfrm>
              <a:off x="585216" y="5157216"/>
              <a:ext cx="0" cy="1097280"/>
            </a:xfrm>
            <a:prstGeom prst="line">
              <a:avLst/>
            </a:prstGeom>
            <a:noFill/>
            <a:ln w="19050">
              <a:solidFill>
                <a:srgbClr val="B9D3CF"/>
              </a:solidFill>
              <a:prstDash val="solid"/>
            </a:ln>
          </p:spPr>
          <p:txBody>
            <a:bodyPr/>
            <a:lstStyle/>
            <a:p>
              <a:endParaRPr lang="en-IN"/>
            </a:p>
          </p:txBody>
        </p:sp>
        <p:sp>
          <p:nvSpPr>
            <p:cNvPr id="66" name="Shape 54"/>
            <p:cNvSpPr/>
            <p:nvPr/>
          </p:nvSpPr>
          <p:spPr>
            <a:xfrm>
              <a:off x="457200" y="5029200"/>
              <a:ext cx="256032" cy="256032"/>
            </a:xfrm>
            <a:prstGeom prst="ellipse">
              <a:avLst/>
            </a:prstGeom>
            <a:solidFill>
              <a:srgbClr val="0F6E6A"/>
            </a:solidFill>
            <a:ln w="19050">
              <a:solidFill>
                <a:srgbClr val="FFFFFF"/>
              </a:solidFill>
              <a:prstDash val="solid"/>
            </a:ln>
          </p:spPr>
          <p:txBody>
            <a:bodyPr/>
            <a:lstStyle/>
            <a:p>
              <a:endParaRPr lang="en-IN"/>
            </a:p>
          </p:txBody>
        </p:sp>
        <p:sp>
          <p:nvSpPr>
            <p:cNvPr id="67" name="Text 55"/>
            <p:cNvSpPr txBox="1"/>
            <p:nvPr/>
          </p:nvSpPr>
          <p:spPr>
            <a:xfrm>
              <a:off x="457200" y="5029200"/>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rPr>
                <a:t>1</a:t>
              </a:r>
              <a:endParaRPr lang="en-US" sz="950" dirty="0"/>
            </a:p>
          </p:txBody>
        </p:sp>
        <p:sp>
          <p:nvSpPr>
            <p:cNvPr id="68" name="Text 56"/>
            <p:cNvSpPr txBox="1"/>
            <p:nvPr/>
          </p:nvSpPr>
          <p:spPr>
            <a:xfrm>
              <a:off x="822960" y="5047488"/>
              <a:ext cx="3977640" cy="237744"/>
            </a:xfrm>
            <a:prstGeom prst="rect">
              <a:avLst/>
            </a:prstGeom>
            <a:noFill/>
            <a:ln/>
          </p:spPr>
          <p:txBody>
            <a:bodyPr wrap="square" lIns="0" tIns="0" rIns="0" bIns="0" rtlCol="0" anchor="t"/>
            <a:lstStyle/>
            <a:p>
              <a:pPr marL="0" indent="0">
                <a:buNone/>
              </a:pPr>
              <a:r>
                <a:rPr lang="en-US" sz="1200" b="1" dirty="0">
                  <a:solidFill>
                    <a:srgbClr val="16202E"/>
                  </a:solidFill>
                </a:rPr>
                <a:t>Sign up &amp; pay: </a:t>
              </a:r>
              <a:r>
                <a:rPr lang="en-US" sz="1200" dirty="0">
                  <a:solidFill>
                    <a:srgbClr val="5B6472"/>
                  </a:solidFill>
                </a:rPr>
                <a:t>owner picks a plan, pays monthly or annually</a:t>
              </a:r>
              <a:endParaRPr lang="en-US" sz="1200" dirty="0"/>
            </a:p>
          </p:txBody>
        </p:sp>
        <p:sp>
          <p:nvSpPr>
            <p:cNvPr id="69" name="Shape 57"/>
            <p:cNvSpPr/>
            <p:nvPr/>
          </p:nvSpPr>
          <p:spPr>
            <a:xfrm>
              <a:off x="457200" y="5303520"/>
              <a:ext cx="256032" cy="256032"/>
            </a:xfrm>
            <a:prstGeom prst="ellipse">
              <a:avLst/>
            </a:prstGeom>
            <a:solidFill>
              <a:srgbClr val="0F6E6A"/>
            </a:solidFill>
            <a:ln w="19050">
              <a:solidFill>
                <a:srgbClr val="FFFFFF"/>
              </a:solidFill>
              <a:prstDash val="solid"/>
            </a:ln>
          </p:spPr>
          <p:txBody>
            <a:bodyPr/>
            <a:lstStyle/>
            <a:p>
              <a:endParaRPr lang="en-IN"/>
            </a:p>
          </p:txBody>
        </p:sp>
        <p:sp>
          <p:nvSpPr>
            <p:cNvPr id="70" name="Text 58"/>
            <p:cNvSpPr txBox="1"/>
            <p:nvPr/>
          </p:nvSpPr>
          <p:spPr>
            <a:xfrm>
              <a:off x="457200" y="5303520"/>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rPr>
                <a:t>2</a:t>
              </a:r>
              <a:endParaRPr lang="en-US" sz="950" dirty="0"/>
            </a:p>
          </p:txBody>
        </p:sp>
        <p:sp>
          <p:nvSpPr>
            <p:cNvPr id="71" name="Text 59"/>
            <p:cNvSpPr txBox="1"/>
            <p:nvPr/>
          </p:nvSpPr>
          <p:spPr>
            <a:xfrm>
              <a:off x="822960" y="5321808"/>
              <a:ext cx="3977640" cy="237744"/>
            </a:xfrm>
            <a:prstGeom prst="rect">
              <a:avLst/>
            </a:prstGeom>
            <a:noFill/>
            <a:ln/>
          </p:spPr>
          <p:txBody>
            <a:bodyPr wrap="square" lIns="0" tIns="0" rIns="0" bIns="0" rtlCol="0" anchor="t"/>
            <a:lstStyle/>
            <a:p>
              <a:pPr marL="0" indent="0">
                <a:buNone/>
              </a:pPr>
              <a:r>
                <a:rPr lang="en-US" sz="1200" b="1" dirty="0">
                  <a:solidFill>
                    <a:srgbClr val="16202E"/>
                  </a:solidFill>
                </a:rPr>
                <a:t>Account setup: </a:t>
              </a:r>
              <a:r>
                <a:rPr lang="en-US" sz="1200" dirty="0">
                  <a:solidFill>
                    <a:srgbClr val="5B6472"/>
                  </a:solidFill>
                </a:rPr>
                <a:t>hotel account and logins within 24 hours</a:t>
              </a:r>
              <a:endParaRPr lang="en-US" sz="1200" dirty="0"/>
            </a:p>
          </p:txBody>
        </p:sp>
        <p:sp>
          <p:nvSpPr>
            <p:cNvPr id="72" name="Shape 60"/>
            <p:cNvSpPr/>
            <p:nvPr/>
          </p:nvSpPr>
          <p:spPr>
            <a:xfrm>
              <a:off x="457200" y="5577840"/>
              <a:ext cx="256032" cy="256032"/>
            </a:xfrm>
            <a:prstGeom prst="ellipse">
              <a:avLst/>
            </a:prstGeom>
            <a:solidFill>
              <a:srgbClr val="0F6E6A"/>
            </a:solidFill>
            <a:ln w="19050">
              <a:solidFill>
                <a:srgbClr val="FFFFFF"/>
              </a:solidFill>
              <a:prstDash val="solid"/>
            </a:ln>
          </p:spPr>
          <p:txBody>
            <a:bodyPr/>
            <a:lstStyle/>
            <a:p>
              <a:endParaRPr lang="en-IN"/>
            </a:p>
          </p:txBody>
        </p:sp>
        <p:sp>
          <p:nvSpPr>
            <p:cNvPr id="73" name="Text 61"/>
            <p:cNvSpPr txBox="1"/>
            <p:nvPr/>
          </p:nvSpPr>
          <p:spPr>
            <a:xfrm>
              <a:off x="457200" y="5577840"/>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rPr>
                <a:t>3</a:t>
              </a:r>
              <a:endParaRPr lang="en-US" sz="950" dirty="0"/>
            </a:p>
          </p:txBody>
        </p:sp>
        <p:sp>
          <p:nvSpPr>
            <p:cNvPr id="74" name="Text 62"/>
            <p:cNvSpPr txBox="1"/>
            <p:nvPr/>
          </p:nvSpPr>
          <p:spPr>
            <a:xfrm>
              <a:off x="822960" y="5596128"/>
              <a:ext cx="3977640" cy="237744"/>
            </a:xfrm>
            <a:prstGeom prst="rect">
              <a:avLst/>
            </a:prstGeom>
            <a:noFill/>
            <a:ln/>
          </p:spPr>
          <p:txBody>
            <a:bodyPr wrap="square" lIns="0" tIns="0" rIns="0" bIns="0" rtlCol="0" anchor="t"/>
            <a:lstStyle/>
            <a:p>
              <a:pPr marL="0" indent="0">
                <a:buNone/>
              </a:pPr>
              <a:r>
                <a:rPr lang="en-US" sz="1200" b="1" dirty="0">
                  <a:solidFill>
                    <a:srgbClr val="16202E"/>
                  </a:solidFill>
                </a:rPr>
                <a:t>Onboarding: </a:t>
              </a:r>
              <a:r>
                <a:rPr lang="en-US" sz="1200" dirty="0">
                  <a:solidFill>
                    <a:srgbClr val="5B6472"/>
                  </a:solidFill>
                </a:rPr>
                <a:t>online demo or on-site training (30–60 min)</a:t>
              </a:r>
              <a:endParaRPr lang="en-US" sz="1200" dirty="0"/>
            </a:p>
          </p:txBody>
        </p:sp>
        <p:sp>
          <p:nvSpPr>
            <p:cNvPr id="75" name="Shape 63"/>
            <p:cNvSpPr/>
            <p:nvPr/>
          </p:nvSpPr>
          <p:spPr>
            <a:xfrm>
              <a:off x="457200" y="5852160"/>
              <a:ext cx="256032" cy="256032"/>
            </a:xfrm>
            <a:prstGeom prst="ellipse">
              <a:avLst/>
            </a:prstGeom>
            <a:solidFill>
              <a:srgbClr val="0F6E6A"/>
            </a:solidFill>
            <a:ln w="19050">
              <a:solidFill>
                <a:srgbClr val="FFFFFF"/>
              </a:solidFill>
              <a:prstDash val="solid"/>
            </a:ln>
          </p:spPr>
          <p:txBody>
            <a:bodyPr/>
            <a:lstStyle/>
            <a:p>
              <a:endParaRPr lang="en-IN"/>
            </a:p>
          </p:txBody>
        </p:sp>
        <p:sp>
          <p:nvSpPr>
            <p:cNvPr id="76" name="Text 64"/>
            <p:cNvSpPr txBox="1"/>
            <p:nvPr/>
          </p:nvSpPr>
          <p:spPr>
            <a:xfrm>
              <a:off x="457200" y="5852160"/>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rPr>
                <a:t>4</a:t>
              </a:r>
              <a:endParaRPr lang="en-US" sz="950" dirty="0"/>
            </a:p>
          </p:txBody>
        </p:sp>
        <p:sp>
          <p:nvSpPr>
            <p:cNvPr id="77" name="Text 65"/>
            <p:cNvSpPr txBox="1"/>
            <p:nvPr/>
          </p:nvSpPr>
          <p:spPr>
            <a:xfrm>
              <a:off x="822960" y="5870448"/>
              <a:ext cx="3977640" cy="237744"/>
            </a:xfrm>
            <a:prstGeom prst="rect">
              <a:avLst/>
            </a:prstGeom>
            <a:noFill/>
            <a:ln/>
          </p:spPr>
          <p:txBody>
            <a:bodyPr wrap="square" lIns="0" tIns="0" rIns="0" bIns="0" rtlCol="0" anchor="t"/>
            <a:lstStyle/>
            <a:p>
              <a:pPr marL="0" indent="0">
                <a:buNone/>
              </a:pPr>
              <a:r>
                <a:rPr lang="en-US" sz="1200" b="1" dirty="0">
                  <a:solidFill>
                    <a:srgbClr val="16202E"/>
                  </a:solidFill>
                </a:rPr>
                <a:t>Start using C32: </a:t>
              </a:r>
              <a:r>
                <a:rPr lang="en-US" sz="1200" dirty="0">
                  <a:solidFill>
                    <a:srgbClr val="5B6472"/>
                  </a:solidFill>
                </a:rPr>
                <a:t>share quotes, track enquiries, confirm bookings</a:t>
              </a:r>
              <a:endParaRPr lang="en-US" sz="1200" dirty="0"/>
            </a:p>
          </p:txBody>
        </p:sp>
        <p:sp>
          <p:nvSpPr>
            <p:cNvPr id="78" name="Shape 66"/>
            <p:cNvSpPr/>
            <p:nvPr/>
          </p:nvSpPr>
          <p:spPr>
            <a:xfrm>
              <a:off x="457200" y="6126480"/>
              <a:ext cx="256032" cy="256032"/>
            </a:xfrm>
            <a:prstGeom prst="ellipse">
              <a:avLst/>
            </a:prstGeom>
            <a:solidFill>
              <a:srgbClr val="E3A23B"/>
            </a:solidFill>
            <a:ln w="19050">
              <a:solidFill>
                <a:srgbClr val="FFFFFF"/>
              </a:solidFill>
              <a:prstDash val="solid"/>
            </a:ln>
          </p:spPr>
          <p:txBody>
            <a:bodyPr/>
            <a:lstStyle/>
            <a:p>
              <a:endParaRPr lang="en-IN"/>
            </a:p>
          </p:txBody>
        </p:sp>
        <p:sp>
          <p:nvSpPr>
            <p:cNvPr id="79" name="Text 67"/>
            <p:cNvSpPr txBox="1"/>
            <p:nvPr/>
          </p:nvSpPr>
          <p:spPr>
            <a:xfrm>
              <a:off x="457200" y="6126480"/>
              <a:ext cx="256032" cy="256032"/>
            </a:xfrm>
            <a:prstGeom prst="rect">
              <a:avLst/>
            </a:prstGeom>
            <a:noFill/>
            <a:ln/>
          </p:spPr>
          <p:txBody>
            <a:bodyPr wrap="square" lIns="0" tIns="0" rIns="0" bIns="0" rtlCol="0" anchor="ctr"/>
            <a:lstStyle/>
            <a:p>
              <a:pPr marL="0" indent="0" algn="ctr">
                <a:buNone/>
              </a:pPr>
              <a:r>
                <a:rPr lang="en-US" sz="950" b="1" dirty="0">
                  <a:solidFill>
                    <a:srgbClr val="16202E"/>
                  </a:solidFill>
                </a:rPr>
                <a:t>5</a:t>
              </a:r>
              <a:endParaRPr lang="en-US" sz="950" dirty="0"/>
            </a:p>
          </p:txBody>
        </p:sp>
        <p:sp>
          <p:nvSpPr>
            <p:cNvPr id="80" name="Text 68"/>
            <p:cNvSpPr txBox="1"/>
            <p:nvPr/>
          </p:nvSpPr>
          <p:spPr>
            <a:xfrm>
              <a:off x="822960" y="6144768"/>
              <a:ext cx="3977640" cy="237744"/>
            </a:xfrm>
            <a:prstGeom prst="rect">
              <a:avLst/>
            </a:prstGeom>
            <a:noFill/>
            <a:ln/>
          </p:spPr>
          <p:txBody>
            <a:bodyPr wrap="square" lIns="0" tIns="0" rIns="0" bIns="0" rtlCol="0" anchor="t"/>
            <a:lstStyle/>
            <a:p>
              <a:pPr marL="0" indent="0">
                <a:buNone/>
              </a:pPr>
              <a:r>
                <a:rPr lang="en-US" sz="1200" b="1" dirty="0">
                  <a:solidFill>
                    <a:srgbClr val="16202E"/>
                  </a:solidFill>
                </a:rPr>
                <a:t>Ongoing support: </a:t>
              </a:r>
              <a:r>
                <a:rPr lang="en-US" sz="1200" dirty="0">
                  <a:solidFill>
                    <a:srgbClr val="5B6472"/>
                  </a:solidFill>
                </a:rPr>
                <a:t>WhatsApp / phone support and feature updates</a:t>
              </a:r>
              <a:endParaRPr lang="en-US" sz="1200" dirty="0"/>
            </a:p>
          </p:txBody>
        </p:sp>
      </p:grpSp>
      <p:sp>
        <p:nvSpPr>
          <p:cNvPr id="89"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CDD47666-E48D-4F64-5C5E-19B7B330EF20}"/>
              </a:ext>
            </a:extLst>
          </p:cNvPr>
          <p:cNvPicPr>
            <a:picLocks noChangeAspect="1"/>
          </p:cNvPicPr>
          <p:nvPr/>
        </p:nvPicPr>
        <p:blipFill>
          <a:blip r:embed="rId2"/>
          <a:srcRect l="426"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4260510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67">
            <a:extLst>
              <a:ext uri="{FF2B5EF4-FFF2-40B4-BE49-F238E27FC236}">
                <a16:creationId xmlns:a16="http://schemas.microsoft.com/office/drawing/2014/main" id="{EE3852AD-3A60-369E-22F0-C030B016DD31}"/>
              </a:ext>
            </a:extLst>
          </p:cNvPr>
          <p:cNvPicPr>
            <a:picLocks noChangeAspect="1"/>
          </p:cNvPicPr>
          <p:nvPr/>
        </p:nvPicPr>
        <p:blipFill>
          <a:blip r:embed="rId2"/>
          <a:stretch>
            <a:fillRect/>
          </a:stretch>
        </p:blipFill>
        <p:spPr>
          <a:xfrm>
            <a:off x="0" y="-12008"/>
            <a:ext cx="12170726" cy="6870008"/>
          </a:xfrm>
          <a:prstGeom prst="rect">
            <a:avLst/>
          </a:prstGeom>
        </p:spPr>
      </p:pic>
    </p:spTree>
    <p:extLst>
      <p:ext uri="{BB962C8B-B14F-4D97-AF65-F5344CB8AC3E}">
        <p14:creationId xmlns:p14="http://schemas.microsoft.com/office/powerpoint/2010/main" val="4200365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03 · MARKET ENTRY, SALES AND 30-DAY GROWTH PLAN</a:t>
            </a:r>
            <a:endParaRPr lang="en-US" sz="1200" dirty="0"/>
          </a:p>
        </p:txBody>
      </p:sp>
      <p:sp>
        <p:nvSpPr>
          <p:cNvPr id="3" name="Text 1"/>
          <p:cNvSpPr txBox="1"/>
          <p:nvPr/>
        </p:nvSpPr>
        <p:spPr>
          <a:xfrm>
            <a:off x="457200" y="640080"/>
            <a:ext cx="11247120" cy="640080"/>
          </a:xfrm>
          <a:prstGeom prst="rect">
            <a:avLst/>
          </a:prstGeom>
          <a:noFill/>
          <a:ln/>
        </p:spPr>
        <p:txBody>
          <a:bodyPr wrap="square" lIns="0" tIns="0" rIns="0" bIns="0" rtlCol="0" anchor="t"/>
          <a:lstStyle/>
          <a:p>
            <a:pPr marL="0" indent="0">
              <a:buNone/>
            </a:pPr>
            <a:r>
              <a:rPr lang="en-US" sz="3600" b="1" dirty="0">
                <a:solidFill>
                  <a:schemeClr val="tx1"/>
                </a:solidFill>
              </a:rPr>
              <a:t>How we win our first paying hotels</a:t>
            </a:r>
            <a:endParaRPr lang="en-US" sz="3600" dirty="0"/>
          </a:p>
        </p:txBody>
      </p:sp>
      <p:sp>
        <p:nvSpPr>
          <p:cNvPr id="4" name="Initial geography"/>
          <p:cNvSpPr/>
          <p:nvPr/>
        </p:nvSpPr>
        <p:spPr>
          <a:xfrm>
            <a:off x="457200" y="1417320"/>
            <a:ext cx="3246120" cy="914400"/>
          </a:xfrm>
          <a:prstGeom prst="roundRect">
            <a:avLst>
              <a:gd name="adj" fmla="val 10000"/>
            </a:avLst>
          </a:prstGeom>
          <a:solidFill>
            <a:schemeClr val="accent3"/>
          </a:solidFill>
          <a:ln w="12700">
            <a:solidFill>
              <a:schemeClr val="accent3"/>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621792" y="1572768"/>
            <a:ext cx="237744" cy="237744"/>
          </a:xfrm>
          <a:prstGeom prst="rect">
            <a:avLst/>
          </a:prstGeom>
        </p:spPr>
      </p:pic>
      <p:sp>
        <p:nvSpPr>
          <p:cNvPr id="6" name="Text 3"/>
          <p:cNvSpPr txBox="1"/>
          <p:nvPr/>
        </p:nvSpPr>
        <p:spPr>
          <a:xfrm>
            <a:off x="960120" y="1545336"/>
            <a:ext cx="2606040" cy="274320"/>
          </a:xfrm>
          <a:prstGeom prst="rect">
            <a:avLst/>
          </a:prstGeom>
          <a:noFill/>
          <a:ln/>
        </p:spPr>
        <p:txBody>
          <a:bodyPr wrap="square" lIns="0" tIns="0" rIns="0" bIns="0" rtlCol="0" anchor="t"/>
          <a:lstStyle/>
          <a:p>
            <a:pPr marL="0" indent="0">
              <a:buNone/>
            </a:pPr>
            <a:r>
              <a:rPr lang="en-US" sz="1400" b="1" dirty="0">
                <a:solidFill>
                  <a:srgbClr val="0F5F5C"/>
                </a:solidFill>
                <a:highlight>
                  <a:srgbClr val="FFFF00"/>
                </a:highlight>
              </a:rPr>
              <a:t>Initial geography</a:t>
            </a:r>
            <a:endParaRPr lang="en-US" sz="1400" dirty="0">
              <a:highlight>
                <a:srgbClr val="FFFF00"/>
              </a:highlight>
            </a:endParaRPr>
          </a:p>
        </p:txBody>
      </p:sp>
      <p:sp>
        <p:nvSpPr>
          <p:cNvPr id="7" name="Text 4"/>
          <p:cNvSpPr txBox="1"/>
          <p:nvPr/>
        </p:nvSpPr>
        <p:spPr>
          <a:xfrm>
            <a:off x="960120" y="1828800"/>
            <a:ext cx="2606040" cy="457200"/>
          </a:xfrm>
          <a:prstGeom prst="rect">
            <a:avLst/>
          </a:prstGeom>
          <a:noFill/>
          <a:ln/>
        </p:spPr>
        <p:txBody>
          <a:bodyPr wrap="square" lIns="0" tIns="0" rIns="0" bIns="0" rtlCol="0" anchor="t"/>
          <a:lstStyle/>
          <a:p>
            <a:pPr marL="0" indent="0">
              <a:buNone/>
            </a:pPr>
            <a:r>
              <a:rPr lang="en-US" sz="1400" dirty="0">
                <a:solidFill>
                  <a:srgbClr val="16202E"/>
                </a:solidFill>
              </a:rPr>
              <a:t>TIER-1 CITIES ACROSS ALL STATES.</a:t>
            </a:r>
            <a:endParaRPr lang="en-US" sz="1400" dirty="0"/>
          </a:p>
        </p:txBody>
      </p:sp>
      <p:sp>
        <p:nvSpPr>
          <p:cNvPr id="8" name="Hotel profile"/>
          <p:cNvSpPr/>
          <p:nvPr/>
        </p:nvSpPr>
        <p:spPr>
          <a:xfrm>
            <a:off x="3840480" y="1417320"/>
            <a:ext cx="3566160" cy="914400"/>
          </a:xfrm>
          <a:prstGeom prst="roundRect">
            <a:avLst>
              <a:gd name="adj" fmla="val 10000"/>
            </a:avLst>
          </a:prstGeom>
          <a:solidFill>
            <a:schemeClr val="accent3"/>
          </a:solidFill>
          <a:ln w="12700">
            <a:solidFill>
              <a:schemeClr val="accent3"/>
            </a:solidFill>
            <a:prstDash val="solid"/>
          </a:ln>
        </p:spPr>
        <p:txBody>
          <a:bodyPr/>
          <a:lstStyle/>
          <a:p>
            <a:endParaRPr lang="en-IN"/>
          </a:p>
        </p:txBody>
      </p:sp>
      <p:pic>
        <p:nvPicPr>
          <p:cNvPr id="9" name="Image 1" descr="preencoded.png"/>
          <p:cNvPicPr>
            <a:picLocks noChangeAspect="1"/>
          </p:cNvPicPr>
          <p:nvPr/>
        </p:nvPicPr>
        <p:blipFill>
          <a:blip r:embed="rId4"/>
          <a:stretch>
            <a:fillRect/>
          </a:stretch>
        </p:blipFill>
        <p:spPr>
          <a:xfrm>
            <a:off x="4005072" y="1572768"/>
            <a:ext cx="237744" cy="237744"/>
          </a:xfrm>
          <a:prstGeom prst="rect">
            <a:avLst/>
          </a:prstGeom>
        </p:spPr>
      </p:pic>
      <p:sp>
        <p:nvSpPr>
          <p:cNvPr id="10" name="Text 6"/>
          <p:cNvSpPr txBox="1"/>
          <p:nvPr/>
        </p:nvSpPr>
        <p:spPr>
          <a:xfrm>
            <a:off x="4343400" y="1545336"/>
            <a:ext cx="2926080" cy="274320"/>
          </a:xfrm>
          <a:prstGeom prst="rect">
            <a:avLst/>
          </a:prstGeom>
          <a:noFill/>
          <a:ln/>
        </p:spPr>
        <p:txBody>
          <a:bodyPr wrap="square" lIns="0" tIns="0" rIns="0" bIns="0" rtlCol="0" anchor="t"/>
          <a:lstStyle/>
          <a:p>
            <a:pPr marL="0" indent="0">
              <a:buNone/>
            </a:pPr>
            <a:r>
              <a:rPr lang="en-US" sz="1400" b="1" dirty="0">
                <a:solidFill>
                  <a:srgbClr val="0F5F5C"/>
                </a:solidFill>
                <a:highlight>
                  <a:srgbClr val="FFFF00"/>
                </a:highlight>
              </a:rPr>
              <a:t>Hotel profile</a:t>
            </a:r>
            <a:endParaRPr lang="en-US" sz="1400" dirty="0">
              <a:highlight>
                <a:srgbClr val="FFFF00"/>
              </a:highlight>
            </a:endParaRPr>
          </a:p>
        </p:txBody>
      </p:sp>
      <p:sp>
        <p:nvSpPr>
          <p:cNvPr id="11" name="Text 7"/>
          <p:cNvSpPr txBox="1"/>
          <p:nvPr/>
        </p:nvSpPr>
        <p:spPr>
          <a:xfrm>
            <a:off x="4343400" y="1828800"/>
            <a:ext cx="3063240" cy="457200"/>
          </a:xfrm>
          <a:prstGeom prst="rect">
            <a:avLst/>
          </a:prstGeom>
          <a:noFill/>
          <a:ln/>
        </p:spPr>
        <p:txBody>
          <a:bodyPr wrap="square" lIns="0" tIns="0" rIns="0" bIns="0" rtlCol="0" anchor="t"/>
          <a:lstStyle/>
          <a:p>
            <a:pPr marL="0" indent="0">
              <a:buNone/>
            </a:pPr>
            <a:r>
              <a:rPr lang="en-US" sz="1400" dirty="0">
                <a:solidFill>
                  <a:srgbClr val="16202E"/>
                </a:solidFill>
              </a:rPr>
              <a:t>Independent budget hotels, 10–50 rooms, with regular group enquiries</a:t>
            </a:r>
            <a:endParaRPr lang="en-US" sz="1400" dirty="0"/>
          </a:p>
        </p:txBody>
      </p:sp>
      <p:sp>
        <p:nvSpPr>
          <p:cNvPr id="12" name="Lead sources"/>
          <p:cNvSpPr/>
          <p:nvPr/>
        </p:nvSpPr>
        <p:spPr>
          <a:xfrm>
            <a:off x="7543800" y="1417320"/>
            <a:ext cx="4187952" cy="914400"/>
          </a:xfrm>
          <a:prstGeom prst="roundRect">
            <a:avLst>
              <a:gd name="adj" fmla="val 10000"/>
            </a:avLst>
          </a:prstGeom>
          <a:solidFill>
            <a:schemeClr val="accent3"/>
          </a:solidFill>
          <a:ln w="12700">
            <a:solidFill>
              <a:schemeClr val="accent3"/>
            </a:solidFill>
            <a:prstDash val="solid"/>
          </a:ln>
        </p:spPr>
        <p:txBody>
          <a:bodyPr/>
          <a:lstStyle/>
          <a:p>
            <a:endParaRPr lang="en-IN"/>
          </a:p>
        </p:txBody>
      </p:sp>
      <p:pic>
        <p:nvPicPr>
          <p:cNvPr id="13" name="Image 2" descr="preencoded.png"/>
          <p:cNvPicPr>
            <a:picLocks noChangeAspect="1"/>
          </p:cNvPicPr>
          <p:nvPr/>
        </p:nvPicPr>
        <p:blipFill>
          <a:blip r:embed="rId5"/>
          <a:stretch>
            <a:fillRect/>
          </a:stretch>
        </p:blipFill>
        <p:spPr>
          <a:xfrm>
            <a:off x="7708392" y="1572768"/>
            <a:ext cx="237744" cy="237744"/>
          </a:xfrm>
          <a:prstGeom prst="rect">
            <a:avLst/>
          </a:prstGeom>
        </p:spPr>
      </p:pic>
      <p:sp>
        <p:nvSpPr>
          <p:cNvPr id="14" name="Text 9"/>
          <p:cNvSpPr txBox="1"/>
          <p:nvPr/>
        </p:nvSpPr>
        <p:spPr>
          <a:xfrm>
            <a:off x="8046720" y="1545336"/>
            <a:ext cx="3547872" cy="274320"/>
          </a:xfrm>
          <a:prstGeom prst="rect">
            <a:avLst/>
          </a:prstGeom>
          <a:noFill/>
          <a:ln/>
        </p:spPr>
        <p:txBody>
          <a:bodyPr wrap="square" lIns="0" tIns="0" rIns="0" bIns="0" rtlCol="0" anchor="t"/>
          <a:lstStyle/>
          <a:p>
            <a:pPr marL="0" indent="0">
              <a:buNone/>
            </a:pPr>
            <a:r>
              <a:rPr lang="en-US" sz="1400" b="1" dirty="0">
                <a:solidFill>
                  <a:srgbClr val="0F5F5C"/>
                </a:solidFill>
                <a:highlight>
                  <a:srgbClr val="FFFF00"/>
                </a:highlight>
              </a:rPr>
              <a:t>Lead sources</a:t>
            </a:r>
            <a:endParaRPr lang="en-US" sz="1400" dirty="0">
              <a:highlight>
                <a:srgbClr val="FFFF00"/>
              </a:highlight>
            </a:endParaRPr>
          </a:p>
        </p:txBody>
      </p:sp>
      <p:sp>
        <p:nvSpPr>
          <p:cNvPr id="15" name="Text 10"/>
          <p:cNvSpPr txBox="1"/>
          <p:nvPr/>
        </p:nvSpPr>
        <p:spPr>
          <a:xfrm>
            <a:off x="8046720" y="1828800"/>
            <a:ext cx="3547872" cy="457200"/>
          </a:xfrm>
          <a:prstGeom prst="rect">
            <a:avLst/>
          </a:prstGeom>
          <a:noFill/>
          <a:ln/>
        </p:spPr>
        <p:txBody>
          <a:bodyPr wrap="square" lIns="0" tIns="0" rIns="0" bIns="0" rtlCol="0" anchor="t"/>
          <a:lstStyle/>
          <a:p>
            <a:pPr marL="0" indent="0">
              <a:buNone/>
            </a:pPr>
            <a:r>
              <a:rPr lang="en-US" sz="1400" dirty="0">
                <a:solidFill>
                  <a:srgbClr val="16202E"/>
                </a:solidFill>
              </a:rPr>
              <a:t>Hotel directories · Google Maps · local hotel associations · referrals · direct outreach</a:t>
            </a:r>
            <a:endParaRPr lang="en-US" sz="1400" dirty="0"/>
          </a:p>
        </p:txBody>
      </p:sp>
      <p:sp>
        <p:nvSpPr>
          <p:cNvPr id="16" name="Text 11"/>
          <p:cNvSpPr txBox="1"/>
          <p:nvPr/>
        </p:nvSpPr>
        <p:spPr>
          <a:xfrm>
            <a:off x="3684689" y="2550523"/>
            <a:ext cx="3657600" cy="274320"/>
          </a:xfrm>
          <a:prstGeom prst="rect">
            <a:avLst/>
          </a:prstGeom>
          <a:noFill/>
          <a:ln/>
        </p:spPr>
        <p:txBody>
          <a:bodyPr wrap="square" lIns="0" tIns="0" rIns="0" bIns="0" rtlCol="0" anchor="t"/>
          <a:lstStyle/>
          <a:p>
            <a:pPr marL="0" indent="0" algn="ctr">
              <a:buNone/>
            </a:pPr>
            <a:r>
              <a:rPr lang="en-US" b="1" u="sng" dirty="0">
                <a:solidFill>
                  <a:srgbClr val="16202E"/>
                </a:solidFill>
              </a:rPr>
              <a:t>30-day action plan</a:t>
            </a:r>
            <a:endParaRPr lang="en-US" u="sng" dirty="0"/>
          </a:p>
        </p:txBody>
      </p:sp>
      <p:sp>
        <p:nvSpPr>
          <p:cNvPr id="18" name="Shape 13"/>
          <p:cNvSpPr/>
          <p:nvPr/>
        </p:nvSpPr>
        <p:spPr>
          <a:xfrm>
            <a:off x="845820" y="2971800"/>
            <a:ext cx="1097280" cy="237744"/>
          </a:xfrm>
          <a:prstGeom prst="roundRect">
            <a:avLst>
              <a:gd name="adj" fmla="val 23077"/>
            </a:avLst>
          </a:prstGeom>
          <a:solidFill>
            <a:srgbClr val="0F6E6A"/>
          </a:solidFill>
          <a:ln w="12700">
            <a:solidFill>
              <a:srgbClr val="0F6E6A"/>
            </a:solidFill>
            <a:prstDash val="solid"/>
          </a:ln>
        </p:spPr>
        <p:txBody>
          <a:bodyPr/>
          <a:lstStyle/>
          <a:p>
            <a:endParaRPr lang="en-IN"/>
          </a:p>
        </p:txBody>
      </p:sp>
      <p:sp>
        <p:nvSpPr>
          <p:cNvPr id="19" name="Text 14"/>
          <p:cNvSpPr txBox="1"/>
          <p:nvPr/>
        </p:nvSpPr>
        <p:spPr>
          <a:xfrm>
            <a:off x="761829" y="2971800"/>
            <a:ext cx="1097280" cy="237744"/>
          </a:xfrm>
          <a:prstGeom prst="rect">
            <a:avLst/>
          </a:prstGeom>
          <a:noFill/>
          <a:ln/>
        </p:spPr>
        <p:txBody>
          <a:bodyPr wrap="square" lIns="0" tIns="0" rIns="0" bIns="0" rtlCol="0" anchor="ctr"/>
          <a:lstStyle/>
          <a:p>
            <a:pPr marL="0" indent="0" algn="ctr">
              <a:buNone/>
            </a:pPr>
            <a:r>
              <a:rPr lang="en-US" sz="1000" b="1" kern="0" spc="100" dirty="0">
                <a:solidFill>
                  <a:srgbClr val="FFFFFF"/>
                </a:solidFill>
              </a:rPr>
              <a:t>DAYS 1–7</a:t>
            </a:r>
            <a:endParaRPr lang="en-US" sz="1000" dirty="0"/>
          </a:p>
        </p:txBody>
      </p:sp>
      <p:sp>
        <p:nvSpPr>
          <p:cNvPr id="20" name="Prepare"/>
          <p:cNvSpPr/>
          <p:nvPr/>
        </p:nvSpPr>
        <p:spPr>
          <a:xfrm>
            <a:off x="457200" y="3337560"/>
            <a:ext cx="1874520" cy="2148840"/>
          </a:xfrm>
          <a:prstGeom prst="roundRect">
            <a:avLst>
              <a:gd name="adj" fmla="val 4878"/>
            </a:avLst>
          </a:prstGeom>
          <a:solidFill>
            <a:srgbClr val="FFFFFF"/>
          </a:solidFill>
          <a:ln w="12700">
            <a:solidFill>
              <a:srgbClr val="E2DED4"/>
            </a:solidFill>
            <a:prstDash val="solid"/>
          </a:ln>
        </p:spPr>
        <p:txBody>
          <a:bodyPr/>
          <a:lstStyle/>
          <a:p>
            <a:endParaRPr lang="en-IN"/>
          </a:p>
        </p:txBody>
      </p:sp>
      <p:sp>
        <p:nvSpPr>
          <p:cNvPr id="21" name="Text 16"/>
          <p:cNvSpPr txBox="1"/>
          <p:nvPr/>
        </p:nvSpPr>
        <p:spPr>
          <a:xfrm>
            <a:off x="585216" y="3447288"/>
            <a:ext cx="1618488" cy="274320"/>
          </a:xfrm>
          <a:prstGeom prst="rect">
            <a:avLst/>
          </a:prstGeom>
          <a:noFill/>
          <a:ln/>
        </p:spPr>
        <p:txBody>
          <a:bodyPr wrap="square" lIns="0" tIns="0" rIns="0" bIns="0" rtlCol="0" anchor="t"/>
          <a:lstStyle/>
          <a:p>
            <a:pPr marL="0" indent="0">
              <a:buNone/>
            </a:pPr>
            <a:r>
              <a:rPr lang="en-US" sz="1400" b="1" dirty="0">
                <a:solidFill>
                  <a:srgbClr val="16202E"/>
                </a:solidFill>
              </a:rPr>
              <a:t>Prepare</a:t>
            </a:r>
            <a:endParaRPr lang="en-US" sz="1400" dirty="0"/>
          </a:p>
        </p:txBody>
      </p:sp>
      <p:pic>
        <p:nvPicPr>
          <p:cNvPr id="22" name="Image 3" descr="preencoded.png"/>
          <p:cNvPicPr>
            <a:picLocks noChangeAspect="1"/>
          </p:cNvPicPr>
          <p:nvPr/>
        </p:nvPicPr>
        <p:blipFill>
          <a:blip r:embed="rId6"/>
          <a:stretch>
            <a:fillRect/>
          </a:stretch>
        </p:blipFill>
        <p:spPr>
          <a:xfrm>
            <a:off x="585216" y="3758184"/>
            <a:ext cx="146304" cy="146304"/>
          </a:xfrm>
          <a:prstGeom prst="rect">
            <a:avLst/>
          </a:prstGeom>
        </p:spPr>
      </p:pic>
      <p:sp>
        <p:nvSpPr>
          <p:cNvPr id="23" name="Text 17"/>
          <p:cNvSpPr txBox="1"/>
          <p:nvPr/>
        </p:nvSpPr>
        <p:spPr>
          <a:xfrm>
            <a:off x="786384" y="3721608"/>
            <a:ext cx="1417320" cy="219456"/>
          </a:xfrm>
          <a:prstGeom prst="rect">
            <a:avLst/>
          </a:prstGeom>
          <a:noFill/>
          <a:ln/>
        </p:spPr>
        <p:txBody>
          <a:bodyPr wrap="square" lIns="0" tIns="0" rIns="0" bIns="0" rtlCol="0" anchor="t"/>
          <a:lstStyle/>
          <a:p>
            <a:pPr marL="0" indent="0">
              <a:buNone/>
            </a:pPr>
            <a:r>
              <a:rPr lang="en-US" sz="1100" dirty="0">
                <a:solidFill>
                  <a:srgbClr val="5B6472"/>
                </a:solidFill>
              </a:rPr>
              <a:t>Sales lead</a:t>
            </a:r>
            <a:endParaRPr lang="en-US" sz="1100" dirty="0"/>
          </a:p>
        </p:txBody>
      </p:sp>
      <p:sp>
        <p:nvSpPr>
          <p:cNvPr id="24" name="Text 18"/>
          <p:cNvSpPr txBox="1"/>
          <p:nvPr/>
        </p:nvSpPr>
        <p:spPr>
          <a:xfrm>
            <a:off x="585216" y="3995928"/>
            <a:ext cx="1618488" cy="1289304"/>
          </a:xfrm>
          <a:prstGeom prst="rect">
            <a:avLst/>
          </a:prstGeom>
          <a:noFill/>
          <a:ln/>
        </p:spPr>
        <p:txBody>
          <a:bodyPr wrap="square" lIns="0" tIns="0" rIns="0" bIns="0" rtlCol="0" anchor="t"/>
          <a:lstStyle/>
          <a:p>
            <a:pPr marL="0" indent="0">
              <a:buNone/>
            </a:pPr>
            <a:r>
              <a:rPr lang="en-US" sz="1400" dirty="0">
                <a:solidFill>
                  <a:srgbClr val="16202E"/>
                </a:solidFill>
              </a:rPr>
              <a:t>BUILD LEAD LIST; explore HOTEL BOOKING WEBSITES  AND GATHER DATA OF THE HOTELS TO BE TARGETED.</a:t>
            </a:r>
            <a:endParaRPr lang="en-US" sz="1400" dirty="0"/>
          </a:p>
        </p:txBody>
      </p:sp>
      <p:sp>
        <p:nvSpPr>
          <p:cNvPr id="28" name="Shape 21"/>
          <p:cNvSpPr/>
          <p:nvPr/>
        </p:nvSpPr>
        <p:spPr>
          <a:xfrm>
            <a:off x="3154680" y="2980944"/>
            <a:ext cx="1097280" cy="237744"/>
          </a:xfrm>
          <a:prstGeom prst="roundRect">
            <a:avLst>
              <a:gd name="adj" fmla="val 23077"/>
            </a:avLst>
          </a:prstGeom>
          <a:solidFill>
            <a:srgbClr val="0F6E6A"/>
          </a:solidFill>
          <a:ln w="12700">
            <a:solidFill>
              <a:srgbClr val="0F6E6A"/>
            </a:solidFill>
            <a:prstDash val="solid"/>
          </a:ln>
        </p:spPr>
        <p:txBody>
          <a:bodyPr/>
          <a:lstStyle/>
          <a:p>
            <a:endParaRPr lang="en-IN"/>
          </a:p>
        </p:txBody>
      </p:sp>
      <p:sp>
        <p:nvSpPr>
          <p:cNvPr id="29" name="Text 22"/>
          <p:cNvSpPr txBox="1"/>
          <p:nvPr/>
        </p:nvSpPr>
        <p:spPr>
          <a:xfrm>
            <a:off x="3132411" y="2971800"/>
            <a:ext cx="1097280" cy="237744"/>
          </a:xfrm>
          <a:prstGeom prst="rect">
            <a:avLst/>
          </a:prstGeom>
          <a:noFill/>
          <a:ln/>
        </p:spPr>
        <p:txBody>
          <a:bodyPr wrap="square" lIns="0" tIns="0" rIns="0" bIns="0" rtlCol="0" anchor="ctr"/>
          <a:lstStyle/>
          <a:p>
            <a:pPr marL="0" indent="0" algn="ctr">
              <a:buNone/>
            </a:pPr>
            <a:r>
              <a:rPr lang="en-US" sz="1000" b="1" kern="0" spc="100" dirty="0">
                <a:solidFill>
                  <a:srgbClr val="FFFFFF"/>
                </a:solidFill>
              </a:rPr>
              <a:t>DAYS 8–14</a:t>
            </a:r>
            <a:endParaRPr lang="en-US" sz="1000" dirty="0"/>
          </a:p>
        </p:txBody>
      </p:sp>
      <p:sp>
        <p:nvSpPr>
          <p:cNvPr id="30" name="Reach out and demo"/>
          <p:cNvSpPr/>
          <p:nvPr/>
        </p:nvSpPr>
        <p:spPr>
          <a:xfrm>
            <a:off x="2506856" y="3337560"/>
            <a:ext cx="2130552" cy="2148840"/>
          </a:xfrm>
          <a:prstGeom prst="roundRect">
            <a:avLst>
              <a:gd name="adj" fmla="val 4878"/>
            </a:avLst>
          </a:prstGeom>
          <a:solidFill>
            <a:srgbClr val="FFFFFF"/>
          </a:solidFill>
          <a:ln w="12700">
            <a:solidFill>
              <a:srgbClr val="E2DED4"/>
            </a:solidFill>
            <a:prstDash val="solid"/>
          </a:ln>
        </p:spPr>
        <p:txBody>
          <a:bodyPr/>
          <a:lstStyle/>
          <a:p>
            <a:endParaRPr lang="en-IN"/>
          </a:p>
        </p:txBody>
      </p:sp>
      <p:sp>
        <p:nvSpPr>
          <p:cNvPr id="31" name="Text 24"/>
          <p:cNvSpPr txBox="1"/>
          <p:nvPr/>
        </p:nvSpPr>
        <p:spPr>
          <a:xfrm>
            <a:off x="2570864" y="3319272"/>
            <a:ext cx="1618488" cy="274320"/>
          </a:xfrm>
          <a:prstGeom prst="rect">
            <a:avLst/>
          </a:prstGeom>
          <a:noFill/>
          <a:ln/>
        </p:spPr>
        <p:txBody>
          <a:bodyPr wrap="square" lIns="0" tIns="0" rIns="0" bIns="0" rtlCol="0" anchor="t"/>
          <a:lstStyle/>
          <a:p>
            <a:pPr marL="0" indent="0">
              <a:buNone/>
            </a:pPr>
            <a:r>
              <a:rPr lang="en-US" sz="1400" b="1" dirty="0">
                <a:solidFill>
                  <a:srgbClr val="16202E"/>
                </a:solidFill>
              </a:rPr>
              <a:t>Reach out and demo</a:t>
            </a:r>
            <a:endParaRPr lang="en-US" sz="1400" dirty="0"/>
          </a:p>
        </p:txBody>
      </p:sp>
      <p:pic>
        <p:nvPicPr>
          <p:cNvPr id="32" name="Image 5" descr="preencoded.png"/>
          <p:cNvPicPr>
            <a:picLocks noChangeAspect="1"/>
          </p:cNvPicPr>
          <p:nvPr/>
        </p:nvPicPr>
        <p:blipFill>
          <a:blip r:embed="rId6"/>
          <a:stretch>
            <a:fillRect/>
          </a:stretch>
        </p:blipFill>
        <p:spPr>
          <a:xfrm>
            <a:off x="2551176" y="3758184"/>
            <a:ext cx="146304" cy="146304"/>
          </a:xfrm>
          <a:prstGeom prst="rect">
            <a:avLst/>
          </a:prstGeom>
        </p:spPr>
      </p:pic>
      <p:sp>
        <p:nvSpPr>
          <p:cNvPr id="33" name="Text 25"/>
          <p:cNvSpPr txBox="1"/>
          <p:nvPr/>
        </p:nvSpPr>
        <p:spPr>
          <a:xfrm>
            <a:off x="2752344" y="3721608"/>
            <a:ext cx="1417320" cy="219456"/>
          </a:xfrm>
          <a:prstGeom prst="rect">
            <a:avLst/>
          </a:prstGeom>
          <a:noFill/>
          <a:ln/>
        </p:spPr>
        <p:txBody>
          <a:bodyPr wrap="square" lIns="0" tIns="0" rIns="0" bIns="0" rtlCol="0" anchor="t"/>
          <a:lstStyle/>
          <a:p>
            <a:pPr marL="0" indent="0">
              <a:buNone/>
            </a:pPr>
            <a:r>
              <a:rPr lang="en-US" sz="1100" dirty="0">
                <a:solidFill>
                  <a:srgbClr val="5B6472"/>
                </a:solidFill>
              </a:rPr>
              <a:t>Sales lead</a:t>
            </a:r>
            <a:endParaRPr lang="en-US" sz="1100" dirty="0"/>
          </a:p>
        </p:txBody>
      </p:sp>
      <p:sp>
        <p:nvSpPr>
          <p:cNvPr id="34" name="Text 26"/>
          <p:cNvSpPr txBox="1"/>
          <p:nvPr/>
        </p:nvSpPr>
        <p:spPr>
          <a:xfrm>
            <a:off x="2551176" y="3995928"/>
            <a:ext cx="1618488" cy="1005840"/>
          </a:xfrm>
          <a:prstGeom prst="rect">
            <a:avLst/>
          </a:prstGeom>
          <a:noFill/>
          <a:ln/>
        </p:spPr>
        <p:txBody>
          <a:bodyPr wrap="square" lIns="0" tIns="0" rIns="0" bIns="0" rtlCol="0" anchor="t"/>
          <a:lstStyle/>
          <a:p>
            <a:pPr marL="0" indent="0">
              <a:buNone/>
            </a:pPr>
            <a:r>
              <a:rPr lang="en-US" sz="1400" dirty="0">
                <a:solidFill>
                  <a:srgbClr val="16202E"/>
                </a:solidFill>
              </a:rPr>
              <a:t>Calls, WhatsApp, EMAIL and visits; association and referral intros</a:t>
            </a:r>
            <a:endParaRPr lang="en-US" sz="1400" dirty="0"/>
          </a:p>
        </p:txBody>
      </p:sp>
      <p:sp>
        <p:nvSpPr>
          <p:cNvPr id="38" name="Shape 29"/>
          <p:cNvSpPr/>
          <p:nvPr/>
        </p:nvSpPr>
        <p:spPr>
          <a:xfrm>
            <a:off x="5586984" y="2962656"/>
            <a:ext cx="1097280" cy="237744"/>
          </a:xfrm>
          <a:prstGeom prst="roundRect">
            <a:avLst>
              <a:gd name="adj" fmla="val 23077"/>
            </a:avLst>
          </a:prstGeom>
          <a:solidFill>
            <a:srgbClr val="0F6E6A"/>
          </a:solidFill>
          <a:ln w="12700">
            <a:solidFill>
              <a:srgbClr val="0F6E6A"/>
            </a:solidFill>
            <a:prstDash val="solid"/>
          </a:ln>
        </p:spPr>
        <p:txBody>
          <a:bodyPr/>
          <a:lstStyle/>
          <a:p>
            <a:endParaRPr lang="en-IN"/>
          </a:p>
        </p:txBody>
      </p:sp>
      <p:sp>
        <p:nvSpPr>
          <p:cNvPr id="39" name="Text 30"/>
          <p:cNvSpPr txBox="1"/>
          <p:nvPr/>
        </p:nvSpPr>
        <p:spPr>
          <a:xfrm>
            <a:off x="5568696" y="2971800"/>
            <a:ext cx="1097280" cy="237744"/>
          </a:xfrm>
          <a:prstGeom prst="rect">
            <a:avLst/>
          </a:prstGeom>
          <a:noFill/>
          <a:ln/>
        </p:spPr>
        <p:txBody>
          <a:bodyPr wrap="square" lIns="0" tIns="0" rIns="0" bIns="0" rtlCol="0" anchor="ctr"/>
          <a:lstStyle/>
          <a:p>
            <a:pPr marL="0" indent="0" algn="ctr">
              <a:buNone/>
            </a:pPr>
            <a:r>
              <a:rPr lang="en-US" sz="1000" b="1" kern="0" spc="100" dirty="0">
                <a:solidFill>
                  <a:srgbClr val="FFFFFF"/>
                </a:solidFill>
              </a:rPr>
              <a:t>DAYS 15–21</a:t>
            </a:r>
            <a:endParaRPr lang="en-US" sz="1000" dirty="0"/>
          </a:p>
        </p:txBody>
      </p:sp>
      <p:sp>
        <p:nvSpPr>
          <p:cNvPr id="40" name="Pilot and onboard"/>
          <p:cNvSpPr/>
          <p:nvPr/>
        </p:nvSpPr>
        <p:spPr>
          <a:xfrm>
            <a:off x="4997196" y="3337560"/>
            <a:ext cx="2409444" cy="2148840"/>
          </a:xfrm>
          <a:prstGeom prst="roundRect">
            <a:avLst>
              <a:gd name="adj" fmla="val 4878"/>
            </a:avLst>
          </a:prstGeom>
          <a:solidFill>
            <a:srgbClr val="FFFFFF"/>
          </a:solidFill>
          <a:ln w="12700">
            <a:solidFill>
              <a:srgbClr val="E2DED4"/>
            </a:solidFill>
            <a:prstDash val="solid"/>
          </a:ln>
        </p:spPr>
        <p:txBody>
          <a:bodyPr/>
          <a:lstStyle/>
          <a:p>
            <a:endParaRPr lang="en-IN"/>
          </a:p>
        </p:txBody>
      </p:sp>
      <p:sp>
        <p:nvSpPr>
          <p:cNvPr id="41" name="Text 32"/>
          <p:cNvSpPr txBox="1"/>
          <p:nvPr/>
        </p:nvSpPr>
        <p:spPr>
          <a:xfrm>
            <a:off x="5065776" y="3411365"/>
            <a:ext cx="1618488" cy="274320"/>
          </a:xfrm>
          <a:prstGeom prst="rect">
            <a:avLst/>
          </a:prstGeom>
          <a:noFill/>
          <a:ln/>
        </p:spPr>
        <p:txBody>
          <a:bodyPr wrap="square" lIns="0" tIns="0" rIns="0" bIns="0" rtlCol="0" anchor="t"/>
          <a:lstStyle/>
          <a:p>
            <a:pPr marL="0" indent="0">
              <a:buNone/>
            </a:pPr>
            <a:r>
              <a:rPr lang="en-US" sz="1400" b="1" dirty="0">
                <a:solidFill>
                  <a:srgbClr val="16202E"/>
                </a:solidFill>
              </a:rPr>
              <a:t>Pilot and onboard</a:t>
            </a:r>
            <a:endParaRPr lang="en-US" sz="1400" dirty="0"/>
          </a:p>
        </p:txBody>
      </p:sp>
      <p:pic>
        <p:nvPicPr>
          <p:cNvPr id="42" name="Image 7" descr="preencoded.png"/>
          <p:cNvPicPr>
            <a:picLocks noChangeAspect="1"/>
          </p:cNvPicPr>
          <p:nvPr/>
        </p:nvPicPr>
        <p:blipFill>
          <a:blip r:embed="rId6"/>
          <a:stretch>
            <a:fillRect/>
          </a:stretch>
        </p:blipFill>
        <p:spPr>
          <a:xfrm>
            <a:off x="5030724" y="3675888"/>
            <a:ext cx="146304" cy="146304"/>
          </a:xfrm>
          <a:prstGeom prst="rect">
            <a:avLst/>
          </a:prstGeom>
        </p:spPr>
      </p:pic>
      <p:sp>
        <p:nvSpPr>
          <p:cNvPr id="43" name="Text 33"/>
          <p:cNvSpPr txBox="1"/>
          <p:nvPr/>
        </p:nvSpPr>
        <p:spPr>
          <a:xfrm>
            <a:off x="5204460" y="3666744"/>
            <a:ext cx="1417320" cy="219456"/>
          </a:xfrm>
          <a:prstGeom prst="rect">
            <a:avLst/>
          </a:prstGeom>
          <a:noFill/>
          <a:ln/>
        </p:spPr>
        <p:txBody>
          <a:bodyPr wrap="square" lIns="0" tIns="0" rIns="0" bIns="0" rtlCol="0" anchor="t"/>
          <a:lstStyle/>
          <a:p>
            <a:pPr marL="0" indent="0">
              <a:buNone/>
            </a:pPr>
            <a:r>
              <a:rPr lang="en-US" sz="1100" dirty="0">
                <a:solidFill>
                  <a:srgbClr val="5B6472"/>
                </a:solidFill>
              </a:rPr>
              <a:t>Product lead</a:t>
            </a:r>
            <a:endParaRPr lang="en-US" sz="1100" dirty="0"/>
          </a:p>
        </p:txBody>
      </p:sp>
      <p:sp>
        <p:nvSpPr>
          <p:cNvPr id="44" name="Text 34"/>
          <p:cNvSpPr txBox="1"/>
          <p:nvPr/>
        </p:nvSpPr>
        <p:spPr>
          <a:xfrm>
            <a:off x="5204460" y="3995928"/>
            <a:ext cx="1479804" cy="1005840"/>
          </a:xfrm>
          <a:prstGeom prst="rect">
            <a:avLst/>
          </a:prstGeom>
          <a:noFill/>
          <a:ln/>
        </p:spPr>
        <p:txBody>
          <a:bodyPr wrap="square" lIns="0" tIns="0" rIns="0" bIns="0" rtlCol="0" anchor="t"/>
          <a:lstStyle/>
          <a:p>
            <a:pPr marL="0" indent="0">
              <a:buNone/>
            </a:pPr>
            <a:r>
              <a:rPr lang="en-US" sz="1400" dirty="0">
                <a:solidFill>
                  <a:srgbClr val="16202E"/>
                </a:solidFill>
              </a:rPr>
              <a:t>Free 14-day pilot; setup in 24 h; 30–60 min training</a:t>
            </a:r>
            <a:endParaRPr lang="en-US" sz="1400" dirty="0"/>
          </a:p>
        </p:txBody>
      </p:sp>
      <p:sp>
        <p:nvSpPr>
          <p:cNvPr id="48" name="Shape 37"/>
          <p:cNvSpPr/>
          <p:nvPr/>
        </p:nvSpPr>
        <p:spPr>
          <a:xfrm>
            <a:off x="8897112" y="2925660"/>
            <a:ext cx="1097280" cy="237744"/>
          </a:xfrm>
          <a:prstGeom prst="roundRect">
            <a:avLst>
              <a:gd name="adj" fmla="val 23077"/>
            </a:avLst>
          </a:prstGeom>
          <a:solidFill>
            <a:srgbClr val="E3A23B"/>
          </a:solidFill>
          <a:ln w="12700">
            <a:solidFill>
              <a:srgbClr val="E3A23B"/>
            </a:solidFill>
            <a:prstDash val="solid"/>
          </a:ln>
        </p:spPr>
        <p:txBody>
          <a:bodyPr/>
          <a:lstStyle/>
          <a:p>
            <a:endParaRPr lang="en-IN"/>
          </a:p>
        </p:txBody>
      </p:sp>
      <p:sp>
        <p:nvSpPr>
          <p:cNvPr id="49" name="Text 38"/>
          <p:cNvSpPr txBox="1"/>
          <p:nvPr/>
        </p:nvSpPr>
        <p:spPr>
          <a:xfrm>
            <a:off x="8971788" y="2946654"/>
            <a:ext cx="1097280" cy="237744"/>
          </a:xfrm>
          <a:prstGeom prst="rect">
            <a:avLst/>
          </a:prstGeom>
          <a:noFill/>
          <a:ln/>
        </p:spPr>
        <p:txBody>
          <a:bodyPr wrap="square" lIns="0" tIns="0" rIns="0" bIns="0" rtlCol="0" anchor="ctr"/>
          <a:lstStyle/>
          <a:p>
            <a:pPr marL="0" indent="0" algn="ctr">
              <a:buNone/>
            </a:pPr>
            <a:r>
              <a:rPr lang="en-US" sz="1000" b="1" kern="0" spc="100" dirty="0">
                <a:solidFill>
                  <a:srgbClr val="16202E"/>
                </a:solidFill>
              </a:rPr>
              <a:t>DAYS 22–30</a:t>
            </a:r>
            <a:endParaRPr lang="en-US" sz="1000" dirty="0"/>
          </a:p>
        </p:txBody>
      </p:sp>
      <p:sp>
        <p:nvSpPr>
          <p:cNvPr id="50" name="Convert and retain"/>
          <p:cNvSpPr/>
          <p:nvPr/>
        </p:nvSpPr>
        <p:spPr>
          <a:xfrm>
            <a:off x="7708392" y="3337560"/>
            <a:ext cx="3624072" cy="2148840"/>
          </a:xfrm>
          <a:prstGeom prst="roundRect">
            <a:avLst>
              <a:gd name="adj" fmla="val 4878"/>
            </a:avLst>
          </a:prstGeom>
          <a:solidFill>
            <a:srgbClr val="FFFFFF"/>
          </a:solidFill>
          <a:ln w="12700">
            <a:solidFill>
              <a:srgbClr val="E2DED4"/>
            </a:solidFill>
            <a:prstDash val="solid"/>
          </a:ln>
        </p:spPr>
        <p:txBody>
          <a:bodyPr/>
          <a:lstStyle/>
          <a:p>
            <a:endParaRPr lang="en-IN"/>
          </a:p>
        </p:txBody>
      </p:sp>
      <p:sp>
        <p:nvSpPr>
          <p:cNvPr id="51" name="Text 40"/>
          <p:cNvSpPr txBox="1"/>
          <p:nvPr/>
        </p:nvSpPr>
        <p:spPr>
          <a:xfrm>
            <a:off x="7766428" y="3397929"/>
            <a:ext cx="1618488" cy="274320"/>
          </a:xfrm>
          <a:prstGeom prst="rect">
            <a:avLst/>
          </a:prstGeom>
          <a:noFill/>
          <a:ln/>
        </p:spPr>
        <p:txBody>
          <a:bodyPr wrap="square" lIns="0" tIns="0" rIns="0" bIns="0" rtlCol="0" anchor="t"/>
          <a:lstStyle/>
          <a:p>
            <a:pPr marL="0" indent="0">
              <a:buNone/>
            </a:pPr>
            <a:r>
              <a:rPr lang="en-US" sz="1400" b="1" dirty="0">
                <a:solidFill>
                  <a:srgbClr val="16202E"/>
                </a:solidFill>
              </a:rPr>
              <a:t>Convert and retain</a:t>
            </a:r>
            <a:endParaRPr lang="en-US" sz="1400" dirty="0"/>
          </a:p>
        </p:txBody>
      </p:sp>
      <p:pic>
        <p:nvPicPr>
          <p:cNvPr id="52" name="Image 9" descr="preencoded.png"/>
          <p:cNvPicPr>
            <a:picLocks noChangeAspect="1"/>
          </p:cNvPicPr>
          <p:nvPr/>
        </p:nvPicPr>
        <p:blipFill>
          <a:blip r:embed="rId6"/>
          <a:stretch>
            <a:fillRect/>
          </a:stretch>
        </p:blipFill>
        <p:spPr>
          <a:xfrm>
            <a:off x="7731252" y="3655454"/>
            <a:ext cx="146304" cy="146304"/>
          </a:xfrm>
          <a:prstGeom prst="rect">
            <a:avLst/>
          </a:prstGeom>
        </p:spPr>
      </p:pic>
      <p:sp>
        <p:nvSpPr>
          <p:cNvPr id="53" name="Text 41"/>
          <p:cNvSpPr txBox="1"/>
          <p:nvPr/>
        </p:nvSpPr>
        <p:spPr>
          <a:xfrm>
            <a:off x="7914132" y="3627929"/>
            <a:ext cx="1417320" cy="219456"/>
          </a:xfrm>
          <a:prstGeom prst="rect">
            <a:avLst/>
          </a:prstGeom>
          <a:noFill/>
          <a:ln/>
        </p:spPr>
        <p:txBody>
          <a:bodyPr wrap="square" lIns="0" tIns="0" rIns="0" bIns="0" rtlCol="0" anchor="t"/>
          <a:lstStyle/>
          <a:p>
            <a:pPr marL="0" indent="0">
              <a:buNone/>
            </a:pPr>
            <a:r>
              <a:rPr lang="en-US" sz="1100" dirty="0">
                <a:solidFill>
                  <a:srgbClr val="5B6472"/>
                </a:solidFill>
              </a:rPr>
              <a:t>Support lead</a:t>
            </a:r>
            <a:endParaRPr lang="en-US" sz="1100" dirty="0"/>
          </a:p>
        </p:txBody>
      </p:sp>
      <p:sp>
        <p:nvSpPr>
          <p:cNvPr id="54" name="Text 42"/>
          <p:cNvSpPr txBox="1"/>
          <p:nvPr/>
        </p:nvSpPr>
        <p:spPr>
          <a:xfrm>
            <a:off x="7798526" y="3954500"/>
            <a:ext cx="3248920" cy="1005840"/>
          </a:xfrm>
          <a:prstGeom prst="rect">
            <a:avLst/>
          </a:prstGeom>
          <a:noFill/>
          <a:ln/>
        </p:spPr>
        <p:txBody>
          <a:bodyPr wrap="square" lIns="0" tIns="0" rIns="0" bIns="0" rtlCol="0" anchor="t"/>
          <a:lstStyle/>
          <a:p>
            <a:pPr marL="0" indent="0">
              <a:buNone/>
            </a:pPr>
            <a:r>
              <a:rPr lang="en-US" sz="1400" dirty="0">
                <a:solidFill>
                  <a:srgbClr val="16202E"/>
                </a:solidFill>
              </a:rPr>
              <a:t>Review pilot usage, convert to paid, weekly check-ins, ask for referrals</a:t>
            </a:r>
            <a:endParaRPr lang="en-US" sz="1400" dirty="0"/>
          </a:p>
        </p:txBody>
      </p:sp>
      <p:sp>
        <p:nvSpPr>
          <p:cNvPr id="71" name="Decision thresholds"/>
          <p:cNvSpPr/>
          <p:nvPr/>
        </p:nvSpPr>
        <p:spPr>
          <a:xfrm>
            <a:off x="457200" y="5669280"/>
            <a:ext cx="7772400" cy="777240"/>
          </a:xfrm>
          <a:prstGeom prst="roundRect">
            <a:avLst>
              <a:gd name="adj" fmla="val 11765"/>
            </a:avLst>
          </a:prstGeom>
          <a:solidFill>
            <a:schemeClr val="accent4"/>
          </a:solidFill>
          <a:ln w="12700">
            <a:solidFill>
              <a:schemeClr val="accent4"/>
            </a:solidFill>
            <a:prstDash val="solid"/>
          </a:ln>
        </p:spPr>
        <p:txBody>
          <a:bodyPr/>
          <a:lstStyle/>
          <a:p>
            <a:pPr algn="ctr"/>
            <a:endParaRPr lang="en-IN" dirty="0"/>
          </a:p>
        </p:txBody>
      </p:sp>
      <p:pic>
        <p:nvPicPr>
          <p:cNvPr id="72" name="Image 11" descr="preencoded.png"/>
          <p:cNvPicPr>
            <a:picLocks noChangeAspect="1"/>
          </p:cNvPicPr>
          <p:nvPr/>
        </p:nvPicPr>
        <p:blipFill>
          <a:blip r:embed="rId7"/>
          <a:stretch>
            <a:fillRect/>
          </a:stretch>
        </p:blipFill>
        <p:spPr>
          <a:xfrm>
            <a:off x="621792" y="5806440"/>
            <a:ext cx="201168" cy="201168"/>
          </a:xfrm>
          <a:prstGeom prst="rect">
            <a:avLst/>
          </a:prstGeom>
        </p:spPr>
      </p:pic>
      <p:sp>
        <p:nvSpPr>
          <p:cNvPr id="73" name="Text 59"/>
          <p:cNvSpPr txBox="1"/>
          <p:nvPr/>
        </p:nvSpPr>
        <p:spPr>
          <a:xfrm>
            <a:off x="896112" y="5779008"/>
            <a:ext cx="3657600" cy="256032"/>
          </a:xfrm>
          <a:prstGeom prst="rect">
            <a:avLst/>
          </a:prstGeom>
          <a:noFill/>
          <a:ln/>
        </p:spPr>
        <p:txBody>
          <a:bodyPr wrap="square" lIns="0" tIns="0" rIns="0" bIns="0" rtlCol="0" anchor="t"/>
          <a:lstStyle/>
          <a:p>
            <a:pPr marL="0" indent="0">
              <a:buNone/>
            </a:pPr>
            <a:r>
              <a:rPr lang="en-US" sz="1400" b="1" dirty="0">
                <a:solidFill>
                  <a:srgbClr val="0F5F5C"/>
                </a:solidFill>
              </a:rPr>
              <a:t>Day-30 decision thresholds</a:t>
            </a:r>
            <a:endParaRPr lang="en-US" sz="1400" dirty="0"/>
          </a:p>
        </p:txBody>
      </p:sp>
      <p:sp>
        <p:nvSpPr>
          <p:cNvPr id="74" name="Text 60"/>
          <p:cNvSpPr txBox="1"/>
          <p:nvPr/>
        </p:nvSpPr>
        <p:spPr>
          <a:xfrm>
            <a:off x="896112" y="6062472"/>
            <a:ext cx="7223760" cy="320040"/>
          </a:xfrm>
          <a:prstGeom prst="rect">
            <a:avLst/>
          </a:prstGeom>
          <a:noFill/>
          <a:ln/>
        </p:spPr>
        <p:txBody>
          <a:bodyPr wrap="square" lIns="0" tIns="0" rIns="0" bIns="0" rtlCol="0" anchor="t"/>
          <a:lstStyle/>
          <a:p>
            <a:pPr marL="0" indent="0">
              <a:buNone/>
            </a:pPr>
            <a:r>
              <a:rPr lang="en-US" sz="1400" b="1" dirty="0">
                <a:solidFill>
                  <a:srgbClr val="16202E"/>
                </a:solidFill>
              </a:rPr>
              <a:t>Contact to demo ≥ 30%: </a:t>
            </a:r>
            <a:r>
              <a:rPr lang="en-US" sz="1400" dirty="0">
                <a:solidFill>
                  <a:srgbClr val="16202E"/>
                </a:solidFill>
              </a:rPr>
              <a:t>keep channel, else change pitch</a:t>
            </a:r>
            <a:r>
              <a:rPr lang="en-US" sz="1300" dirty="0">
                <a:solidFill>
                  <a:srgbClr val="16202E"/>
                </a:solidFill>
              </a:rPr>
              <a:t>. </a:t>
            </a:r>
            <a:endParaRPr lang="en-US" sz="1300" dirty="0"/>
          </a:p>
        </p:txBody>
      </p:sp>
      <p:sp>
        <p:nvSpPr>
          <p:cNvPr id="77" name="Text 62"/>
          <p:cNvSpPr txBox="1"/>
          <p:nvPr/>
        </p:nvSpPr>
        <p:spPr>
          <a:xfrm>
            <a:off x="8897112" y="5779008"/>
            <a:ext cx="2743200" cy="256032"/>
          </a:xfrm>
          <a:prstGeom prst="rect">
            <a:avLst/>
          </a:prstGeom>
          <a:noFill/>
          <a:ln/>
        </p:spPr>
        <p:txBody>
          <a:bodyPr wrap="square" lIns="0" tIns="0" rIns="0" bIns="0" rtlCol="0" anchor="t"/>
          <a:lstStyle/>
          <a:p>
            <a:pPr marL="0" indent="0">
              <a:buNone/>
            </a:pPr>
            <a:endParaRPr lang="en-US" sz="1400" dirty="0"/>
          </a:p>
        </p:txBody>
      </p:sp>
      <p:sp>
        <p:nvSpPr>
          <p:cNvPr id="79"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558800"/>
            <a:ext cx="6662261" cy="556260"/>
          </a:xfrm>
          <a:prstGeom prst="rect">
            <a:avLst/>
          </a:prstGeom>
          <a:noFill/>
          <a:ln/>
        </p:spPr>
        <p:txBody>
          <a:bodyPr wrap="square" lIns="0" tIns="0" rIns="0" bIns="0" rtlCol="0" anchor="t">
            <a:normAutofit fontScale="90000"/>
          </a:bodyPr>
          <a:lstStyle/>
          <a:p>
            <a:pPr marL="0" indent="0" algn="l">
              <a:lnSpc>
                <a:spcPts val="4180"/>
              </a:lnSpc>
              <a:buNone/>
            </a:pPr>
            <a:r>
              <a:rPr lang="en-US" sz="3800" b="1" i="0" dirty="0">
                <a:solidFill>
                  <a:srgbClr val="F4F0E6"/>
                </a:solidFill>
                <a:latin typeface="DM Sans" pitchFamily="34" charset="0"/>
                <a:ea typeface="DM Sans" pitchFamily="34" charset="-122"/>
                <a:cs typeface="DM Sans" pitchFamily="34" charset="-120"/>
              </a:rPr>
              <a:t>Why hotels choose </a:t>
            </a:r>
            <a:r>
              <a:rPr lang="en-US" b="1" dirty="0" err="1"/>
              <a:t>Stayquote</a:t>
            </a:r>
            <a:r>
              <a:rPr lang="en-US" b="1" dirty="0"/>
              <a:t>?</a:t>
            </a:r>
            <a:endParaRPr lang="en-US" sz="3800" dirty="0"/>
          </a:p>
        </p:txBody>
      </p:sp>
      <p:sp>
        <p:nvSpPr>
          <p:cNvPr id="3" name="Text 1"/>
          <p:cNvSpPr/>
          <p:nvPr/>
        </p:nvSpPr>
        <p:spPr>
          <a:xfrm>
            <a:off x="7726363" y="641350"/>
            <a:ext cx="3646488" cy="365760"/>
          </a:xfrm>
          <a:prstGeom prst="roundRect">
            <a:avLst>
              <a:gd name="adj" fmla="val 50000"/>
            </a:avLst>
          </a:prstGeom>
          <a:noFill/>
          <a:ln w="12700">
            <a:solidFill>
              <a:srgbClr val="38C2A6"/>
            </a:solidFill>
            <a:prstDash val="solid"/>
          </a:ln>
        </p:spPr>
        <p:txBody>
          <a:bodyPr wrap="none" lIns="0" tIns="0" rIns="0" bIns="0" rtlCol="0" anchor="ctr">
            <a:normAutofit/>
          </a:bodyPr>
          <a:lstStyle/>
          <a:p>
            <a:pPr marL="0" indent="0" algn="ctr">
              <a:lnSpc>
                <a:spcPts val="1820"/>
              </a:lnSpc>
              <a:buNone/>
            </a:pPr>
            <a:r>
              <a:rPr lang="en-US" sz="1300" b="1" dirty="0">
                <a:solidFill>
                  <a:srgbClr val="38C2A6"/>
                </a:solidFill>
                <a:latin typeface="DM Sans" pitchFamily="34" charset="0"/>
                <a:ea typeface="DM Sans" pitchFamily="34" charset="-122"/>
                <a:cs typeface="DM Sans" pitchFamily="34" charset="-120"/>
              </a:rPr>
              <a:t>Built for small hotels. Designed for growth.</a:t>
            </a:r>
            <a:endParaRPr lang="en-US" sz="1300" dirty="0"/>
          </a:p>
        </p:txBody>
      </p:sp>
      <p:sp>
        <p:nvSpPr>
          <p:cNvPr id="4" name="Text 2"/>
          <p:cNvSpPr/>
          <p:nvPr/>
        </p:nvSpPr>
        <p:spPr>
          <a:xfrm>
            <a:off x="812800" y="116586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A8B8C9"/>
                </a:solidFill>
                <a:latin typeface="DM Sans" pitchFamily="34" charset="0"/>
                <a:ea typeface="DM Sans" pitchFamily="34" charset="-122"/>
                <a:cs typeface="DM Sans" pitchFamily="34" charset="-120"/>
              </a:rPr>
              <a:t>A simpler, smarter and more profitable way to manage group bookings</a:t>
            </a:r>
            <a:endParaRPr lang="en-US" sz="1500" dirty="0"/>
          </a:p>
        </p:txBody>
      </p:sp>
      <p:sp>
        <p:nvSpPr>
          <p:cNvPr id="5" name="Text 3"/>
          <p:cNvSpPr/>
          <p:nvPr/>
        </p:nvSpPr>
        <p:spPr>
          <a:xfrm>
            <a:off x="812800" y="1651000"/>
            <a:ext cx="24193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8C2A6"/>
                </a:solidFill>
                <a:latin typeface="DM Sans" pitchFamily="34" charset="0"/>
                <a:ea typeface="DM Sans" pitchFamily="34" charset="-122"/>
                <a:cs typeface="DM Sans" pitchFamily="34" charset="-120"/>
              </a:rPr>
              <a:t>01</a:t>
            </a:r>
            <a:endParaRPr lang="en-US" sz="1400" dirty="0"/>
          </a:p>
        </p:txBody>
      </p:sp>
      <p:sp>
        <p:nvSpPr>
          <p:cNvPr id="6" name="Text 4"/>
          <p:cNvSpPr/>
          <p:nvPr/>
        </p:nvSpPr>
        <p:spPr>
          <a:xfrm>
            <a:off x="1092835" y="1653540"/>
            <a:ext cx="165087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0E6"/>
                </a:solidFill>
                <a:latin typeface="DM Sans" pitchFamily="34" charset="0"/>
                <a:ea typeface="DM Sans" pitchFamily="34" charset="-122"/>
                <a:cs typeface="DM Sans" pitchFamily="34" charset="-120"/>
              </a:rPr>
              <a:t>Built different</a:t>
            </a:r>
            <a:endParaRPr lang="en-US" sz="1600" dirty="0"/>
          </a:p>
        </p:txBody>
      </p:sp>
      <p:sp>
        <p:nvSpPr>
          <p:cNvPr id="7" name="Shape 5"/>
          <p:cNvSpPr/>
          <p:nvPr/>
        </p:nvSpPr>
        <p:spPr>
          <a:xfrm>
            <a:off x="815975" y="200469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8" name="Shape 6"/>
          <p:cNvSpPr/>
          <p:nvPr/>
        </p:nvSpPr>
        <p:spPr>
          <a:xfrm>
            <a:off x="932180" y="2195830"/>
            <a:ext cx="279400" cy="279400"/>
          </a:xfrm>
          <a:prstGeom prst="roundRect">
            <a:avLst>
              <a:gd name="adj" fmla="val 27273"/>
            </a:avLst>
          </a:prstGeom>
          <a:solidFill>
            <a:srgbClr val="1F4A52"/>
          </a:solidFill>
          <a:ln/>
        </p:spPr>
        <p:txBody>
          <a:bodyPr/>
          <a:lstStyle/>
          <a:p>
            <a:endParaRPr lang="en-IN"/>
          </a:p>
        </p:txBody>
      </p:sp>
      <p:pic>
        <p:nvPicPr>
          <p:cNvPr id="9" name="Image 0" descr="Home"/>
          <p:cNvPicPr>
            <a:picLocks noChangeAspect="1"/>
          </p:cNvPicPr>
          <p:nvPr/>
        </p:nvPicPr>
        <p:blipFill>
          <a:blip r:embed="rId3"/>
          <a:srcRect/>
          <a:stretch/>
        </p:blipFill>
        <p:spPr>
          <a:xfrm>
            <a:off x="989330" y="2252980"/>
            <a:ext cx="165100" cy="165100"/>
          </a:xfrm>
          <a:prstGeom prst="rect">
            <a:avLst/>
          </a:prstGeom>
        </p:spPr>
      </p:pic>
      <p:sp>
        <p:nvSpPr>
          <p:cNvPr id="10" name="Text 7"/>
          <p:cNvSpPr/>
          <p:nvPr/>
        </p:nvSpPr>
        <p:spPr>
          <a:xfrm>
            <a:off x="1300480" y="2108200"/>
            <a:ext cx="26760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Focused on small hotels</a:t>
            </a:r>
            <a:endParaRPr lang="en-US" sz="1500" dirty="0"/>
          </a:p>
        </p:txBody>
      </p:sp>
      <p:sp>
        <p:nvSpPr>
          <p:cNvPr id="11" name="Text 8"/>
          <p:cNvSpPr/>
          <p:nvPr/>
        </p:nvSpPr>
        <p:spPr>
          <a:xfrm>
            <a:off x="1300480" y="2349500"/>
            <a:ext cx="22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Tailored for 10–50 room hotels</a:t>
            </a:r>
            <a:endParaRPr lang="en-US" sz="1200" dirty="0"/>
          </a:p>
        </p:txBody>
      </p:sp>
      <p:sp>
        <p:nvSpPr>
          <p:cNvPr id="12" name="Shape 9"/>
          <p:cNvSpPr/>
          <p:nvPr/>
        </p:nvSpPr>
        <p:spPr>
          <a:xfrm>
            <a:off x="815975" y="273621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13" name="Shape 10"/>
          <p:cNvSpPr/>
          <p:nvPr/>
        </p:nvSpPr>
        <p:spPr>
          <a:xfrm>
            <a:off x="932180" y="2927350"/>
            <a:ext cx="279400" cy="279400"/>
          </a:xfrm>
          <a:prstGeom prst="roundRect">
            <a:avLst>
              <a:gd name="adj" fmla="val 27273"/>
            </a:avLst>
          </a:prstGeom>
          <a:solidFill>
            <a:srgbClr val="1F4A52"/>
          </a:solidFill>
          <a:ln/>
        </p:spPr>
        <p:txBody>
          <a:bodyPr/>
          <a:lstStyle/>
          <a:p>
            <a:endParaRPr lang="en-IN"/>
          </a:p>
        </p:txBody>
      </p:sp>
      <p:pic>
        <p:nvPicPr>
          <p:cNvPr id="14" name="Image 1" descr="ThumbsUp"/>
          <p:cNvPicPr>
            <a:picLocks noChangeAspect="1"/>
          </p:cNvPicPr>
          <p:nvPr/>
        </p:nvPicPr>
        <p:blipFill>
          <a:blip r:embed="rId4"/>
          <a:srcRect/>
          <a:stretch/>
        </p:blipFill>
        <p:spPr>
          <a:xfrm>
            <a:off x="989330" y="2984500"/>
            <a:ext cx="165100" cy="165100"/>
          </a:xfrm>
          <a:prstGeom prst="rect">
            <a:avLst/>
          </a:prstGeom>
        </p:spPr>
      </p:pic>
      <p:sp>
        <p:nvSpPr>
          <p:cNvPr id="15" name="Text 11"/>
          <p:cNvSpPr/>
          <p:nvPr/>
        </p:nvSpPr>
        <p:spPr>
          <a:xfrm>
            <a:off x="1300480" y="2839720"/>
            <a:ext cx="21813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Easy &amp; intuitive</a:t>
            </a:r>
            <a:endParaRPr lang="en-US" sz="1500" dirty="0"/>
          </a:p>
        </p:txBody>
      </p:sp>
      <p:sp>
        <p:nvSpPr>
          <p:cNvPr id="16" name="Text 12"/>
          <p:cNvSpPr/>
          <p:nvPr/>
        </p:nvSpPr>
        <p:spPr>
          <a:xfrm>
            <a:off x="1300480" y="3081020"/>
            <a:ext cx="25413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Quick start, no complex setup</a:t>
            </a:r>
            <a:endParaRPr lang="en-US" sz="1200" dirty="0"/>
          </a:p>
        </p:txBody>
      </p:sp>
      <p:sp>
        <p:nvSpPr>
          <p:cNvPr id="17" name="Shape 13"/>
          <p:cNvSpPr/>
          <p:nvPr/>
        </p:nvSpPr>
        <p:spPr>
          <a:xfrm>
            <a:off x="815975" y="346773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18" name="Shape 14"/>
          <p:cNvSpPr/>
          <p:nvPr/>
        </p:nvSpPr>
        <p:spPr>
          <a:xfrm>
            <a:off x="932180" y="3658870"/>
            <a:ext cx="279400" cy="279400"/>
          </a:xfrm>
          <a:prstGeom prst="roundRect">
            <a:avLst>
              <a:gd name="adj" fmla="val 27273"/>
            </a:avLst>
          </a:prstGeom>
          <a:solidFill>
            <a:srgbClr val="1F4A52"/>
          </a:solidFill>
          <a:ln/>
        </p:spPr>
        <p:txBody>
          <a:bodyPr/>
          <a:lstStyle/>
          <a:p>
            <a:endParaRPr lang="en-IN"/>
          </a:p>
        </p:txBody>
      </p:sp>
      <p:pic>
        <p:nvPicPr>
          <p:cNvPr id="19" name="Image 2" descr="Users"/>
          <p:cNvPicPr>
            <a:picLocks noChangeAspect="1"/>
          </p:cNvPicPr>
          <p:nvPr/>
        </p:nvPicPr>
        <p:blipFill>
          <a:blip r:embed="rId5"/>
          <a:srcRect/>
          <a:stretch/>
        </p:blipFill>
        <p:spPr>
          <a:xfrm>
            <a:off x="989330" y="3716020"/>
            <a:ext cx="165100" cy="165100"/>
          </a:xfrm>
          <a:prstGeom prst="rect">
            <a:avLst/>
          </a:prstGeom>
        </p:spPr>
      </p:pic>
      <p:sp>
        <p:nvSpPr>
          <p:cNvPr id="20" name="Text 15"/>
          <p:cNvSpPr/>
          <p:nvPr/>
        </p:nvSpPr>
        <p:spPr>
          <a:xfrm>
            <a:off x="1300480" y="3571240"/>
            <a:ext cx="26370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Group-centric features</a:t>
            </a:r>
            <a:endParaRPr lang="en-US" sz="1500" dirty="0"/>
          </a:p>
        </p:txBody>
      </p:sp>
      <p:sp>
        <p:nvSpPr>
          <p:cNvPr id="21" name="Text 16"/>
          <p:cNvSpPr/>
          <p:nvPr/>
        </p:nvSpPr>
        <p:spPr>
          <a:xfrm>
            <a:off x="1300480" y="3812540"/>
            <a:ext cx="26370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Purpose-built for group quotes</a:t>
            </a:r>
            <a:endParaRPr lang="en-US" sz="1200" dirty="0"/>
          </a:p>
        </p:txBody>
      </p:sp>
      <p:sp>
        <p:nvSpPr>
          <p:cNvPr id="22" name="Shape 17"/>
          <p:cNvSpPr/>
          <p:nvPr/>
        </p:nvSpPr>
        <p:spPr>
          <a:xfrm>
            <a:off x="815975" y="419925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23" name="Shape 18"/>
          <p:cNvSpPr/>
          <p:nvPr/>
        </p:nvSpPr>
        <p:spPr>
          <a:xfrm>
            <a:off x="932180" y="4390390"/>
            <a:ext cx="279400" cy="279400"/>
          </a:xfrm>
          <a:prstGeom prst="roundRect">
            <a:avLst>
              <a:gd name="adj" fmla="val 27273"/>
            </a:avLst>
          </a:prstGeom>
          <a:solidFill>
            <a:srgbClr val="1F4A52"/>
          </a:solidFill>
          <a:ln/>
        </p:spPr>
        <p:txBody>
          <a:bodyPr/>
          <a:lstStyle/>
          <a:p>
            <a:endParaRPr lang="en-IN"/>
          </a:p>
        </p:txBody>
      </p:sp>
      <p:pic>
        <p:nvPicPr>
          <p:cNvPr id="24" name="Image 3" descr="Activity"/>
          <p:cNvPicPr>
            <a:picLocks noChangeAspect="1"/>
          </p:cNvPicPr>
          <p:nvPr/>
        </p:nvPicPr>
        <p:blipFill>
          <a:blip r:embed="rId6"/>
          <a:srcRect/>
          <a:stretch/>
        </p:blipFill>
        <p:spPr>
          <a:xfrm>
            <a:off x="989330" y="4447540"/>
            <a:ext cx="165100" cy="165100"/>
          </a:xfrm>
          <a:prstGeom prst="rect">
            <a:avLst/>
          </a:prstGeom>
        </p:spPr>
      </p:pic>
      <p:sp>
        <p:nvSpPr>
          <p:cNvPr id="25" name="Text 19"/>
          <p:cNvSpPr/>
          <p:nvPr/>
        </p:nvSpPr>
        <p:spPr>
          <a:xfrm>
            <a:off x="1300480" y="4302760"/>
            <a:ext cx="23070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Data-driven insights</a:t>
            </a:r>
            <a:endParaRPr lang="en-US" sz="1500" dirty="0"/>
          </a:p>
        </p:txBody>
      </p:sp>
      <p:sp>
        <p:nvSpPr>
          <p:cNvPr id="26" name="Text 20"/>
          <p:cNvSpPr/>
          <p:nvPr/>
        </p:nvSpPr>
        <p:spPr>
          <a:xfrm>
            <a:off x="1300480" y="4544060"/>
            <a:ext cx="23070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Track results, decide faster</a:t>
            </a:r>
            <a:endParaRPr lang="en-US" sz="1200" dirty="0"/>
          </a:p>
        </p:txBody>
      </p:sp>
      <p:sp>
        <p:nvSpPr>
          <p:cNvPr id="27" name="Shape 21"/>
          <p:cNvSpPr/>
          <p:nvPr/>
        </p:nvSpPr>
        <p:spPr>
          <a:xfrm>
            <a:off x="815975" y="493077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28" name="Shape 22"/>
          <p:cNvSpPr/>
          <p:nvPr/>
        </p:nvSpPr>
        <p:spPr>
          <a:xfrm>
            <a:off x="932180" y="5121910"/>
            <a:ext cx="279400" cy="279400"/>
          </a:xfrm>
          <a:prstGeom prst="roundRect">
            <a:avLst>
              <a:gd name="adj" fmla="val 27273"/>
            </a:avLst>
          </a:prstGeom>
          <a:solidFill>
            <a:srgbClr val="1F4A52"/>
          </a:solidFill>
          <a:ln/>
        </p:spPr>
        <p:txBody>
          <a:bodyPr/>
          <a:lstStyle/>
          <a:p>
            <a:endParaRPr lang="en-IN"/>
          </a:p>
        </p:txBody>
      </p:sp>
      <p:pic>
        <p:nvPicPr>
          <p:cNvPr id="29" name="Image 4" descr="Chat"/>
          <p:cNvPicPr>
            <a:picLocks noChangeAspect="1"/>
          </p:cNvPicPr>
          <p:nvPr/>
        </p:nvPicPr>
        <p:blipFill>
          <a:blip r:embed="rId7"/>
          <a:srcRect/>
          <a:stretch/>
        </p:blipFill>
        <p:spPr>
          <a:xfrm>
            <a:off x="989330" y="5179060"/>
            <a:ext cx="165100" cy="165100"/>
          </a:xfrm>
          <a:prstGeom prst="rect">
            <a:avLst/>
          </a:prstGeom>
        </p:spPr>
      </p:pic>
      <p:sp>
        <p:nvSpPr>
          <p:cNvPr id="30" name="Text 23"/>
          <p:cNvSpPr/>
          <p:nvPr/>
        </p:nvSpPr>
        <p:spPr>
          <a:xfrm>
            <a:off x="1300480" y="5034280"/>
            <a:ext cx="21135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Dedicated support</a:t>
            </a:r>
            <a:endParaRPr lang="en-US" sz="1500" dirty="0"/>
          </a:p>
        </p:txBody>
      </p:sp>
      <p:sp>
        <p:nvSpPr>
          <p:cNvPr id="31" name="Text 24"/>
          <p:cNvSpPr/>
          <p:nvPr/>
        </p:nvSpPr>
        <p:spPr>
          <a:xfrm>
            <a:off x="1300480" y="5275580"/>
            <a:ext cx="18140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Your partner in growth</a:t>
            </a:r>
            <a:endParaRPr lang="en-US" sz="1200" dirty="0"/>
          </a:p>
        </p:txBody>
      </p:sp>
      <p:pic>
        <p:nvPicPr>
          <p:cNvPr id="32" name="Image 5" descr="arrow-right"/>
          <p:cNvPicPr>
            <a:picLocks noChangeAspect="1"/>
          </p:cNvPicPr>
          <p:nvPr/>
        </p:nvPicPr>
        <p:blipFill>
          <a:blip r:embed="rId8"/>
          <a:srcRect/>
          <a:stretch/>
        </p:blipFill>
        <p:spPr>
          <a:xfrm>
            <a:off x="4114800" y="1695450"/>
            <a:ext cx="254000" cy="152400"/>
          </a:xfrm>
          <a:prstGeom prst="rect">
            <a:avLst/>
          </a:prstGeom>
        </p:spPr>
      </p:pic>
      <p:sp>
        <p:nvSpPr>
          <p:cNvPr id="33" name="Text 25"/>
          <p:cNvSpPr/>
          <p:nvPr/>
        </p:nvSpPr>
        <p:spPr>
          <a:xfrm>
            <a:off x="4394200" y="1651000"/>
            <a:ext cx="27828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544"/>
                </a:solidFill>
                <a:latin typeface="DM Sans" pitchFamily="34" charset="0"/>
                <a:ea typeface="DM Sans" pitchFamily="34" charset="-122"/>
                <a:cs typeface="DM Sans" pitchFamily="34" charset="-120"/>
              </a:rPr>
              <a:t>02</a:t>
            </a:r>
            <a:endParaRPr lang="en-US" sz="1400" dirty="0"/>
          </a:p>
        </p:txBody>
      </p:sp>
      <p:sp>
        <p:nvSpPr>
          <p:cNvPr id="34" name="Text 26"/>
          <p:cNvSpPr/>
          <p:nvPr/>
        </p:nvSpPr>
        <p:spPr>
          <a:xfrm>
            <a:off x="4710589" y="1653540"/>
            <a:ext cx="20050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0E6"/>
                </a:solidFill>
                <a:latin typeface="DM Sans" pitchFamily="34" charset="0"/>
                <a:ea typeface="DM Sans" pitchFamily="34" charset="-122"/>
                <a:cs typeface="DM Sans" pitchFamily="34" charset="-120"/>
              </a:rPr>
              <a:t>What hotels gain</a:t>
            </a:r>
            <a:endParaRPr lang="en-US" sz="1600" dirty="0"/>
          </a:p>
        </p:txBody>
      </p:sp>
      <p:sp>
        <p:nvSpPr>
          <p:cNvPr id="35" name="Shape 27"/>
          <p:cNvSpPr/>
          <p:nvPr/>
        </p:nvSpPr>
        <p:spPr>
          <a:xfrm>
            <a:off x="4397375" y="200469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36" name="Shape 28"/>
          <p:cNvSpPr/>
          <p:nvPr/>
        </p:nvSpPr>
        <p:spPr>
          <a:xfrm>
            <a:off x="4513580" y="2195830"/>
            <a:ext cx="279400" cy="279400"/>
          </a:xfrm>
          <a:prstGeom prst="roundRect">
            <a:avLst>
              <a:gd name="adj" fmla="val 27273"/>
            </a:avLst>
          </a:prstGeom>
          <a:solidFill>
            <a:srgbClr val="4A3F27"/>
          </a:solidFill>
          <a:ln/>
        </p:spPr>
        <p:txBody>
          <a:bodyPr/>
          <a:lstStyle/>
          <a:p>
            <a:endParaRPr lang="en-IN"/>
          </a:p>
        </p:txBody>
      </p:sp>
      <p:pic>
        <p:nvPicPr>
          <p:cNvPr id="37" name="Image 6" descr="Clock"/>
          <p:cNvPicPr>
            <a:picLocks noChangeAspect="1"/>
          </p:cNvPicPr>
          <p:nvPr/>
        </p:nvPicPr>
        <p:blipFill>
          <a:blip r:embed="rId9"/>
          <a:srcRect/>
          <a:stretch/>
        </p:blipFill>
        <p:spPr>
          <a:xfrm>
            <a:off x="4570730" y="2252980"/>
            <a:ext cx="165100" cy="165100"/>
          </a:xfrm>
          <a:prstGeom prst="rect">
            <a:avLst/>
          </a:prstGeom>
        </p:spPr>
      </p:pic>
      <p:sp>
        <p:nvSpPr>
          <p:cNvPr id="38" name="Text 29"/>
          <p:cNvSpPr/>
          <p:nvPr/>
        </p:nvSpPr>
        <p:spPr>
          <a:xfrm>
            <a:off x="4881880" y="2108200"/>
            <a:ext cx="208870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Save time &amp; effort</a:t>
            </a:r>
            <a:endParaRPr lang="en-US" sz="1500" dirty="0"/>
          </a:p>
        </p:txBody>
      </p:sp>
      <p:sp>
        <p:nvSpPr>
          <p:cNvPr id="39" name="Text 30"/>
          <p:cNvSpPr/>
          <p:nvPr/>
        </p:nvSpPr>
        <p:spPr>
          <a:xfrm>
            <a:off x="4881880" y="2349500"/>
            <a:ext cx="24334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Quotes in minutes, not hours</a:t>
            </a:r>
            <a:endParaRPr lang="en-US" sz="1200" dirty="0"/>
          </a:p>
        </p:txBody>
      </p:sp>
      <p:sp>
        <p:nvSpPr>
          <p:cNvPr id="40" name="Shape 31"/>
          <p:cNvSpPr/>
          <p:nvPr/>
        </p:nvSpPr>
        <p:spPr>
          <a:xfrm>
            <a:off x="4397375" y="273621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41" name="Shape 32"/>
          <p:cNvSpPr/>
          <p:nvPr/>
        </p:nvSpPr>
        <p:spPr>
          <a:xfrm>
            <a:off x="4513580" y="2927350"/>
            <a:ext cx="279400" cy="279400"/>
          </a:xfrm>
          <a:prstGeom prst="roundRect">
            <a:avLst>
              <a:gd name="adj" fmla="val 27273"/>
            </a:avLst>
          </a:prstGeom>
          <a:solidFill>
            <a:srgbClr val="4A3F27"/>
          </a:solidFill>
          <a:ln/>
        </p:spPr>
        <p:txBody>
          <a:bodyPr/>
          <a:lstStyle/>
          <a:p>
            <a:endParaRPr lang="en-IN"/>
          </a:p>
        </p:txBody>
      </p:sp>
      <p:pic>
        <p:nvPicPr>
          <p:cNvPr id="42" name="Image 7" descr="Chart"/>
          <p:cNvPicPr>
            <a:picLocks noChangeAspect="1"/>
          </p:cNvPicPr>
          <p:nvPr/>
        </p:nvPicPr>
        <p:blipFill>
          <a:blip r:embed="rId10"/>
          <a:srcRect/>
          <a:stretch/>
        </p:blipFill>
        <p:spPr>
          <a:xfrm>
            <a:off x="4570730" y="2984500"/>
            <a:ext cx="165100" cy="165100"/>
          </a:xfrm>
          <a:prstGeom prst="rect">
            <a:avLst/>
          </a:prstGeom>
        </p:spPr>
      </p:pic>
      <p:sp>
        <p:nvSpPr>
          <p:cNvPr id="43" name="Text 33"/>
          <p:cNvSpPr/>
          <p:nvPr/>
        </p:nvSpPr>
        <p:spPr>
          <a:xfrm>
            <a:off x="4881880" y="2839720"/>
            <a:ext cx="21370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Drive more bookings</a:t>
            </a:r>
            <a:endParaRPr lang="en-US" sz="1500" dirty="0"/>
          </a:p>
        </p:txBody>
      </p:sp>
      <p:sp>
        <p:nvSpPr>
          <p:cNvPr id="44" name="Text 34"/>
          <p:cNvSpPr/>
          <p:nvPr/>
        </p:nvSpPr>
        <p:spPr>
          <a:xfrm>
            <a:off x="4881880" y="3081020"/>
            <a:ext cx="24897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Reach more groups, fill rooms</a:t>
            </a:r>
            <a:endParaRPr lang="en-US" sz="1200" dirty="0"/>
          </a:p>
        </p:txBody>
      </p:sp>
      <p:sp>
        <p:nvSpPr>
          <p:cNvPr id="45" name="Shape 35"/>
          <p:cNvSpPr/>
          <p:nvPr/>
        </p:nvSpPr>
        <p:spPr>
          <a:xfrm>
            <a:off x="4397375" y="346773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46" name="Shape 36"/>
          <p:cNvSpPr/>
          <p:nvPr/>
        </p:nvSpPr>
        <p:spPr>
          <a:xfrm>
            <a:off x="4513580" y="3658870"/>
            <a:ext cx="279400" cy="279400"/>
          </a:xfrm>
          <a:prstGeom prst="roundRect">
            <a:avLst>
              <a:gd name="adj" fmla="val 27273"/>
            </a:avLst>
          </a:prstGeom>
          <a:solidFill>
            <a:srgbClr val="4A3F27"/>
          </a:solidFill>
          <a:ln/>
        </p:spPr>
        <p:txBody>
          <a:bodyPr/>
          <a:lstStyle/>
          <a:p>
            <a:endParaRPr lang="en-IN"/>
          </a:p>
        </p:txBody>
      </p:sp>
      <p:pic>
        <p:nvPicPr>
          <p:cNvPr id="47" name="Image 8" descr="Trust"/>
          <p:cNvPicPr>
            <a:picLocks noChangeAspect="1"/>
          </p:cNvPicPr>
          <p:nvPr/>
        </p:nvPicPr>
        <p:blipFill>
          <a:blip r:embed="rId11"/>
          <a:srcRect/>
          <a:stretch/>
        </p:blipFill>
        <p:spPr>
          <a:xfrm>
            <a:off x="4570730" y="3716020"/>
            <a:ext cx="165100" cy="165100"/>
          </a:xfrm>
          <a:prstGeom prst="rect">
            <a:avLst/>
          </a:prstGeom>
        </p:spPr>
      </p:pic>
      <p:sp>
        <p:nvSpPr>
          <p:cNvPr id="48" name="Text 37"/>
          <p:cNvSpPr/>
          <p:nvPr/>
        </p:nvSpPr>
        <p:spPr>
          <a:xfrm>
            <a:off x="4881880" y="3571240"/>
            <a:ext cx="23134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Reduce revenue risk</a:t>
            </a:r>
            <a:endParaRPr lang="en-US" sz="1500" dirty="0"/>
          </a:p>
        </p:txBody>
      </p:sp>
      <p:sp>
        <p:nvSpPr>
          <p:cNvPr id="49" name="Text 38"/>
          <p:cNvSpPr/>
          <p:nvPr/>
        </p:nvSpPr>
        <p:spPr>
          <a:xfrm>
            <a:off x="4881880" y="3812540"/>
            <a:ext cx="23134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Track quotes, cut lost deals</a:t>
            </a:r>
            <a:endParaRPr lang="en-US" sz="1200" dirty="0"/>
          </a:p>
        </p:txBody>
      </p:sp>
      <p:sp>
        <p:nvSpPr>
          <p:cNvPr id="50" name="Shape 39"/>
          <p:cNvSpPr/>
          <p:nvPr/>
        </p:nvSpPr>
        <p:spPr>
          <a:xfrm>
            <a:off x="4397375" y="419925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51" name="Shape 40"/>
          <p:cNvSpPr/>
          <p:nvPr/>
        </p:nvSpPr>
        <p:spPr>
          <a:xfrm>
            <a:off x="4513580" y="4390390"/>
            <a:ext cx="279400" cy="279400"/>
          </a:xfrm>
          <a:prstGeom prst="roundRect">
            <a:avLst>
              <a:gd name="adj" fmla="val 27273"/>
            </a:avLst>
          </a:prstGeom>
          <a:solidFill>
            <a:srgbClr val="4A3F27"/>
          </a:solidFill>
          <a:ln/>
        </p:spPr>
        <p:txBody>
          <a:bodyPr/>
          <a:lstStyle/>
          <a:p>
            <a:endParaRPr lang="en-IN"/>
          </a:p>
        </p:txBody>
      </p:sp>
      <p:pic>
        <p:nvPicPr>
          <p:cNvPr id="52" name="Image 9" descr="Settings"/>
          <p:cNvPicPr>
            <a:picLocks noChangeAspect="1"/>
          </p:cNvPicPr>
          <p:nvPr/>
        </p:nvPicPr>
        <p:blipFill>
          <a:blip r:embed="rId12"/>
          <a:srcRect/>
          <a:stretch/>
        </p:blipFill>
        <p:spPr>
          <a:xfrm>
            <a:off x="4570730" y="4447540"/>
            <a:ext cx="165100" cy="165100"/>
          </a:xfrm>
          <a:prstGeom prst="rect">
            <a:avLst/>
          </a:prstGeom>
        </p:spPr>
      </p:pic>
      <p:sp>
        <p:nvSpPr>
          <p:cNvPr id="53" name="Text 41"/>
          <p:cNvSpPr/>
          <p:nvPr/>
        </p:nvSpPr>
        <p:spPr>
          <a:xfrm>
            <a:off x="4881880" y="4302760"/>
            <a:ext cx="20340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Operate efficiently</a:t>
            </a:r>
            <a:endParaRPr lang="en-US" sz="1500" dirty="0"/>
          </a:p>
        </p:txBody>
      </p:sp>
      <p:sp>
        <p:nvSpPr>
          <p:cNvPr id="54" name="Text 42"/>
          <p:cNvSpPr/>
          <p:nvPr/>
        </p:nvSpPr>
        <p:spPr>
          <a:xfrm>
            <a:off x="4881880" y="4544060"/>
            <a:ext cx="2369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Manage groups in one place</a:t>
            </a:r>
            <a:endParaRPr lang="en-US" sz="1200" dirty="0"/>
          </a:p>
        </p:txBody>
      </p:sp>
      <p:sp>
        <p:nvSpPr>
          <p:cNvPr id="55" name="Shape 43"/>
          <p:cNvSpPr/>
          <p:nvPr/>
        </p:nvSpPr>
        <p:spPr>
          <a:xfrm>
            <a:off x="4397375" y="4930775"/>
            <a:ext cx="3270250" cy="661670"/>
          </a:xfrm>
          <a:prstGeom prst="roundRect">
            <a:avLst>
              <a:gd name="adj" fmla="val 12956"/>
            </a:avLst>
          </a:prstGeom>
          <a:solidFill>
            <a:srgbClr val="172B40"/>
          </a:solidFill>
          <a:ln w="6350">
            <a:solidFill>
              <a:srgbClr val="27415C"/>
            </a:solidFill>
            <a:prstDash val="solid"/>
          </a:ln>
        </p:spPr>
        <p:txBody>
          <a:bodyPr/>
          <a:lstStyle/>
          <a:p>
            <a:endParaRPr lang="en-IN"/>
          </a:p>
        </p:txBody>
      </p:sp>
      <p:sp>
        <p:nvSpPr>
          <p:cNvPr id="56" name="Shape 44"/>
          <p:cNvSpPr/>
          <p:nvPr/>
        </p:nvSpPr>
        <p:spPr>
          <a:xfrm>
            <a:off x="4513580" y="5121910"/>
            <a:ext cx="279400" cy="279400"/>
          </a:xfrm>
          <a:prstGeom prst="roundRect">
            <a:avLst>
              <a:gd name="adj" fmla="val 27273"/>
            </a:avLst>
          </a:prstGeom>
          <a:solidFill>
            <a:srgbClr val="4A3F27"/>
          </a:solidFill>
          <a:ln/>
        </p:spPr>
        <p:txBody>
          <a:bodyPr/>
          <a:lstStyle/>
          <a:p>
            <a:endParaRPr lang="en-IN"/>
          </a:p>
        </p:txBody>
      </p:sp>
      <p:pic>
        <p:nvPicPr>
          <p:cNvPr id="57" name="Image 10" descr="Lightning"/>
          <p:cNvPicPr>
            <a:picLocks noChangeAspect="1"/>
          </p:cNvPicPr>
          <p:nvPr/>
        </p:nvPicPr>
        <p:blipFill>
          <a:blip r:embed="rId13"/>
          <a:srcRect/>
          <a:stretch/>
        </p:blipFill>
        <p:spPr>
          <a:xfrm>
            <a:off x="4570730" y="5179060"/>
            <a:ext cx="165100" cy="165100"/>
          </a:xfrm>
          <a:prstGeom prst="rect">
            <a:avLst/>
          </a:prstGeom>
        </p:spPr>
      </p:pic>
      <p:sp>
        <p:nvSpPr>
          <p:cNvPr id="58" name="Text 45"/>
          <p:cNvSpPr/>
          <p:nvPr/>
        </p:nvSpPr>
        <p:spPr>
          <a:xfrm>
            <a:off x="4881880" y="5034280"/>
            <a:ext cx="22565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0E6"/>
                </a:solidFill>
                <a:latin typeface="DM Sans" pitchFamily="34" charset="0"/>
                <a:ea typeface="DM Sans" pitchFamily="34" charset="-122"/>
                <a:cs typeface="DM Sans" pitchFamily="34" charset="-120"/>
              </a:rPr>
              <a:t>Grow your business</a:t>
            </a:r>
            <a:endParaRPr lang="en-US" sz="1500" dirty="0"/>
          </a:p>
        </p:txBody>
      </p:sp>
      <p:sp>
        <p:nvSpPr>
          <p:cNvPr id="59" name="Text 46"/>
          <p:cNvSpPr/>
          <p:nvPr/>
        </p:nvSpPr>
        <p:spPr>
          <a:xfrm>
            <a:off x="4881880" y="5275580"/>
            <a:ext cx="22565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B8C9"/>
                </a:solidFill>
                <a:latin typeface="DM Sans" pitchFamily="34" charset="0"/>
                <a:ea typeface="DM Sans" pitchFamily="34" charset="-122"/>
                <a:cs typeface="DM Sans" pitchFamily="34" charset="-120"/>
              </a:rPr>
              <a:t>Unlock corporate &amp; events</a:t>
            </a:r>
            <a:endParaRPr lang="en-US" sz="1200" dirty="0"/>
          </a:p>
        </p:txBody>
      </p:sp>
      <p:pic>
        <p:nvPicPr>
          <p:cNvPr id="60" name="Image 11" descr="arrow-right"/>
          <p:cNvPicPr>
            <a:picLocks noChangeAspect="1"/>
          </p:cNvPicPr>
          <p:nvPr/>
        </p:nvPicPr>
        <p:blipFill>
          <a:blip r:embed="rId8"/>
          <a:srcRect/>
          <a:stretch/>
        </p:blipFill>
        <p:spPr>
          <a:xfrm>
            <a:off x="7696200" y="1695450"/>
            <a:ext cx="254000" cy="152400"/>
          </a:xfrm>
          <a:prstGeom prst="rect">
            <a:avLst/>
          </a:prstGeom>
        </p:spPr>
      </p:pic>
      <p:sp>
        <p:nvSpPr>
          <p:cNvPr id="61" name="Text 47"/>
          <p:cNvSpPr/>
          <p:nvPr/>
        </p:nvSpPr>
        <p:spPr>
          <a:xfrm>
            <a:off x="7975600" y="1651000"/>
            <a:ext cx="28392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8C2A6"/>
                </a:solidFill>
                <a:latin typeface="DM Sans" pitchFamily="34" charset="0"/>
                <a:ea typeface="DM Sans" pitchFamily="34" charset="-122"/>
                <a:cs typeface="DM Sans" pitchFamily="34" charset="-120"/>
              </a:rPr>
              <a:t>03</a:t>
            </a:r>
            <a:endParaRPr lang="en-US" sz="1400" dirty="0"/>
          </a:p>
        </p:txBody>
      </p:sp>
      <p:sp>
        <p:nvSpPr>
          <p:cNvPr id="62" name="Text 48"/>
          <p:cNvSpPr/>
          <p:nvPr/>
        </p:nvSpPr>
        <p:spPr>
          <a:xfrm>
            <a:off x="8297625" y="1653540"/>
            <a:ext cx="22881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0E6"/>
                </a:solidFill>
                <a:latin typeface="DM Sans" pitchFamily="34" charset="0"/>
                <a:ea typeface="DM Sans" pitchFamily="34" charset="-122"/>
                <a:cs typeface="DM Sans" pitchFamily="34" charset="-120"/>
              </a:rPr>
              <a:t>The advantage</a:t>
            </a:r>
            <a:endParaRPr lang="en-US" sz="1600" dirty="0"/>
          </a:p>
        </p:txBody>
      </p:sp>
      <p:sp>
        <p:nvSpPr>
          <p:cNvPr id="63" name="Shape 49"/>
          <p:cNvSpPr/>
          <p:nvPr/>
        </p:nvSpPr>
        <p:spPr>
          <a:xfrm>
            <a:off x="7978775" y="2004695"/>
            <a:ext cx="3397250" cy="394970"/>
          </a:xfrm>
          <a:prstGeom prst="roundRect">
            <a:avLst>
              <a:gd name="adj" fmla="val 21704"/>
            </a:avLst>
          </a:prstGeom>
          <a:solidFill>
            <a:srgbClr val="172B40"/>
          </a:solidFill>
          <a:ln w="6350">
            <a:solidFill>
              <a:srgbClr val="27415C"/>
            </a:solidFill>
            <a:prstDash val="solid"/>
          </a:ln>
        </p:spPr>
        <p:txBody>
          <a:bodyPr/>
          <a:lstStyle/>
          <a:p>
            <a:endParaRPr lang="en-IN"/>
          </a:p>
        </p:txBody>
      </p:sp>
      <p:pic>
        <p:nvPicPr>
          <p:cNvPr id="64" name="Image 12" descr="Check"/>
          <p:cNvPicPr>
            <a:picLocks noChangeAspect="1"/>
          </p:cNvPicPr>
          <p:nvPr/>
        </p:nvPicPr>
        <p:blipFill>
          <a:blip r:embed="rId14"/>
          <a:srcRect/>
          <a:stretch/>
        </p:blipFill>
        <p:spPr>
          <a:xfrm>
            <a:off x="8094980" y="2113280"/>
            <a:ext cx="177800" cy="177800"/>
          </a:xfrm>
          <a:prstGeom prst="rect">
            <a:avLst/>
          </a:prstGeom>
        </p:spPr>
      </p:pic>
      <p:sp>
        <p:nvSpPr>
          <p:cNvPr id="65" name="Text 50"/>
          <p:cNvSpPr/>
          <p:nvPr/>
        </p:nvSpPr>
        <p:spPr>
          <a:xfrm>
            <a:off x="8361680" y="2095500"/>
            <a:ext cx="21677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6"/>
                </a:solidFill>
                <a:latin typeface="DM Sans" pitchFamily="34" charset="0"/>
                <a:ea typeface="DM Sans" pitchFamily="34" charset="-122"/>
                <a:cs typeface="DM Sans" pitchFamily="34" charset="-120"/>
              </a:rPr>
              <a:t>More group bookings</a:t>
            </a:r>
            <a:endParaRPr lang="en-US" sz="1400" dirty="0"/>
          </a:p>
        </p:txBody>
      </p:sp>
      <p:sp>
        <p:nvSpPr>
          <p:cNvPr id="66" name="Shape 51"/>
          <p:cNvSpPr/>
          <p:nvPr/>
        </p:nvSpPr>
        <p:spPr>
          <a:xfrm>
            <a:off x="7978775" y="2469515"/>
            <a:ext cx="3397250" cy="394970"/>
          </a:xfrm>
          <a:prstGeom prst="roundRect">
            <a:avLst>
              <a:gd name="adj" fmla="val 21704"/>
            </a:avLst>
          </a:prstGeom>
          <a:solidFill>
            <a:srgbClr val="172B40"/>
          </a:solidFill>
          <a:ln w="6350">
            <a:solidFill>
              <a:srgbClr val="27415C"/>
            </a:solidFill>
            <a:prstDash val="solid"/>
          </a:ln>
        </p:spPr>
        <p:txBody>
          <a:bodyPr/>
          <a:lstStyle/>
          <a:p>
            <a:endParaRPr lang="en-IN"/>
          </a:p>
        </p:txBody>
      </p:sp>
      <p:pic>
        <p:nvPicPr>
          <p:cNvPr id="67" name="Image 13" descr="Check"/>
          <p:cNvPicPr>
            <a:picLocks noChangeAspect="1"/>
          </p:cNvPicPr>
          <p:nvPr/>
        </p:nvPicPr>
        <p:blipFill>
          <a:blip r:embed="rId14"/>
          <a:srcRect/>
          <a:stretch/>
        </p:blipFill>
        <p:spPr>
          <a:xfrm>
            <a:off x="8094980" y="2578100"/>
            <a:ext cx="177800" cy="177800"/>
          </a:xfrm>
          <a:prstGeom prst="rect">
            <a:avLst/>
          </a:prstGeom>
        </p:spPr>
      </p:pic>
      <p:sp>
        <p:nvSpPr>
          <p:cNvPr id="68" name="Text 52"/>
          <p:cNvSpPr/>
          <p:nvPr/>
        </p:nvSpPr>
        <p:spPr>
          <a:xfrm>
            <a:off x="8361680" y="2560320"/>
            <a:ext cx="1879283"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6"/>
                </a:solidFill>
                <a:latin typeface="DM Sans" pitchFamily="34" charset="0"/>
                <a:ea typeface="DM Sans" pitchFamily="34" charset="-122"/>
                <a:cs typeface="DM Sans" pitchFamily="34" charset="-120"/>
              </a:rPr>
              <a:t>Higher occupancy</a:t>
            </a:r>
            <a:endParaRPr lang="en-US" sz="1400" dirty="0"/>
          </a:p>
        </p:txBody>
      </p:sp>
      <p:sp>
        <p:nvSpPr>
          <p:cNvPr id="69" name="Shape 53"/>
          <p:cNvSpPr/>
          <p:nvPr/>
        </p:nvSpPr>
        <p:spPr>
          <a:xfrm>
            <a:off x="7978775" y="2934335"/>
            <a:ext cx="3397250" cy="394970"/>
          </a:xfrm>
          <a:prstGeom prst="roundRect">
            <a:avLst>
              <a:gd name="adj" fmla="val 21704"/>
            </a:avLst>
          </a:prstGeom>
          <a:solidFill>
            <a:srgbClr val="172B40"/>
          </a:solidFill>
          <a:ln w="6350">
            <a:solidFill>
              <a:srgbClr val="27415C"/>
            </a:solidFill>
            <a:prstDash val="solid"/>
          </a:ln>
        </p:spPr>
        <p:txBody>
          <a:bodyPr/>
          <a:lstStyle/>
          <a:p>
            <a:endParaRPr lang="en-IN"/>
          </a:p>
        </p:txBody>
      </p:sp>
      <p:pic>
        <p:nvPicPr>
          <p:cNvPr id="70" name="Image 14" descr="Check"/>
          <p:cNvPicPr>
            <a:picLocks noChangeAspect="1"/>
          </p:cNvPicPr>
          <p:nvPr/>
        </p:nvPicPr>
        <p:blipFill>
          <a:blip r:embed="rId14"/>
          <a:srcRect/>
          <a:stretch/>
        </p:blipFill>
        <p:spPr>
          <a:xfrm>
            <a:off x="8094980" y="3042920"/>
            <a:ext cx="177800" cy="177800"/>
          </a:xfrm>
          <a:prstGeom prst="rect">
            <a:avLst/>
          </a:prstGeom>
        </p:spPr>
      </p:pic>
      <p:sp>
        <p:nvSpPr>
          <p:cNvPr id="71" name="Text 54"/>
          <p:cNvSpPr/>
          <p:nvPr/>
        </p:nvSpPr>
        <p:spPr>
          <a:xfrm>
            <a:off x="8361680" y="3025140"/>
            <a:ext cx="265242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6"/>
                </a:solidFill>
                <a:latin typeface="DM Sans" pitchFamily="34" charset="0"/>
                <a:ea typeface="DM Sans" pitchFamily="34" charset="-122"/>
                <a:cs typeface="DM Sans" pitchFamily="34" charset="-120"/>
              </a:rPr>
              <a:t>Greater revenue potential</a:t>
            </a:r>
            <a:endParaRPr lang="en-US" sz="1400" dirty="0"/>
          </a:p>
        </p:txBody>
      </p:sp>
      <p:sp>
        <p:nvSpPr>
          <p:cNvPr id="72" name="Shape 55"/>
          <p:cNvSpPr/>
          <p:nvPr/>
        </p:nvSpPr>
        <p:spPr>
          <a:xfrm>
            <a:off x="7978775" y="3399155"/>
            <a:ext cx="3397250" cy="394970"/>
          </a:xfrm>
          <a:prstGeom prst="roundRect">
            <a:avLst>
              <a:gd name="adj" fmla="val 21704"/>
            </a:avLst>
          </a:prstGeom>
          <a:solidFill>
            <a:srgbClr val="172B40"/>
          </a:solidFill>
          <a:ln w="6350">
            <a:solidFill>
              <a:srgbClr val="27415C"/>
            </a:solidFill>
            <a:prstDash val="solid"/>
          </a:ln>
        </p:spPr>
        <p:txBody>
          <a:bodyPr/>
          <a:lstStyle/>
          <a:p>
            <a:endParaRPr lang="en-IN"/>
          </a:p>
        </p:txBody>
      </p:sp>
      <p:pic>
        <p:nvPicPr>
          <p:cNvPr id="73" name="Image 15" descr="Check"/>
          <p:cNvPicPr>
            <a:picLocks noChangeAspect="1"/>
          </p:cNvPicPr>
          <p:nvPr/>
        </p:nvPicPr>
        <p:blipFill>
          <a:blip r:embed="rId14"/>
          <a:srcRect/>
          <a:stretch/>
        </p:blipFill>
        <p:spPr>
          <a:xfrm>
            <a:off x="8094980" y="3507740"/>
            <a:ext cx="177800" cy="177800"/>
          </a:xfrm>
          <a:prstGeom prst="rect">
            <a:avLst/>
          </a:prstGeom>
        </p:spPr>
      </p:pic>
      <p:sp>
        <p:nvSpPr>
          <p:cNvPr id="74" name="Text 56"/>
          <p:cNvSpPr/>
          <p:nvPr/>
        </p:nvSpPr>
        <p:spPr>
          <a:xfrm>
            <a:off x="8361680" y="3489960"/>
            <a:ext cx="188737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6"/>
                </a:solidFill>
                <a:latin typeface="DM Sans" pitchFamily="34" charset="0"/>
                <a:ea typeface="DM Sans" pitchFamily="34" charset="-122"/>
                <a:cs typeface="DM Sans" pitchFamily="34" charset="-120"/>
              </a:rPr>
              <a:t>Long-term growth</a:t>
            </a:r>
            <a:endParaRPr lang="en-US" sz="1400" dirty="0"/>
          </a:p>
        </p:txBody>
      </p:sp>
      <p:sp>
        <p:nvSpPr>
          <p:cNvPr id="76" name="Text 58"/>
          <p:cNvSpPr/>
          <p:nvPr/>
        </p:nvSpPr>
        <p:spPr>
          <a:xfrm>
            <a:off x="8115300" y="4114800"/>
            <a:ext cx="1293971" cy="939800"/>
          </a:xfrm>
          <a:prstGeom prst="rect">
            <a:avLst/>
          </a:prstGeom>
          <a:noFill/>
          <a:ln/>
        </p:spPr>
        <p:txBody>
          <a:bodyPr wrap="square" lIns="0" tIns="0" rIns="0" bIns="0" rtlCol="0" anchor="t">
            <a:normAutofit/>
          </a:bodyPr>
          <a:lstStyle/>
          <a:p>
            <a:pPr marL="0" indent="0" algn="l">
              <a:lnSpc>
                <a:spcPts val="3600"/>
              </a:lnSpc>
              <a:buNone/>
            </a:pPr>
            <a:endParaRPr lang="en-US" sz="3600" dirty="0"/>
          </a:p>
        </p:txBody>
      </p:sp>
      <p:sp>
        <p:nvSpPr>
          <p:cNvPr id="77" name="Text 59"/>
          <p:cNvSpPr/>
          <p:nvPr/>
        </p:nvSpPr>
        <p:spPr>
          <a:xfrm>
            <a:off x="9460071" y="4358640"/>
            <a:ext cx="1832812" cy="452120"/>
          </a:xfrm>
          <a:prstGeom prst="rect">
            <a:avLst/>
          </a:prstGeom>
          <a:noFill/>
          <a:ln/>
        </p:spPr>
        <p:txBody>
          <a:bodyPr wrap="square" lIns="0" tIns="0" rIns="0" bIns="0" rtlCol="0" anchor="t">
            <a:normAutofit/>
          </a:bodyPr>
          <a:lstStyle/>
          <a:p>
            <a:pPr marL="0" indent="0" algn="l">
              <a:lnSpc>
                <a:spcPts val="1680"/>
              </a:lnSpc>
              <a:buNone/>
            </a:pPr>
            <a:endParaRPr lang="en-US" sz="1400" dirty="0"/>
          </a:p>
        </p:txBody>
      </p:sp>
      <p:sp>
        <p:nvSpPr>
          <p:cNvPr id="79" name="Text 61"/>
          <p:cNvSpPr/>
          <p:nvPr/>
        </p:nvSpPr>
        <p:spPr>
          <a:xfrm>
            <a:off x="8191500" y="5207000"/>
            <a:ext cx="889000" cy="304800"/>
          </a:xfrm>
          <a:prstGeom prst="rect">
            <a:avLst/>
          </a:prstGeom>
          <a:noFill/>
          <a:ln/>
        </p:spPr>
        <p:txBody>
          <a:bodyPr wrap="square" lIns="0" tIns="0" rIns="0" bIns="0" rtlCol="0" anchor="t">
            <a:normAutofit/>
          </a:bodyPr>
          <a:lstStyle/>
          <a:p>
            <a:pPr marL="0" indent="0" algn="l">
              <a:lnSpc>
                <a:spcPts val="2200"/>
              </a:lnSpc>
              <a:buNone/>
            </a:pPr>
            <a:endParaRPr lang="en-US" sz="2000" dirty="0"/>
          </a:p>
        </p:txBody>
      </p:sp>
      <p:sp>
        <p:nvSpPr>
          <p:cNvPr id="80" name="Text 62"/>
          <p:cNvSpPr/>
          <p:nvPr/>
        </p:nvSpPr>
        <p:spPr>
          <a:xfrm>
            <a:off x="8191500" y="5499100"/>
            <a:ext cx="889000" cy="4521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82" name="Text 64"/>
          <p:cNvSpPr/>
          <p:nvPr/>
        </p:nvSpPr>
        <p:spPr>
          <a:xfrm>
            <a:off x="9258300" y="5207000"/>
            <a:ext cx="889000" cy="304800"/>
          </a:xfrm>
          <a:prstGeom prst="rect">
            <a:avLst/>
          </a:prstGeom>
          <a:noFill/>
          <a:ln/>
        </p:spPr>
        <p:txBody>
          <a:bodyPr wrap="square" lIns="0" tIns="0" rIns="0" bIns="0" rtlCol="0" anchor="t">
            <a:normAutofit/>
          </a:bodyPr>
          <a:lstStyle/>
          <a:p>
            <a:pPr marL="0" indent="0" algn="l">
              <a:lnSpc>
                <a:spcPts val="2200"/>
              </a:lnSpc>
              <a:buNone/>
            </a:pPr>
            <a:endParaRPr lang="en-US" sz="2000" dirty="0"/>
          </a:p>
        </p:txBody>
      </p:sp>
      <p:sp>
        <p:nvSpPr>
          <p:cNvPr id="83" name="Text 65"/>
          <p:cNvSpPr/>
          <p:nvPr/>
        </p:nvSpPr>
        <p:spPr>
          <a:xfrm>
            <a:off x="9258300" y="5499100"/>
            <a:ext cx="889000" cy="4521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85" name="Text 67"/>
          <p:cNvSpPr/>
          <p:nvPr/>
        </p:nvSpPr>
        <p:spPr>
          <a:xfrm>
            <a:off x="10325100" y="5207000"/>
            <a:ext cx="889000" cy="304800"/>
          </a:xfrm>
          <a:prstGeom prst="rect">
            <a:avLst/>
          </a:prstGeom>
          <a:noFill/>
          <a:ln/>
        </p:spPr>
        <p:txBody>
          <a:bodyPr wrap="square" lIns="0" tIns="0" rIns="0" bIns="0" rtlCol="0" anchor="t">
            <a:normAutofit/>
          </a:bodyPr>
          <a:lstStyle/>
          <a:p>
            <a:pPr marL="0" indent="0" algn="l">
              <a:lnSpc>
                <a:spcPts val="2200"/>
              </a:lnSpc>
              <a:buNone/>
            </a:pPr>
            <a:endParaRPr lang="en-US" sz="2000" dirty="0"/>
          </a:p>
        </p:txBody>
      </p:sp>
      <p:sp>
        <p:nvSpPr>
          <p:cNvPr id="86" name="Text 68"/>
          <p:cNvSpPr/>
          <p:nvPr/>
        </p:nvSpPr>
        <p:spPr>
          <a:xfrm>
            <a:off x="10325100" y="5499100"/>
            <a:ext cx="889000" cy="4521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962</Words>
  <Application>Microsoft Office PowerPoint</Application>
  <PresentationFormat>Widescreen</PresentationFormat>
  <Paragraphs>163</Paragraphs>
  <Slides>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Calibri</vt:lpstr>
      <vt:lpstr>DM Sans</vt:lpstr>
      <vt:lpstr>Office Theme</vt:lpstr>
      <vt:lpstr>PowerPoint Presentation</vt:lpstr>
      <vt:lpstr>PowerPoint Presentation</vt:lpstr>
      <vt:lpstr>PowerPoint Presentation</vt:lpstr>
      <vt:lpstr>PowerPoint Presentation</vt:lpstr>
      <vt:lpstr>PowerPoint Presentation</vt:lpstr>
      <vt:lpstr>Why hotels choose Stayquote?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vikram gumudavelli</dc:creator>
  <cp:lastModifiedBy>vikram gumudavelli</cp:lastModifiedBy>
  <cp:revision>1</cp:revision>
  <dcterms:created xsi:type="dcterms:W3CDTF">2026-10-18T08:31:10Z</dcterms:created>
  <dcterms:modified xsi:type="dcterms:W3CDTF">2026-10-18T08:51:28Z</dcterms:modified>
</cp:coreProperties>
</file>