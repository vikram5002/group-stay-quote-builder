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ch flow and stack" id="{53DB5A6F-3910-25E2-1C06-CE0C156A2EED}">
          <p14:sldIdLst/>
        </p14:section>
        <p14:section name="User flow and development" id="{7785937F-B3A1-2851-0F1D-5B63B261F51B}">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7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path left to right: the browser signs in with Cognito, calls the HTTP API with a JWT, and the Lambda runs the same core engine the browser uses for its live preview. Holds, quotes and audit events are written to DynamoDB in one transaction. SES, Scheduler, S3 and CloudWatch support emails, expiry, imports and monitoring.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three roles. Middle: the six steps of a quote from request to paid booking; step 4 is where the Service Manager approves or the Owner sets a discount. Right: the development process, contract first and test first, four tracks with one verify gate and CDK deploys.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93776" y="365760"/>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TECH FLOW AND STACK</a:t>
            </a:r>
            <a:endParaRPr lang="en-US" sz="1200" dirty="0"/>
          </a:p>
        </p:txBody>
      </p:sp>
      <p:sp>
        <p:nvSpPr>
          <p:cNvPr id="3" name="Text 1"/>
          <p:cNvSpPr txBox="1"/>
          <p:nvPr/>
        </p:nvSpPr>
        <p:spPr>
          <a:xfrm>
            <a:off x="457200" y="640080"/>
            <a:ext cx="11247120" cy="548640"/>
          </a:xfrm>
          <a:prstGeom prst="rect">
            <a:avLst/>
          </a:prstGeom>
          <a:noFill/>
          <a:ln/>
        </p:spPr>
        <p:txBody>
          <a:bodyPr wrap="square" lIns="0" tIns="0" rIns="0" bIns="0" rtlCol="0" anchor="t"/>
          <a:lstStyle/>
          <a:p>
            <a:pPr marL="0" indent="0">
              <a:buNone/>
            </a:pPr>
            <a:r>
              <a:rPr lang="en-US" sz="3200" b="1" dirty="0">
                <a:solidFill>
                  <a:schemeClr val="tx1"/>
                </a:solidFill>
              </a:rPr>
              <a:t>One request, end to end, on serverless AWS</a:t>
            </a:r>
            <a:endParaRPr lang="en-US" sz="3200" dirty="0"/>
          </a:p>
        </p:txBody>
      </p:sp>
      <p:sp>
        <p:nvSpPr>
          <p:cNvPr id="4" name="Text 2"/>
          <p:cNvSpPr txBox="1"/>
          <p:nvPr/>
        </p:nvSpPr>
        <p:spPr>
          <a:xfrm>
            <a:off x="457200" y="1188720"/>
            <a:ext cx="11247120" cy="274320"/>
          </a:xfrm>
          <a:prstGeom prst="rect">
            <a:avLst/>
          </a:prstGeom>
          <a:noFill/>
          <a:ln/>
        </p:spPr>
        <p:txBody>
          <a:bodyPr wrap="square" lIns="0" tIns="0" rIns="0" bIns="0" rtlCol="0" anchor="t"/>
          <a:lstStyle/>
          <a:p>
            <a:pPr marL="0" indent="0">
              <a:buNone/>
            </a:pPr>
            <a:r>
              <a:rPr lang="en-US" sz="1400" dirty="0">
                <a:solidFill>
                  <a:srgbClr val="5B6472"/>
                </a:solidFill>
              </a:rPr>
              <a:t>Every quote is priced by one pure engine shared by the browser and the API; AWS ap-south-1 (Mumbai), deployed with CDK</a:t>
            </a:r>
            <a:endParaRPr lang="en-US" sz="1400" dirty="0"/>
          </a:p>
        </p:txBody>
      </p:sp>
      <p:sp>
        <p:nvSpPr>
          <p:cNvPr id="5" name="Browser"/>
          <p:cNvSpPr/>
          <p:nvPr/>
        </p:nvSpPr>
        <p:spPr>
          <a:xfrm>
            <a:off x="457200" y="1691640"/>
            <a:ext cx="1645920" cy="1417320"/>
          </a:xfrm>
          <a:prstGeom prst="roundRect">
            <a:avLst>
              <a:gd name="adj" fmla="val 6452"/>
            </a:avLst>
          </a:prstGeom>
          <a:solidFill>
            <a:srgbClr val="FFFFFF"/>
          </a:solidFill>
          <a:ln w="12700">
            <a:solidFill>
              <a:srgbClr val="E2DED4"/>
            </a:solidFill>
            <a:prstDash val="solid"/>
          </a:ln>
        </p:spPr>
        <p:txBody>
          <a:bodyPr/>
          <a:lstStyle/>
          <a:p>
            <a:endParaRPr lang="en-IN"/>
          </a:p>
        </p:txBody>
      </p:sp>
      <p:sp>
        <p:nvSpPr>
          <p:cNvPr id="6" name="Shape 4"/>
          <p:cNvSpPr/>
          <p:nvPr/>
        </p:nvSpPr>
        <p:spPr>
          <a:xfrm>
            <a:off x="594360" y="1828800"/>
            <a:ext cx="457200" cy="457200"/>
          </a:xfrm>
          <a:prstGeom prst="ellipse">
            <a:avLst/>
          </a:prstGeom>
          <a:solidFill>
            <a:schemeClr val="accent3"/>
          </a:solidFill>
          <a:ln w="12700">
            <a:solidFill>
              <a:schemeClr val="accent3"/>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694944" y="1929384"/>
            <a:ext cx="256032" cy="256032"/>
          </a:xfrm>
          <a:prstGeom prst="rect">
            <a:avLst/>
          </a:prstGeom>
        </p:spPr>
      </p:pic>
      <p:sp>
        <p:nvSpPr>
          <p:cNvPr id="8" name="Text 5"/>
          <p:cNvSpPr txBox="1"/>
          <p:nvPr/>
        </p:nvSpPr>
        <p:spPr>
          <a:xfrm>
            <a:off x="594360" y="2377440"/>
            <a:ext cx="1371600" cy="274320"/>
          </a:xfrm>
          <a:prstGeom prst="rect">
            <a:avLst/>
          </a:prstGeom>
          <a:noFill/>
          <a:ln/>
        </p:spPr>
        <p:txBody>
          <a:bodyPr wrap="square" lIns="0" tIns="0" rIns="0" bIns="0" rtlCol="0" anchor="t"/>
          <a:lstStyle/>
          <a:p>
            <a:pPr marL="0" indent="0">
              <a:buNone/>
            </a:pPr>
            <a:r>
              <a:rPr lang="en-US" sz="1300" b="1" dirty="0">
                <a:solidFill>
                  <a:srgbClr val="16202E"/>
                </a:solidFill>
              </a:rPr>
              <a:t>Browser</a:t>
            </a:r>
            <a:endParaRPr lang="en-US" sz="1300" dirty="0"/>
          </a:p>
        </p:txBody>
      </p:sp>
      <p:sp>
        <p:nvSpPr>
          <p:cNvPr id="9" name="Text 6"/>
          <p:cNvSpPr txBox="1"/>
          <p:nvPr/>
        </p:nvSpPr>
        <p:spPr>
          <a:xfrm>
            <a:off x="594360" y="2651760"/>
            <a:ext cx="1371600" cy="411480"/>
          </a:xfrm>
          <a:prstGeom prst="rect">
            <a:avLst/>
          </a:prstGeom>
          <a:noFill/>
          <a:ln/>
        </p:spPr>
        <p:txBody>
          <a:bodyPr wrap="square" lIns="0" tIns="0" rIns="0" bIns="0" rtlCol="0" anchor="t"/>
          <a:lstStyle/>
          <a:p>
            <a:pPr marL="0" indent="0">
              <a:buNone/>
            </a:pPr>
            <a:r>
              <a:rPr lang="en-US" sz="1000" dirty="0">
                <a:solidFill>
                  <a:srgbClr val="5B6472"/>
                </a:solidFill>
              </a:rPr>
              <a:t>React 18 SPA, live price check</a:t>
            </a:r>
            <a:endParaRPr lang="en-US" sz="1000" dirty="0"/>
          </a:p>
        </p:txBody>
      </p:sp>
      <p:sp>
        <p:nvSpPr>
          <p:cNvPr id="10" name="Shape 7"/>
          <p:cNvSpPr/>
          <p:nvPr/>
        </p:nvSpPr>
        <p:spPr>
          <a:xfrm>
            <a:off x="2130552" y="2400300"/>
            <a:ext cx="192024" cy="0"/>
          </a:xfrm>
          <a:prstGeom prst="line">
            <a:avLst/>
          </a:prstGeom>
          <a:noFill/>
          <a:ln w="19050">
            <a:solidFill>
              <a:srgbClr val="5B6472"/>
            </a:solidFill>
            <a:prstDash val="solid"/>
            <a:tailEnd type="triangle"/>
          </a:ln>
        </p:spPr>
        <p:txBody>
          <a:bodyPr/>
          <a:lstStyle/>
          <a:p>
            <a:endParaRPr lang="en-IN"/>
          </a:p>
        </p:txBody>
      </p:sp>
      <p:sp>
        <p:nvSpPr>
          <p:cNvPr id="11" name="CloudFront + S3"/>
          <p:cNvSpPr/>
          <p:nvPr/>
        </p:nvSpPr>
        <p:spPr>
          <a:xfrm>
            <a:off x="2350008" y="1691640"/>
            <a:ext cx="1645920" cy="1417320"/>
          </a:xfrm>
          <a:prstGeom prst="roundRect">
            <a:avLst>
              <a:gd name="adj" fmla="val 6452"/>
            </a:avLst>
          </a:prstGeom>
          <a:solidFill>
            <a:srgbClr val="FFFFFF"/>
          </a:solidFill>
          <a:ln w="12700">
            <a:solidFill>
              <a:srgbClr val="E2DED4"/>
            </a:solidFill>
            <a:prstDash val="solid"/>
          </a:ln>
        </p:spPr>
        <p:txBody>
          <a:bodyPr/>
          <a:lstStyle/>
          <a:p>
            <a:endParaRPr lang="en-IN"/>
          </a:p>
        </p:txBody>
      </p:sp>
      <p:sp>
        <p:nvSpPr>
          <p:cNvPr id="12" name="Shape 9"/>
          <p:cNvSpPr/>
          <p:nvPr/>
        </p:nvSpPr>
        <p:spPr>
          <a:xfrm>
            <a:off x="2487168" y="1828800"/>
            <a:ext cx="457200" cy="457200"/>
          </a:xfrm>
          <a:prstGeom prst="ellipse">
            <a:avLst/>
          </a:prstGeom>
          <a:solidFill>
            <a:schemeClr val="accent3"/>
          </a:solidFill>
          <a:ln w="12700">
            <a:solidFill>
              <a:schemeClr val="accent3"/>
            </a:solidFill>
            <a:prstDash val="solid"/>
          </a:ln>
        </p:spPr>
        <p:txBody>
          <a:bodyPr/>
          <a:lstStyle/>
          <a:p>
            <a:endParaRPr lang="en-IN"/>
          </a:p>
        </p:txBody>
      </p:sp>
      <p:pic>
        <p:nvPicPr>
          <p:cNvPr id="13" name="Image 1" descr="preencoded.png"/>
          <p:cNvPicPr>
            <a:picLocks noChangeAspect="1"/>
          </p:cNvPicPr>
          <p:nvPr/>
        </p:nvPicPr>
        <p:blipFill>
          <a:blip r:embed="rId4"/>
          <a:stretch>
            <a:fillRect/>
          </a:stretch>
        </p:blipFill>
        <p:spPr>
          <a:xfrm>
            <a:off x="2587752" y="1929384"/>
            <a:ext cx="256032" cy="256032"/>
          </a:xfrm>
          <a:prstGeom prst="rect">
            <a:avLst/>
          </a:prstGeom>
        </p:spPr>
      </p:pic>
      <p:sp>
        <p:nvSpPr>
          <p:cNvPr id="14" name="Text 10"/>
          <p:cNvSpPr txBox="1"/>
          <p:nvPr/>
        </p:nvSpPr>
        <p:spPr>
          <a:xfrm>
            <a:off x="2487168" y="2377440"/>
            <a:ext cx="1371600" cy="274320"/>
          </a:xfrm>
          <a:prstGeom prst="rect">
            <a:avLst/>
          </a:prstGeom>
          <a:noFill/>
          <a:ln/>
        </p:spPr>
        <p:txBody>
          <a:bodyPr wrap="square" lIns="0" tIns="0" rIns="0" bIns="0" rtlCol="0" anchor="t"/>
          <a:lstStyle/>
          <a:p>
            <a:pPr marL="0" indent="0">
              <a:buNone/>
            </a:pPr>
            <a:r>
              <a:rPr lang="en-US" sz="1300" b="1" dirty="0">
                <a:solidFill>
                  <a:srgbClr val="16202E"/>
                </a:solidFill>
              </a:rPr>
              <a:t>CloudFront + S3</a:t>
            </a:r>
            <a:endParaRPr lang="en-US" sz="1300" dirty="0"/>
          </a:p>
        </p:txBody>
      </p:sp>
      <p:sp>
        <p:nvSpPr>
          <p:cNvPr id="15" name="Text 11"/>
          <p:cNvSpPr txBox="1"/>
          <p:nvPr/>
        </p:nvSpPr>
        <p:spPr>
          <a:xfrm>
            <a:off x="2487168" y="2651760"/>
            <a:ext cx="1371600" cy="411480"/>
          </a:xfrm>
          <a:prstGeom prst="rect">
            <a:avLst/>
          </a:prstGeom>
          <a:noFill/>
          <a:ln/>
        </p:spPr>
        <p:txBody>
          <a:bodyPr wrap="square" lIns="0" tIns="0" rIns="0" bIns="0" rtlCol="0" anchor="t"/>
          <a:lstStyle/>
          <a:p>
            <a:pPr marL="0" indent="0">
              <a:buNone/>
            </a:pPr>
            <a:r>
              <a:rPr lang="en-US" sz="1000" dirty="0">
                <a:solidFill>
                  <a:srgbClr val="5B6472"/>
                </a:solidFill>
              </a:rPr>
              <a:t>Static site over HTTPS</a:t>
            </a:r>
            <a:endParaRPr lang="en-US" sz="1000" dirty="0"/>
          </a:p>
        </p:txBody>
      </p:sp>
      <p:sp>
        <p:nvSpPr>
          <p:cNvPr id="16" name="Shape 12"/>
          <p:cNvSpPr/>
          <p:nvPr/>
        </p:nvSpPr>
        <p:spPr>
          <a:xfrm>
            <a:off x="4023360" y="2400300"/>
            <a:ext cx="192024" cy="0"/>
          </a:xfrm>
          <a:prstGeom prst="line">
            <a:avLst/>
          </a:prstGeom>
          <a:noFill/>
          <a:ln w="19050">
            <a:solidFill>
              <a:srgbClr val="5B6472"/>
            </a:solidFill>
            <a:prstDash val="solid"/>
            <a:tailEnd type="triangle"/>
          </a:ln>
        </p:spPr>
        <p:txBody>
          <a:bodyPr/>
          <a:lstStyle/>
          <a:p>
            <a:endParaRPr lang="en-IN"/>
          </a:p>
        </p:txBody>
      </p:sp>
      <p:sp>
        <p:nvSpPr>
          <p:cNvPr id="17" name="Cognito"/>
          <p:cNvSpPr/>
          <p:nvPr/>
        </p:nvSpPr>
        <p:spPr>
          <a:xfrm>
            <a:off x="4242816" y="1691640"/>
            <a:ext cx="1645920" cy="1417320"/>
          </a:xfrm>
          <a:prstGeom prst="roundRect">
            <a:avLst>
              <a:gd name="adj" fmla="val 6452"/>
            </a:avLst>
          </a:prstGeom>
          <a:solidFill>
            <a:srgbClr val="FFFFFF"/>
          </a:solidFill>
          <a:ln w="12700">
            <a:solidFill>
              <a:srgbClr val="E2DED4"/>
            </a:solidFill>
            <a:prstDash val="solid"/>
          </a:ln>
        </p:spPr>
        <p:txBody>
          <a:bodyPr/>
          <a:lstStyle/>
          <a:p>
            <a:endParaRPr lang="en-IN"/>
          </a:p>
        </p:txBody>
      </p:sp>
      <p:sp>
        <p:nvSpPr>
          <p:cNvPr id="18" name="Shape 14"/>
          <p:cNvSpPr/>
          <p:nvPr/>
        </p:nvSpPr>
        <p:spPr>
          <a:xfrm>
            <a:off x="4379976" y="1828800"/>
            <a:ext cx="457200" cy="457200"/>
          </a:xfrm>
          <a:prstGeom prst="ellipse">
            <a:avLst/>
          </a:prstGeom>
          <a:solidFill>
            <a:schemeClr val="accent3"/>
          </a:solidFill>
          <a:ln w="12700">
            <a:solidFill>
              <a:schemeClr val="accent3"/>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4480560" y="1929384"/>
            <a:ext cx="256032" cy="256032"/>
          </a:xfrm>
          <a:prstGeom prst="rect">
            <a:avLst/>
          </a:prstGeom>
        </p:spPr>
      </p:pic>
      <p:sp>
        <p:nvSpPr>
          <p:cNvPr id="20" name="Text 15"/>
          <p:cNvSpPr txBox="1"/>
          <p:nvPr/>
        </p:nvSpPr>
        <p:spPr>
          <a:xfrm>
            <a:off x="4379976" y="2377440"/>
            <a:ext cx="1371600" cy="274320"/>
          </a:xfrm>
          <a:prstGeom prst="rect">
            <a:avLst/>
          </a:prstGeom>
          <a:noFill/>
          <a:ln/>
        </p:spPr>
        <p:txBody>
          <a:bodyPr wrap="square" lIns="0" tIns="0" rIns="0" bIns="0" rtlCol="0" anchor="t"/>
          <a:lstStyle/>
          <a:p>
            <a:pPr marL="0" indent="0">
              <a:buNone/>
            </a:pPr>
            <a:r>
              <a:rPr lang="en-US" sz="1300" b="1" dirty="0">
                <a:solidFill>
                  <a:srgbClr val="16202E"/>
                </a:solidFill>
              </a:rPr>
              <a:t>Cognito</a:t>
            </a:r>
            <a:endParaRPr lang="en-US" sz="1300" dirty="0"/>
          </a:p>
        </p:txBody>
      </p:sp>
      <p:sp>
        <p:nvSpPr>
          <p:cNvPr id="21" name="Text 16"/>
          <p:cNvSpPr txBox="1"/>
          <p:nvPr/>
        </p:nvSpPr>
        <p:spPr>
          <a:xfrm>
            <a:off x="4379976" y="2651760"/>
            <a:ext cx="1371600" cy="411480"/>
          </a:xfrm>
          <a:prstGeom prst="rect">
            <a:avLst/>
          </a:prstGeom>
          <a:noFill/>
          <a:ln/>
        </p:spPr>
        <p:txBody>
          <a:bodyPr wrap="square" lIns="0" tIns="0" rIns="0" bIns="0" rtlCol="0" anchor="t"/>
          <a:lstStyle/>
          <a:p>
            <a:pPr marL="0" indent="0">
              <a:buNone/>
            </a:pPr>
            <a:r>
              <a:rPr lang="en-US" sz="1000" dirty="0">
                <a:solidFill>
                  <a:srgbClr val="5B6472"/>
                </a:solidFill>
              </a:rPr>
              <a:t>Sign-in, roles as groups</a:t>
            </a:r>
            <a:endParaRPr lang="en-US" sz="1000" dirty="0"/>
          </a:p>
        </p:txBody>
      </p:sp>
      <p:sp>
        <p:nvSpPr>
          <p:cNvPr id="22" name="Shape 17"/>
          <p:cNvSpPr/>
          <p:nvPr/>
        </p:nvSpPr>
        <p:spPr>
          <a:xfrm>
            <a:off x="5916168" y="2400300"/>
            <a:ext cx="192024" cy="0"/>
          </a:xfrm>
          <a:prstGeom prst="line">
            <a:avLst/>
          </a:prstGeom>
          <a:noFill/>
          <a:ln w="19050">
            <a:solidFill>
              <a:srgbClr val="5B6472"/>
            </a:solidFill>
            <a:prstDash val="solid"/>
            <a:tailEnd type="triangle"/>
          </a:ln>
        </p:spPr>
        <p:txBody>
          <a:bodyPr/>
          <a:lstStyle/>
          <a:p>
            <a:endParaRPr lang="en-IN"/>
          </a:p>
        </p:txBody>
      </p:sp>
      <p:sp>
        <p:nvSpPr>
          <p:cNvPr id="23" name="API Gateway"/>
          <p:cNvSpPr/>
          <p:nvPr/>
        </p:nvSpPr>
        <p:spPr>
          <a:xfrm>
            <a:off x="6135624" y="1691640"/>
            <a:ext cx="1645920" cy="1417320"/>
          </a:xfrm>
          <a:prstGeom prst="roundRect">
            <a:avLst>
              <a:gd name="adj" fmla="val 6452"/>
            </a:avLst>
          </a:prstGeom>
          <a:solidFill>
            <a:srgbClr val="FFFFFF"/>
          </a:solidFill>
          <a:ln w="12700">
            <a:solidFill>
              <a:srgbClr val="E2DED4"/>
            </a:solidFill>
            <a:prstDash val="solid"/>
          </a:ln>
        </p:spPr>
        <p:txBody>
          <a:bodyPr/>
          <a:lstStyle/>
          <a:p>
            <a:endParaRPr lang="en-IN"/>
          </a:p>
        </p:txBody>
      </p:sp>
      <p:sp>
        <p:nvSpPr>
          <p:cNvPr id="24" name="Shape 19"/>
          <p:cNvSpPr/>
          <p:nvPr/>
        </p:nvSpPr>
        <p:spPr>
          <a:xfrm>
            <a:off x="6272784" y="1828800"/>
            <a:ext cx="457200" cy="457200"/>
          </a:xfrm>
          <a:prstGeom prst="ellipse">
            <a:avLst/>
          </a:prstGeom>
          <a:solidFill>
            <a:schemeClr val="accent3"/>
          </a:solidFill>
          <a:ln w="12700">
            <a:solidFill>
              <a:schemeClr val="accent3"/>
            </a:solidFill>
            <a:prstDash val="solid"/>
          </a:ln>
        </p:spPr>
        <p:txBody>
          <a:bodyPr/>
          <a:lstStyle/>
          <a:p>
            <a:endParaRPr lang="en-IN"/>
          </a:p>
        </p:txBody>
      </p:sp>
      <p:pic>
        <p:nvPicPr>
          <p:cNvPr id="25" name="Image 3" descr="preencoded.png"/>
          <p:cNvPicPr>
            <a:picLocks noChangeAspect="1"/>
          </p:cNvPicPr>
          <p:nvPr/>
        </p:nvPicPr>
        <p:blipFill>
          <a:blip r:embed="rId6"/>
          <a:stretch>
            <a:fillRect/>
          </a:stretch>
        </p:blipFill>
        <p:spPr>
          <a:xfrm>
            <a:off x="6373368" y="1929384"/>
            <a:ext cx="256032" cy="256032"/>
          </a:xfrm>
          <a:prstGeom prst="rect">
            <a:avLst/>
          </a:prstGeom>
        </p:spPr>
      </p:pic>
      <p:sp>
        <p:nvSpPr>
          <p:cNvPr id="26" name="Text 20"/>
          <p:cNvSpPr txBox="1"/>
          <p:nvPr/>
        </p:nvSpPr>
        <p:spPr>
          <a:xfrm>
            <a:off x="6272784" y="2377440"/>
            <a:ext cx="1371600" cy="274320"/>
          </a:xfrm>
          <a:prstGeom prst="rect">
            <a:avLst/>
          </a:prstGeom>
          <a:noFill/>
          <a:ln/>
        </p:spPr>
        <p:txBody>
          <a:bodyPr wrap="square" lIns="0" tIns="0" rIns="0" bIns="0" rtlCol="0" anchor="t"/>
          <a:lstStyle/>
          <a:p>
            <a:pPr marL="0" indent="0">
              <a:buNone/>
            </a:pPr>
            <a:r>
              <a:rPr lang="en-US" sz="1300" b="1" dirty="0">
                <a:solidFill>
                  <a:srgbClr val="16202E"/>
                </a:solidFill>
              </a:rPr>
              <a:t>API Gateway</a:t>
            </a:r>
            <a:endParaRPr lang="en-US" sz="1300" dirty="0"/>
          </a:p>
        </p:txBody>
      </p:sp>
      <p:sp>
        <p:nvSpPr>
          <p:cNvPr id="27" name="Text 21"/>
          <p:cNvSpPr txBox="1"/>
          <p:nvPr/>
        </p:nvSpPr>
        <p:spPr>
          <a:xfrm>
            <a:off x="6272784" y="2651760"/>
            <a:ext cx="1371600" cy="411480"/>
          </a:xfrm>
          <a:prstGeom prst="rect">
            <a:avLst/>
          </a:prstGeom>
          <a:noFill/>
          <a:ln/>
        </p:spPr>
        <p:txBody>
          <a:bodyPr wrap="square" lIns="0" tIns="0" rIns="0" bIns="0" rtlCol="0" anchor="t"/>
          <a:lstStyle/>
          <a:p>
            <a:pPr marL="0" indent="0">
              <a:buNone/>
            </a:pPr>
            <a:r>
              <a:rPr lang="en-US" sz="1000" dirty="0">
                <a:solidFill>
                  <a:srgbClr val="5B6472"/>
                </a:solidFill>
              </a:rPr>
              <a:t>HTTP API, JWT check</a:t>
            </a:r>
            <a:endParaRPr lang="en-US" sz="1000" dirty="0"/>
          </a:p>
        </p:txBody>
      </p:sp>
      <p:sp>
        <p:nvSpPr>
          <p:cNvPr id="28" name="Shape 22"/>
          <p:cNvSpPr/>
          <p:nvPr/>
        </p:nvSpPr>
        <p:spPr>
          <a:xfrm>
            <a:off x="7808976" y="2400300"/>
            <a:ext cx="192024" cy="0"/>
          </a:xfrm>
          <a:prstGeom prst="line">
            <a:avLst/>
          </a:prstGeom>
          <a:noFill/>
          <a:ln w="19050">
            <a:solidFill>
              <a:srgbClr val="5B6472"/>
            </a:solidFill>
            <a:prstDash val="solid"/>
            <a:tailEnd type="triangle"/>
          </a:ln>
        </p:spPr>
        <p:txBody>
          <a:bodyPr/>
          <a:lstStyle/>
          <a:p>
            <a:endParaRPr lang="en-IN"/>
          </a:p>
        </p:txBody>
      </p:sp>
      <p:sp>
        <p:nvSpPr>
          <p:cNvPr id="29" name="Lambda"/>
          <p:cNvSpPr/>
          <p:nvPr/>
        </p:nvSpPr>
        <p:spPr>
          <a:xfrm>
            <a:off x="8028432" y="1691640"/>
            <a:ext cx="1645920" cy="1417320"/>
          </a:xfrm>
          <a:prstGeom prst="roundRect">
            <a:avLst>
              <a:gd name="adj" fmla="val 6452"/>
            </a:avLst>
          </a:prstGeom>
          <a:solidFill>
            <a:srgbClr val="0F5F5C"/>
          </a:solidFill>
          <a:ln w="12700">
            <a:solidFill>
              <a:srgbClr val="0F5F5C"/>
            </a:solidFill>
            <a:prstDash val="solid"/>
          </a:ln>
        </p:spPr>
        <p:txBody>
          <a:bodyPr/>
          <a:lstStyle/>
          <a:p>
            <a:endParaRPr lang="en-IN"/>
          </a:p>
        </p:txBody>
      </p:sp>
      <p:sp>
        <p:nvSpPr>
          <p:cNvPr id="30" name="Shape 24"/>
          <p:cNvSpPr/>
          <p:nvPr/>
        </p:nvSpPr>
        <p:spPr>
          <a:xfrm>
            <a:off x="8165592" y="1828800"/>
            <a:ext cx="457200" cy="457200"/>
          </a:xfrm>
          <a:prstGeom prst="ellipse">
            <a:avLst/>
          </a:prstGeom>
          <a:solidFill>
            <a:srgbClr val="FFFFFF"/>
          </a:solidFill>
          <a:ln w="12700">
            <a:solidFill>
              <a:srgbClr val="FFFFFF"/>
            </a:solidFill>
            <a:prstDash val="solid"/>
          </a:ln>
        </p:spPr>
        <p:txBody>
          <a:bodyPr/>
          <a:lstStyle/>
          <a:p>
            <a:endParaRPr lang="en-IN"/>
          </a:p>
        </p:txBody>
      </p:sp>
      <p:pic>
        <p:nvPicPr>
          <p:cNvPr id="31" name="Image 4" descr="preencoded.png"/>
          <p:cNvPicPr>
            <a:picLocks noChangeAspect="1"/>
          </p:cNvPicPr>
          <p:nvPr/>
        </p:nvPicPr>
        <p:blipFill>
          <a:blip r:embed="rId7"/>
          <a:stretch>
            <a:fillRect/>
          </a:stretch>
        </p:blipFill>
        <p:spPr>
          <a:xfrm>
            <a:off x="8266176" y="1929384"/>
            <a:ext cx="256032" cy="256032"/>
          </a:xfrm>
          <a:prstGeom prst="rect">
            <a:avLst/>
          </a:prstGeom>
        </p:spPr>
      </p:pic>
      <p:sp>
        <p:nvSpPr>
          <p:cNvPr id="32" name="Text 25"/>
          <p:cNvSpPr txBox="1"/>
          <p:nvPr/>
        </p:nvSpPr>
        <p:spPr>
          <a:xfrm>
            <a:off x="8165592" y="2377440"/>
            <a:ext cx="1371600" cy="274320"/>
          </a:xfrm>
          <a:prstGeom prst="rect">
            <a:avLst/>
          </a:prstGeom>
          <a:noFill/>
          <a:ln/>
        </p:spPr>
        <p:txBody>
          <a:bodyPr wrap="square" lIns="0" tIns="0" rIns="0" bIns="0" rtlCol="0" anchor="t"/>
          <a:lstStyle/>
          <a:p>
            <a:pPr marL="0" indent="0">
              <a:buNone/>
            </a:pPr>
            <a:r>
              <a:rPr lang="en-US" sz="1300" b="1" dirty="0">
                <a:solidFill>
                  <a:srgbClr val="FFFFFF"/>
                </a:solidFill>
              </a:rPr>
              <a:t>Lambda</a:t>
            </a:r>
            <a:endParaRPr lang="en-US" sz="1300" dirty="0"/>
          </a:p>
        </p:txBody>
      </p:sp>
      <p:sp>
        <p:nvSpPr>
          <p:cNvPr id="33" name="Text 26"/>
          <p:cNvSpPr txBox="1"/>
          <p:nvPr/>
        </p:nvSpPr>
        <p:spPr>
          <a:xfrm>
            <a:off x="8165592" y="2651760"/>
            <a:ext cx="1371600" cy="411480"/>
          </a:xfrm>
          <a:prstGeom prst="rect">
            <a:avLst/>
          </a:prstGeom>
          <a:noFill/>
          <a:ln/>
        </p:spPr>
        <p:txBody>
          <a:bodyPr wrap="square" lIns="0" tIns="0" rIns="0" bIns="0" rtlCol="0" anchor="t"/>
          <a:lstStyle/>
          <a:p>
            <a:pPr marL="0" indent="0">
              <a:buNone/>
            </a:pPr>
            <a:r>
              <a:rPr lang="en-US" sz="1000" dirty="0">
                <a:solidFill>
                  <a:srgbClr val="E6F2F0"/>
                </a:solidFill>
              </a:rPr>
              <a:t>Express API + core engine</a:t>
            </a:r>
            <a:endParaRPr lang="en-US" sz="1000" dirty="0"/>
          </a:p>
        </p:txBody>
      </p:sp>
      <p:sp>
        <p:nvSpPr>
          <p:cNvPr id="34" name="Shape 27"/>
          <p:cNvSpPr/>
          <p:nvPr/>
        </p:nvSpPr>
        <p:spPr>
          <a:xfrm>
            <a:off x="9701784" y="2400300"/>
            <a:ext cx="192024" cy="0"/>
          </a:xfrm>
          <a:prstGeom prst="line">
            <a:avLst/>
          </a:prstGeom>
          <a:noFill/>
          <a:ln w="19050">
            <a:solidFill>
              <a:srgbClr val="5B6472"/>
            </a:solidFill>
            <a:prstDash val="solid"/>
            <a:tailEnd type="triangle"/>
          </a:ln>
        </p:spPr>
        <p:txBody>
          <a:bodyPr/>
          <a:lstStyle/>
          <a:p>
            <a:endParaRPr lang="en-IN"/>
          </a:p>
        </p:txBody>
      </p:sp>
      <p:sp>
        <p:nvSpPr>
          <p:cNvPr id="35" name="DynamoDB"/>
          <p:cNvSpPr/>
          <p:nvPr/>
        </p:nvSpPr>
        <p:spPr>
          <a:xfrm>
            <a:off x="9921240" y="1691640"/>
            <a:ext cx="1645920" cy="1417320"/>
          </a:xfrm>
          <a:prstGeom prst="roundRect">
            <a:avLst>
              <a:gd name="adj" fmla="val 6452"/>
            </a:avLst>
          </a:prstGeom>
          <a:solidFill>
            <a:srgbClr val="FFFFFF"/>
          </a:solidFill>
          <a:ln w="12700">
            <a:solidFill>
              <a:srgbClr val="E2DED4"/>
            </a:solidFill>
            <a:prstDash val="solid"/>
          </a:ln>
        </p:spPr>
        <p:txBody>
          <a:bodyPr/>
          <a:lstStyle/>
          <a:p>
            <a:endParaRPr lang="en-IN"/>
          </a:p>
        </p:txBody>
      </p:sp>
      <p:sp>
        <p:nvSpPr>
          <p:cNvPr id="36" name="Shape 29"/>
          <p:cNvSpPr/>
          <p:nvPr/>
        </p:nvSpPr>
        <p:spPr>
          <a:xfrm>
            <a:off x="10058400" y="1828800"/>
            <a:ext cx="457200" cy="457200"/>
          </a:xfrm>
          <a:prstGeom prst="ellipse">
            <a:avLst/>
          </a:prstGeom>
          <a:solidFill>
            <a:schemeClr val="accent3"/>
          </a:solidFill>
          <a:ln w="12700">
            <a:solidFill>
              <a:schemeClr val="accent3"/>
            </a:solidFill>
            <a:prstDash val="solid"/>
          </a:ln>
        </p:spPr>
        <p:txBody>
          <a:bodyPr/>
          <a:lstStyle/>
          <a:p>
            <a:endParaRPr lang="en-IN"/>
          </a:p>
        </p:txBody>
      </p:sp>
      <p:pic>
        <p:nvPicPr>
          <p:cNvPr id="37" name="Image 5" descr="preencoded.png"/>
          <p:cNvPicPr>
            <a:picLocks noChangeAspect="1"/>
          </p:cNvPicPr>
          <p:nvPr/>
        </p:nvPicPr>
        <p:blipFill>
          <a:blip r:embed="rId8"/>
          <a:stretch>
            <a:fillRect/>
          </a:stretch>
        </p:blipFill>
        <p:spPr>
          <a:xfrm>
            <a:off x="10158984" y="1929384"/>
            <a:ext cx="256032" cy="256032"/>
          </a:xfrm>
          <a:prstGeom prst="rect">
            <a:avLst/>
          </a:prstGeom>
        </p:spPr>
      </p:pic>
      <p:sp>
        <p:nvSpPr>
          <p:cNvPr id="38" name="Text 30"/>
          <p:cNvSpPr txBox="1"/>
          <p:nvPr/>
        </p:nvSpPr>
        <p:spPr>
          <a:xfrm>
            <a:off x="10058400" y="2377440"/>
            <a:ext cx="1371600" cy="274320"/>
          </a:xfrm>
          <a:prstGeom prst="rect">
            <a:avLst/>
          </a:prstGeom>
          <a:noFill/>
          <a:ln/>
        </p:spPr>
        <p:txBody>
          <a:bodyPr wrap="square" lIns="0" tIns="0" rIns="0" bIns="0" rtlCol="0" anchor="t"/>
          <a:lstStyle/>
          <a:p>
            <a:pPr marL="0" indent="0">
              <a:buNone/>
            </a:pPr>
            <a:r>
              <a:rPr lang="en-US" sz="1300" b="1" dirty="0">
                <a:solidFill>
                  <a:srgbClr val="16202E"/>
                </a:solidFill>
              </a:rPr>
              <a:t>DynamoDB</a:t>
            </a:r>
            <a:endParaRPr lang="en-US" sz="1300" dirty="0"/>
          </a:p>
        </p:txBody>
      </p:sp>
      <p:sp>
        <p:nvSpPr>
          <p:cNvPr id="39" name="Text 31"/>
          <p:cNvSpPr txBox="1"/>
          <p:nvPr/>
        </p:nvSpPr>
        <p:spPr>
          <a:xfrm>
            <a:off x="10058400" y="2651760"/>
            <a:ext cx="1371600" cy="411480"/>
          </a:xfrm>
          <a:prstGeom prst="rect">
            <a:avLst/>
          </a:prstGeom>
          <a:noFill/>
          <a:ln/>
        </p:spPr>
        <p:txBody>
          <a:bodyPr wrap="square" lIns="0" tIns="0" rIns="0" bIns="0" rtlCol="0" anchor="t"/>
          <a:lstStyle/>
          <a:p>
            <a:pPr marL="0" indent="0">
              <a:buNone/>
            </a:pPr>
            <a:r>
              <a:rPr lang="en-US" sz="1000" dirty="0">
                <a:solidFill>
                  <a:srgbClr val="5B6472"/>
                </a:solidFill>
              </a:rPr>
              <a:t>One table, holds in transactions</a:t>
            </a:r>
            <a:endParaRPr lang="en-US" sz="1000" dirty="0"/>
          </a:p>
        </p:txBody>
      </p:sp>
      <p:sp>
        <p:nvSpPr>
          <p:cNvPr id="40" name="Text 32"/>
          <p:cNvSpPr txBox="1"/>
          <p:nvPr/>
        </p:nvSpPr>
        <p:spPr>
          <a:xfrm>
            <a:off x="457200" y="3273552"/>
            <a:ext cx="3657600" cy="228600"/>
          </a:xfrm>
          <a:prstGeom prst="rect">
            <a:avLst/>
          </a:prstGeom>
          <a:noFill/>
          <a:ln/>
        </p:spPr>
        <p:txBody>
          <a:bodyPr wrap="square" lIns="0" tIns="0" rIns="0" bIns="0" rtlCol="0" anchor="t"/>
          <a:lstStyle/>
          <a:p>
            <a:pPr marL="0" indent="0">
              <a:buNone/>
            </a:pPr>
            <a:r>
              <a:rPr lang="en-US" sz="1100" b="1" dirty="0">
                <a:solidFill>
                  <a:srgbClr val="5B6472"/>
                </a:solidFill>
              </a:rPr>
              <a:t>The API also uses</a:t>
            </a:r>
            <a:endParaRPr lang="en-US" sz="1100" dirty="0"/>
          </a:p>
        </p:txBody>
      </p:sp>
      <p:sp>
        <p:nvSpPr>
          <p:cNvPr id="41" name="SES"/>
          <p:cNvSpPr/>
          <p:nvPr/>
        </p:nvSpPr>
        <p:spPr>
          <a:xfrm>
            <a:off x="457200" y="3566160"/>
            <a:ext cx="2670048" cy="566928"/>
          </a:xfrm>
          <a:prstGeom prst="roundRect">
            <a:avLst>
              <a:gd name="adj" fmla="val 16129"/>
            </a:avLst>
          </a:prstGeom>
          <a:solidFill>
            <a:schemeClr val="accent3"/>
          </a:solidFill>
          <a:ln w="12700">
            <a:solidFill>
              <a:schemeClr val="accent3"/>
            </a:solidFill>
            <a:prstDash val="solid"/>
          </a:ln>
        </p:spPr>
        <p:txBody>
          <a:bodyPr/>
          <a:lstStyle/>
          <a:p>
            <a:endParaRPr lang="en-IN"/>
          </a:p>
        </p:txBody>
      </p:sp>
      <p:pic>
        <p:nvPicPr>
          <p:cNvPr id="42" name="Image 6" descr="preencoded.png"/>
          <p:cNvPicPr>
            <a:picLocks noChangeAspect="1"/>
          </p:cNvPicPr>
          <p:nvPr/>
        </p:nvPicPr>
        <p:blipFill>
          <a:blip r:embed="rId9"/>
          <a:stretch>
            <a:fillRect/>
          </a:stretch>
        </p:blipFill>
        <p:spPr>
          <a:xfrm>
            <a:off x="594360" y="3739896"/>
            <a:ext cx="219456" cy="219456"/>
          </a:xfrm>
          <a:prstGeom prst="rect">
            <a:avLst/>
          </a:prstGeom>
        </p:spPr>
      </p:pic>
      <p:sp>
        <p:nvSpPr>
          <p:cNvPr id="43" name="Text 34"/>
          <p:cNvSpPr txBox="1"/>
          <p:nvPr/>
        </p:nvSpPr>
        <p:spPr>
          <a:xfrm>
            <a:off x="914400" y="3639312"/>
            <a:ext cx="2121408" cy="219456"/>
          </a:xfrm>
          <a:prstGeom prst="rect">
            <a:avLst/>
          </a:prstGeom>
          <a:noFill/>
          <a:ln/>
        </p:spPr>
        <p:txBody>
          <a:bodyPr wrap="square" lIns="0" tIns="0" rIns="0" bIns="0" rtlCol="0" anchor="t"/>
          <a:lstStyle/>
          <a:p>
            <a:pPr marL="0" indent="0">
              <a:buNone/>
            </a:pPr>
            <a:r>
              <a:rPr lang="en-US" sz="1150" b="1" dirty="0">
                <a:solidFill>
                  <a:srgbClr val="0F5F5C"/>
                </a:solidFill>
              </a:rPr>
              <a:t>SES</a:t>
            </a:r>
            <a:endParaRPr lang="en-US" sz="1150" dirty="0"/>
          </a:p>
        </p:txBody>
      </p:sp>
      <p:sp>
        <p:nvSpPr>
          <p:cNvPr id="44" name="Text 35"/>
          <p:cNvSpPr txBox="1"/>
          <p:nvPr/>
        </p:nvSpPr>
        <p:spPr>
          <a:xfrm>
            <a:off x="914400" y="3858768"/>
            <a:ext cx="2121408" cy="219456"/>
          </a:xfrm>
          <a:prstGeom prst="rect">
            <a:avLst/>
          </a:prstGeom>
          <a:noFill/>
          <a:ln/>
        </p:spPr>
        <p:txBody>
          <a:bodyPr wrap="square" lIns="0" tIns="0" rIns="0" bIns="0" rtlCol="0" anchor="t"/>
          <a:lstStyle/>
          <a:p>
            <a:pPr marL="0" indent="0">
              <a:buNone/>
            </a:pPr>
            <a:r>
              <a:rPr lang="en-US" sz="1000" dirty="0">
                <a:solidFill>
                  <a:srgbClr val="16202E"/>
                </a:solidFill>
              </a:rPr>
              <a:t>Quote and invoice PDFs by email</a:t>
            </a:r>
            <a:endParaRPr lang="en-US" sz="1000" dirty="0"/>
          </a:p>
        </p:txBody>
      </p:sp>
      <p:sp>
        <p:nvSpPr>
          <p:cNvPr id="45" name="EventBridge Scheduler"/>
          <p:cNvSpPr/>
          <p:nvPr/>
        </p:nvSpPr>
        <p:spPr>
          <a:xfrm>
            <a:off x="3319272" y="3566160"/>
            <a:ext cx="2670048" cy="566928"/>
          </a:xfrm>
          <a:prstGeom prst="roundRect">
            <a:avLst>
              <a:gd name="adj" fmla="val 16129"/>
            </a:avLst>
          </a:prstGeom>
          <a:solidFill>
            <a:schemeClr val="accent3"/>
          </a:solidFill>
          <a:ln w="12700">
            <a:solidFill>
              <a:schemeClr val="accent3"/>
            </a:solidFill>
            <a:prstDash val="solid"/>
          </a:ln>
        </p:spPr>
        <p:txBody>
          <a:bodyPr/>
          <a:lstStyle/>
          <a:p>
            <a:endParaRPr lang="en-IN"/>
          </a:p>
        </p:txBody>
      </p:sp>
      <p:pic>
        <p:nvPicPr>
          <p:cNvPr id="46" name="Image 7" descr="preencoded.png"/>
          <p:cNvPicPr>
            <a:picLocks noChangeAspect="1"/>
          </p:cNvPicPr>
          <p:nvPr/>
        </p:nvPicPr>
        <p:blipFill>
          <a:blip r:embed="rId10"/>
          <a:stretch>
            <a:fillRect/>
          </a:stretch>
        </p:blipFill>
        <p:spPr>
          <a:xfrm>
            <a:off x="3456432" y="3739896"/>
            <a:ext cx="219456" cy="219456"/>
          </a:xfrm>
          <a:prstGeom prst="rect">
            <a:avLst/>
          </a:prstGeom>
        </p:spPr>
      </p:pic>
      <p:sp>
        <p:nvSpPr>
          <p:cNvPr id="47" name="Text 37"/>
          <p:cNvSpPr txBox="1"/>
          <p:nvPr/>
        </p:nvSpPr>
        <p:spPr>
          <a:xfrm>
            <a:off x="3776472" y="3639312"/>
            <a:ext cx="2121408" cy="219456"/>
          </a:xfrm>
          <a:prstGeom prst="rect">
            <a:avLst/>
          </a:prstGeom>
          <a:noFill/>
          <a:ln/>
        </p:spPr>
        <p:txBody>
          <a:bodyPr wrap="square" lIns="0" tIns="0" rIns="0" bIns="0" rtlCol="0" anchor="t"/>
          <a:lstStyle/>
          <a:p>
            <a:pPr marL="0" indent="0">
              <a:buNone/>
            </a:pPr>
            <a:r>
              <a:rPr lang="en-US" sz="1150" b="1" dirty="0">
                <a:solidFill>
                  <a:srgbClr val="0F5F5C"/>
                </a:solidFill>
              </a:rPr>
              <a:t>EventBridge Scheduler</a:t>
            </a:r>
            <a:endParaRPr lang="en-US" sz="1150" dirty="0"/>
          </a:p>
        </p:txBody>
      </p:sp>
      <p:sp>
        <p:nvSpPr>
          <p:cNvPr id="48" name="Text 38"/>
          <p:cNvSpPr txBox="1"/>
          <p:nvPr/>
        </p:nvSpPr>
        <p:spPr>
          <a:xfrm>
            <a:off x="3776472" y="3858768"/>
            <a:ext cx="2121408" cy="219456"/>
          </a:xfrm>
          <a:prstGeom prst="rect">
            <a:avLst/>
          </a:prstGeom>
          <a:noFill/>
          <a:ln/>
        </p:spPr>
        <p:txBody>
          <a:bodyPr wrap="square" lIns="0" tIns="0" rIns="0" bIns="0" rtlCol="0" anchor="t"/>
          <a:lstStyle/>
          <a:p>
            <a:pPr marL="0" indent="0">
              <a:buNone/>
            </a:pPr>
            <a:r>
              <a:rPr lang="en-US" sz="1000" dirty="0">
                <a:solidFill>
                  <a:srgbClr val="16202E"/>
                </a:solidFill>
              </a:rPr>
              <a:t>Releases holds when they expire</a:t>
            </a:r>
            <a:endParaRPr lang="en-US" sz="1000" dirty="0"/>
          </a:p>
        </p:txBody>
      </p:sp>
      <p:sp>
        <p:nvSpPr>
          <p:cNvPr id="49" name="S3"/>
          <p:cNvSpPr/>
          <p:nvPr/>
        </p:nvSpPr>
        <p:spPr>
          <a:xfrm>
            <a:off x="6181344" y="3566160"/>
            <a:ext cx="2670048" cy="566928"/>
          </a:xfrm>
          <a:prstGeom prst="roundRect">
            <a:avLst>
              <a:gd name="adj" fmla="val 16129"/>
            </a:avLst>
          </a:prstGeom>
          <a:solidFill>
            <a:schemeClr val="accent3"/>
          </a:solidFill>
          <a:ln w="12700">
            <a:solidFill>
              <a:schemeClr val="accent3"/>
            </a:solidFill>
            <a:prstDash val="solid"/>
          </a:ln>
        </p:spPr>
        <p:txBody>
          <a:bodyPr/>
          <a:lstStyle/>
          <a:p>
            <a:endParaRPr lang="en-IN"/>
          </a:p>
        </p:txBody>
      </p:sp>
      <p:pic>
        <p:nvPicPr>
          <p:cNvPr id="50" name="Image 8" descr="preencoded.png"/>
          <p:cNvPicPr>
            <a:picLocks noChangeAspect="1"/>
          </p:cNvPicPr>
          <p:nvPr/>
        </p:nvPicPr>
        <p:blipFill>
          <a:blip r:embed="rId11"/>
          <a:stretch>
            <a:fillRect/>
          </a:stretch>
        </p:blipFill>
        <p:spPr>
          <a:xfrm>
            <a:off x="6318504" y="3739896"/>
            <a:ext cx="219456" cy="219456"/>
          </a:xfrm>
          <a:prstGeom prst="rect">
            <a:avLst/>
          </a:prstGeom>
        </p:spPr>
      </p:pic>
      <p:sp>
        <p:nvSpPr>
          <p:cNvPr id="51" name="Text 40"/>
          <p:cNvSpPr txBox="1"/>
          <p:nvPr/>
        </p:nvSpPr>
        <p:spPr>
          <a:xfrm>
            <a:off x="6638544" y="3639312"/>
            <a:ext cx="2121408" cy="219456"/>
          </a:xfrm>
          <a:prstGeom prst="rect">
            <a:avLst/>
          </a:prstGeom>
          <a:noFill/>
          <a:ln/>
        </p:spPr>
        <p:txBody>
          <a:bodyPr wrap="square" lIns="0" tIns="0" rIns="0" bIns="0" rtlCol="0" anchor="t"/>
          <a:lstStyle/>
          <a:p>
            <a:pPr marL="0" indent="0">
              <a:buNone/>
            </a:pPr>
            <a:r>
              <a:rPr lang="en-US" sz="1150" b="1" dirty="0">
                <a:solidFill>
                  <a:srgbClr val="0F5F5C"/>
                </a:solidFill>
              </a:rPr>
              <a:t>S3</a:t>
            </a:r>
            <a:endParaRPr lang="en-US" sz="1150" dirty="0"/>
          </a:p>
        </p:txBody>
      </p:sp>
      <p:sp>
        <p:nvSpPr>
          <p:cNvPr id="52" name="Text 41"/>
          <p:cNvSpPr txBox="1"/>
          <p:nvPr/>
        </p:nvSpPr>
        <p:spPr>
          <a:xfrm>
            <a:off x="6638544" y="3858768"/>
            <a:ext cx="2121408" cy="219456"/>
          </a:xfrm>
          <a:prstGeom prst="rect">
            <a:avLst/>
          </a:prstGeom>
          <a:noFill/>
          <a:ln/>
        </p:spPr>
        <p:txBody>
          <a:bodyPr wrap="square" lIns="0" tIns="0" rIns="0" bIns="0" rtlCol="0" anchor="t"/>
          <a:lstStyle/>
          <a:p>
            <a:pPr marL="0" indent="0">
              <a:buNone/>
            </a:pPr>
            <a:r>
              <a:rPr lang="en-US" sz="1000" dirty="0">
                <a:solidFill>
                  <a:srgbClr val="16202E"/>
                </a:solidFill>
              </a:rPr>
              <a:t>CSV and JSON imports and exports</a:t>
            </a:r>
            <a:endParaRPr lang="en-US" sz="1000" dirty="0"/>
          </a:p>
        </p:txBody>
      </p:sp>
      <p:sp>
        <p:nvSpPr>
          <p:cNvPr id="53" name="CloudWatch"/>
          <p:cNvSpPr/>
          <p:nvPr/>
        </p:nvSpPr>
        <p:spPr>
          <a:xfrm>
            <a:off x="9043416" y="3566160"/>
            <a:ext cx="2670048" cy="566928"/>
          </a:xfrm>
          <a:prstGeom prst="roundRect">
            <a:avLst>
              <a:gd name="adj" fmla="val 16129"/>
            </a:avLst>
          </a:prstGeom>
          <a:solidFill>
            <a:schemeClr val="accent3"/>
          </a:solidFill>
          <a:ln w="12700">
            <a:solidFill>
              <a:schemeClr val="accent3"/>
            </a:solidFill>
            <a:prstDash val="solid"/>
          </a:ln>
        </p:spPr>
        <p:txBody>
          <a:bodyPr/>
          <a:lstStyle/>
          <a:p>
            <a:endParaRPr lang="en-IN"/>
          </a:p>
        </p:txBody>
      </p:sp>
      <p:pic>
        <p:nvPicPr>
          <p:cNvPr id="54" name="Image 9" descr="preencoded.png"/>
          <p:cNvPicPr>
            <a:picLocks noChangeAspect="1"/>
          </p:cNvPicPr>
          <p:nvPr/>
        </p:nvPicPr>
        <p:blipFill>
          <a:blip r:embed="rId12"/>
          <a:stretch>
            <a:fillRect/>
          </a:stretch>
        </p:blipFill>
        <p:spPr>
          <a:xfrm>
            <a:off x="9180576" y="3739896"/>
            <a:ext cx="219456" cy="219456"/>
          </a:xfrm>
          <a:prstGeom prst="rect">
            <a:avLst/>
          </a:prstGeom>
        </p:spPr>
      </p:pic>
      <p:sp>
        <p:nvSpPr>
          <p:cNvPr id="55" name="Text 43"/>
          <p:cNvSpPr txBox="1"/>
          <p:nvPr/>
        </p:nvSpPr>
        <p:spPr>
          <a:xfrm>
            <a:off x="9500616" y="3639312"/>
            <a:ext cx="2121408" cy="219456"/>
          </a:xfrm>
          <a:prstGeom prst="rect">
            <a:avLst/>
          </a:prstGeom>
          <a:noFill/>
          <a:ln/>
        </p:spPr>
        <p:txBody>
          <a:bodyPr wrap="square" lIns="0" tIns="0" rIns="0" bIns="0" rtlCol="0" anchor="t"/>
          <a:lstStyle/>
          <a:p>
            <a:pPr marL="0" indent="0">
              <a:buNone/>
            </a:pPr>
            <a:r>
              <a:rPr lang="en-US" sz="1150" b="1" dirty="0">
                <a:solidFill>
                  <a:srgbClr val="0F5F5C"/>
                </a:solidFill>
              </a:rPr>
              <a:t>CloudWatch</a:t>
            </a:r>
            <a:endParaRPr lang="en-US" sz="1150" dirty="0"/>
          </a:p>
        </p:txBody>
      </p:sp>
      <p:sp>
        <p:nvSpPr>
          <p:cNvPr id="56" name="Text 44"/>
          <p:cNvSpPr txBox="1"/>
          <p:nvPr/>
        </p:nvSpPr>
        <p:spPr>
          <a:xfrm>
            <a:off x="9500616" y="3858768"/>
            <a:ext cx="2121408" cy="219456"/>
          </a:xfrm>
          <a:prstGeom prst="rect">
            <a:avLst/>
          </a:prstGeom>
          <a:noFill/>
          <a:ln/>
        </p:spPr>
        <p:txBody>
          <a:bodyPr wrap="square" lIns="0" tIns="0" rIns="0" bIns="0" rtlCol="0" anchor="t"/>
          <a:lstStyle/>
          <a:p>
            <a:pPr marL="0" indent="0">
              <a:buNone/>
            </a:pPr>
            <a:r>
              <a:rPr lang="en-US" sz="1000" dirty="0">
                <a:solidFill>
                  <a:srgbClr val="16202E"/>
                </a:solidFill>
              </a:rPr>
              <a:t>Logs, alarms, dashboards</a:t>
            </a:r>
            <a:endParaRPr lang="en-US" sz="1000" dirty="0"/>
          </a:p>
        </p:txBody>
      </p:sp>
      <p:sp>
        <p:nvSpPr>
          <p:cNvPr id="57" name="Frontend"/>
          <p:cNvSpPr/>
          <p:nvPr/>
        </p:nvSpPr>
        <p:spPr>
          <a:xfrm>
            <a:off x="914400" y="4434840"/>
            <a:ext cx="2670048" cy="1783080"/>
          </a:xfrm>
          <a:prstGeom prst="roundRect">
            <a:avLst>
              <a:gd name="adj" fmla="val 5128"/>
            </a:avLst>
          </a:prstGeom>
          <a:solidFill>
            <a:srgbClr val="FFFFFF"/>
          </a:solidFill>
          <a:ln w="12700">
            <a:solidFill>
              <a:srgbClr val="E2DED4"/>
            </a:solidFill>
            <a:prstDash val="solid"/>
          </a:ln>
        </p:spPr>
        <p:txBody>
          <a:bodyPr/>
          <a:lstStyle/>
          <a:p>
            <a:endParaRPr lang="en-IN"/>
          </a:p>
        </p:txBody>
      </p:sp>
      <p:sp>
        <p:nvSpPr>
          <p:cNvPr id="58" name="Text 46"/>
          <p:cNvSpPr txBox="1"/>
          <p:nvPr/>
        </p:nvSpPr>
        <p:spPr>
          <a:xfrm>
            <a:off x="1097280" y="4572000"/>
            <a:ext cx="2304288" cy="274320"/>
          </a:xfrm>
          <a:prstGeom prst="rect">
            <a:avLst/>
          </a:prstGeom>
          <a:noFill/>
          <a:ln/>
        </p:spPr>
        <p:txBody>
          <a:bodyPr wrap="square" lIns="0" tIns="0" rIns="0" bIns="0" rtlCol="0" anchor="t"/>
          <a:lstStyle/>
          <a:p>
            <a:pPr marL="0" indent="0">
              <a:buNone/>
            </a:pPr>
            <a:r>
              <a:rPr lang="en-US" sz="1400" b="1" dirty="0">
                <a:solidFill>
                  <a:srgbClr val="0F5F5C"/>
                </a:solidFill>
              </a:rPr>
              <a:t>Frontend</a:t>
            </a:r>
            <a:endParaRPr lang="en-US" sz="1400" dirty="0"/>
          </a:p>
        </p:txBody>
      </p:sp>
      <p:sp>
        <p:nvSpPr>
          <p:cNvPr id="59" name="Text 47"/>
          <p:cNvSpPr txBox="1"/>
          <p:nvPr/>
        </p:nvSpPr>
        <p:spPr>
          <a:xfrm>
            <a:off x="1097280" y="4937760"/>
            <a:ext cx="2350008" cy="11430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6202E"/>
                </a:solidFill>
              </a:rPr>
              <a:t>React 18 + TypeScript, Vite</a:t>
            </a:r>
            <a:endParaRPr lang="en-US" sz="1100" dirty="0"/>
          </a:p>
          <a:p>
            <a:pPr marL="342900" indent="-342900">
              <a:spcAft>
                <a:spcPts val="400"/>
              </a:spcAft>
              <a:buSzPct val="100000"/>
              <a:buChar char="•"/>
            </a:pPr>
            <a:r>
              <a:rPr lang="en-US" sz="1100" dirty="0">
                <a:solidFill>
                  <a:srgbClr val="16202E"/>
                </a:solidFill>
              </a:rPr>
              <a:t>Tailwind CSS 4, Inter font</a:t>
            </a:r>
            <a:endParaRPr lang="en-US" sz="1100" dirty="0"/>
          </a:p>
          <a:p>
            <a:pPr marL="342900" indent="-342900">
              <a:spcAft>
                <a:spcPts val="400"/>
              </a:spcAft>
              <a:buSzPct val="100000"/>
              <a:buChar char="•"/>
            </a:pPr>
            <a:r>
              <a:rPr lang="en-US" sz="1100" dirty="0">
                <a:solidFill>
                  <a:srgbClr val="16202E"/>
                </a:solidFill>
              </a:rPr>
              <a:t>TanStack Query (server state)</a:t>
            </a:r>
            <a:endParaRPr lang="en-US" sz="1100" dirty="0"/>
          </a:p>
          <a:p>
            <a:pPr marL="342900" indent="-342900">
              <a:spcAft>
                <a:spcPts val="400"/>
              </a:spcAft>
              <a:buSzPct val="100000"/>
              <a:buChar char="•"/>
            </a:pPr>
            <a:r>
              <a:rPr lang="en-US" sz="1100" dirty="0">
                <a:solidFill>
                  <a:srgbClr val="16202E"/>
                </a:solidFill>
              </a:rPr>
              <a:t>MSW mocks for offline work</a:t>
            </a:r>
            <a:endParaRPr lang="en-US" sz="1100" dirty="0"/>
          </a:p>
        </p:txBody>
      </p:sp>
      <p:sp>
        <p:nvSpPr>
          <p:cNvPr id="60" name="Backend"/>
          <p:cNvSpPr/>
          <p:nvPr/>
        </p:nvSpPr>
        <p:spPr>
          <a:xfrm>
            <a:off x="4530852" y="4434840"/>
            <a:ext cx="2670048" cy="1783080"/>
          </a:xfrm>
          <a:prstGeom prst="roundRect">
            <a:avLst>
              <a:gd name="adj" fmla="val 5128"/>
            </a:avLst>
          </a:prstGeom>
          <a:solidFill>
            <a:srgbClr val="FFFFFF"/>
          </a:solidFill>
          <a:ln w="12700">
            <a:solidFill>
              <a:srgbClr val="E2DED4"/>
            </a:solidFill>
            <a:prstDash val="solid"/>
          </a:ln>
        </p:spPr>
        <p:txBody>
          <a:bodyPr/>
          <a:lstStyle/>
          <a:p>
            <a:endParaRPr lang="en-IN"/>
          </a:p>
        </p:txBody>
      </p:sp>
      <p:sp>
        <p:nvSpPr>
          <p:cNvPr id="61" name="Text 49"/>
          <p:cNvSpPr txBox="1"/>
          <p:nvPr/>
        </p:nvSpPr>
        <p:spPr>
          <a:xfrm>
            <a:off x="4713732" y="4572000"/>
            <a:ext cx="2304288" cy="274320"/>
          </a:xfrm>
          <a:prstGeom prst="rect">
            <a:avLst/>
          </a:prstGeom>
          <a:noFill/>
          <a:ln/>
        </p:spPr>
        <p:txBody>
          <a:bodyPr wrap="square" lIns="0" tIns="0" rIns="0" bIns="0" rtlCol="0" anchor="t"/>
          <a:lstStyle/>
          <a:p>
            <a:pPr marL="0" indent="0">
              <a:buNone/>
            </a:pPr>
            <a:r>
              <a:rPr lang="en-US" sz="1400" b="1" dirty="0">
                <a:solidFill>
                  <a:srgbClr val="8A4B00"/>
                </a:solidFill>
              </a:rPr>
              <a:t>Backend</a:t>
            </a:r>
            <a:endParaRPr lang="en-US" sz="1400" dirty="0"/>
          </a:p>
        </p:txBody>
      </p:sp>
      <p:sp>
        <p:nvSpPr>
          <p:cNvPr id="62" name="Text 50"/>
          <p:cNvSpPr txBox="1"/>
          <p:nvPr/>
        </p:nvSpPr>
        <p:spPr>
          <a:xfrm>
            <a:off x="4713732" y="4937760"/>
            <a:ext cx="2350008" cy="11430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6202E"/>
                </a:solidFill>
              </a:rPr>
              <a:t>Node.js Express on Lambda</a:t>
            </a:r>
            <a:endParaRPr lang="en-US" sz="1100" dirty="0"/>
          </a:p>
          <a:p>
            <a:pPr marL="342900" indent="-342900">
              <a:spcAft>
                <a:spcPts val="400"/>
              </a:spcAft>
              <a:buSzPct val="100000"/>
              <a:buChar char="•"/>
            </a:pPr>
            <a:r>
              <a:rPr lang="en-US" sz="1100" dirty="0">
                <a:solidFill>
                  <a:srgbClr val="16202E"/>
                </a:solidFill>
              </a:rPr>
              <a:t>pdf-lib for quote PDFs</a:t>
            </a:r>
            <a:endParaRPr lang="en-US" sz="1100" dirty="0"/>
          </a:p>
        </p:txBody>
      </p:sp>
      <p:sp>
        <p:nvSpPr>
          <p:cNvPr id="63" name="Data and infra"/>
          <p:cNvSpPr/>
          <p:nvPr/>
        </p:nvSpPr>
        <p:spPr>
          <a:xfrm>
            <a:off x="8254793" y="4434840"/>
            <a:ext cx="2670048" cy="1783080"/>
          </a:xfrm>
          <a:prstGeom prst="roundRect">
            <a:avLst>
              <a:gd name="adj" fmla="val 5128"/>
            </a:avLst>
          </a:prstGeom>
          <a:solidFill>
            <a:srgbClr val="FFFFFF"/>
          </a:solidFill>
          <a:ln w="12700">
            <a:solidFill>
              <a:srgbClr val="E2DED4"/>
            </a:solidFill>
            <a:prstDash val="solid"/>
          </a:ln>
        </p:spPr>
        <p:txBody>
          <a:bodyPr/>
          <a:lstStyle/>
          <a:p>
            <a:endParaRPr lang="en-IN"/>
          </a:p>
        </p:txBody>
      </p:sp>
      <p:sp>
        <p:nvSpPr>
          <p:cNvPr id="64" name="Text 52"/>
          <p:cNvSpPr txBox="1"/>
          <p:nvPr/>
        </p:nvSpPr>
        <p:spPr>
          <a:xfrm>
            <a:off x="8437673" y="4572000"/>
            <a:ext cx="2304288" cy="274320"/>
          </a:xfrm>
          <a:prstGeom prst="rect">
            <a:avLst/>
          </a:prstGeom>
          <a:noFill/>
          <a:ln/>
        </p:spPr>
        <p:txBody>
          <a:bodyPr wrap="square" lIns="0" tIns="0" rIns="0" bIns="0" rtlCol="0" anchor="t"/>
          <a:lstStyle/>
          <a:p>
            <a:pPr marL="0" indent="0">
              <a:buNone/>
            </a:pPr>
            <a:r>
              <a:rPr lang="en-US" sz="1400" b="1" dirty="0">
                <a:solidFill>
                  <a:srgbClr val="0F5F5C"/>
                </a:solidFill>
              </a:rPr>
              <a:t>Data and infra</a:t>
            </a:r>
            <a:endParaRPr lang="en-US" sz="1400" dirty="0"/>
          </a:p>
        </p:txBody>
      </p:sp>
      <p:sp>
        <p:nvSpPr>
          <p:cNvPr id="65" name="Text 53"/>
          <p:cNvSpPr txBox="1"/>
          <p:nvPr/>
        </p:nvSpPr>
        <p:spPr>
          <a:xfrm>
            <a:off x="8437673" y="4937760"/>
            <a:ext cx="2350008" cy="11430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6202E"/>
                </a:solidFill>
              </a:rPr>
              <a:t>DynamoDB single table</a:t>
            </a:r>
            <a:endParaRPr lang="en-US" sz="1100" dirty="0"/>
          </a:p>
          <a:p>
            <a:pPr marL="342900" indent="-342900">
              <a:spcAft>
                <a:spcPts val="400"/>
              </a:spcAft>
              <a:buSzPct val="100000"/>
              <a:buChar char="•"/>
            </a:pPr>
            <a:r>
              <a:rPr lang="en-US" sz="1100" dirty="0">
                <a:solidFill>
                  <a:srgbClr val="16202E"/>
                </a:solidFill>
              </a:rPr>
              <a:t>Cognito, API Gateway, S3</a:t>
            </a:r>
            <a:endParaRPr lang="en-US" sz="1100" dirty="0"/>
          </a:p>
          <a:p>
            <a:pPr marL="342900" indent="-342900">
              <a:spcAft>
                <a:spcPts val="400"/>
              </a:spcAft>
              <a:buSzPct val="100000"/>
              <a:buChar char="•"/>
            </a:pPr>
            <a:r>
              <a:rPr lang="en-US" sz="1100" dirty="0">
                <a:solidFill>
                  <a:srgbClr val="16202E"/>
                </a:solidFill>
              </a:rPr>
              <a:t>AWS CDK v2 (TypeScript)</a:t>
            </a:r>
            <a:endParaRPr lang="en-US" sz="1100" dirty="0"/>
          </a:p>
          <a:p>
            <a:pPr marL="342900" indent="-342900">
              <a:spcAft>
                <a:spcPts val="400"/>
              </a:spcAft>
              <a:buSzPct val="100000"/>
              <a:buChar char="•"/>
            </a:pPr>
            <a:r>
              <a:rPr lang="en-US" sz="1100" dirty="0">
                <a:solidFill>
                  <a:srgbClr val="16202E"/>
                </a:solidFill>
              </a:rPr>
              <a:t>Stacks: data, auth, api, web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USER FLOW AND DEVELOPMENT PROCESS</a:t>
            </a:r>
            <a:endParaRPr lang="en-US" sz="1200" dirty="0"/>
          </a:p>
        </p:txBody>
      </p:sp>
      <p:sp>
        <p:nvSpPr>
          <p:cNvPr id="3" name="Text 1"/>
          <p:cNvSpPr txBox="1"/>
          <p:nvPr/>
        </p:nvSpPr>
        <p:spPr>
          <a:xfrm>
            <a:off x="457200" y="640080"/>
            <a:ext cx="11247120" cy="548640"/>
          </a:xfrm>
          <a:prstGeom prst="rect">
            <a:avLst/>
          </a:prstGeom>
          <a:noFill/>
          <a:ln/>
        </p:spPr>
        <p:txBody>
          <a:bodyPr wrap="square" lIns="0" tIns="0" rIns="0" bIns="0" rtlCol="0" anchor="t"/>
          <a:lstStyle/>
          <a:p>
            <a:pPr marL="0" indent="0">
              <a:buNone/>
            </a:pPr>
            <a:r>
              <a:rPr lang="en-US" sz="3200" b="1" dirty="0">
                <a:solidFill>
                  <a:schemeClr val="tx1"/>
                </a:solidFill>
              </a:rPr>
              <a:t>From group request to paid booking</a:t>
            </a:r>
            <a:endParaRPr lang="en-US" sz="3200" dirty="0"/>
          </a:p>
        </p:txBody>
      </p:sp>
      <p:sp>
        <p:nvSpPr>
          <p:cNvPr id="4" name="Text 2"/>
          <p:cNvSpPr txBox="1"/>
          <p:nvPr/>
        </p:nvSpPr>
        <p:spPr>
          <a:xfrm>
            <a:off x="457200" y="1188720"/>
            <a:ext cx="11247120" cy="274320"/>
          </a:xfrm>
          <a:prstGeom prst="rect">
            <a:avLst/>
          </a:prstGeom>
          <a:noFill/>
          <a:ln/>
        </p:spPr>
        <p:txBody>
          <a:bodyPr wrap="square" lIns="0" tIns="0" rIns="0" bIns="0" rtlCol="0" anchor="t"/>
          <a:lstStyle/>
          <a:p>
            <a:pPr marL="0" indent="0">
              <a:buNone/>
            </a:pPr>
            <a:r>
              <a:rPr lang="en-US" sz="1400" dirty="0">
                <a:solidFill>
                  <a:srgbClr val="5B6472"/>
                </a:solidFill>
              </a:rPr>
              <a:t>Three working roles share one quote; four tracks build it with a contract-first, test-first process</a:t>
            </a:r>
            <a:endParaRPr lang="en-US" sz="1400" dirty="0"/>
          </a:p>
        </p:txBody>
      </p:sp>
      <p:sp>
        <p:nvSpPr>
          <p:cNvPr id="5" name="Reception"/>
          <p:cNvSpPr/>
          <p:nvPr/>
        </p:nvSpPr>
        <p:spPr>
          <a:xfrm>
            <a:off x="457200" y="1645920"/>
            <a:ext cx="2240280" cy="566928"/>
          </a:xfrm>
          <a:prstGeom prst="roundRect">
            <a:avLst>
              <a:gd name="adj" fmla="val 16129"/>
            </a:avLst>
          </a:prstGeom>
          <a:solidFill>
            <a:schemeClr val="accent3"/>
          </a:solidFill>
          <a:ln w="12700">
            <a:solidFill>
              <a:schemeClr val="accent3"/>
            </a:solidFill>
            <a:prstDash val="solid"/>
          </a:ln>
        </p:spPr>
        <p:txBody>
          <a:bodyPr/>
          <a:lstStyle/>
          <a:p>
            <a:endParaRPr lang="en-IN"/>
          </a:p>
        </p:txBody>
      </p:sp>
      <p:sp>
        <p:nvSpPr>
          <p:cNvPr id="6" name="Text 4"/>
          <p:cNvSpPr txBox="1"/>
          <p:nvPr/>
        </p:nvSpPr>
        <p:spPr>
          <a:xfrm>
            <a:off x="594360" y="1700784"/>
            <a:ext cx="2011680" cy="219456"/>
          </a:xfrm>
          <a:prstGeom prst="rect">
            <a:avLst/>
          </a:prstGeom>
          <a:noFill/>
          <a:ln/>
        </p:spPr>
        <p:txBody>
          <a:bodyPr wrap="square" lIns="0" tIns="0" rIns="0" bIns="0" rtlCol="0" anchor="t"/>
          <a:lstStyle/>
          <a:p>
            <a:pPr marL="0" indent="0">
              <a:buNone/>
            </a:pPr>
            <a:r>
              <a:rPr lang="en-US" sz="1200" b="1" dirty="0">
                <a:solidFill>
                  <a:srgbClr val="0F5F5C"/>
                </a:solidFill>
              </a:rPr>
              <a:t>Reception</a:t>
            </a:r>
            <a:endParaRPr lang="en-US" sz="1200" dirty="0"/>
          </a:p>
        </p:txBody>
      </p:sp>
      <p:sp>
        <p:nvSpPr>
          <p:cNvPr id="7" name="Text 5"/>
          <p:cNvSpPr txBox="1"/>
          <p:nvPr/>
        </p:nvSpPr>
        <p:spPr>
          <a:xfrm>
            <a:off x="594360" y="1920240"/>
            <a:ext cx="2057400" cy="219456"/>
          </a:xfrm>
          <a:prstGeom prst="rect">
            <a:avLst/>
          </a:prstGeom>
          <a:noFill/>
          <a:ln/>
        </p:spPr>
        <p:txBody>
          <a:bodyPr wrap="square" lIns="0" tIns="0" rIns="0" bIns="0" rtlCol="0" anchor="t"/>
          <a:lstStyle/>
          <a:p>
            <a:pPr marL="0" indent="0">
              <a:buNone/>
            </a:pPr>
            <a:r>
              <a:rPr lang="en-US" sz="1000" dirty="0">
                <a:solidFill>
                  <a:srgbClr val="16202E"/>
                </a:solidFill>
              </a:rPr>
              <a:t>Builds quotes, discount up to 10%</a:t>
            </a:r>
            <a:endParaRPr lang="en-US" sz="1000" dirty="0"/>
          </a:p>
        </p:txBody>
      </p:sp>
      <p:sp>
        <p:nvSpPr>
          <p:cNvPr id="8" name="Service Manager"/>
          <p:cNvSpPr/>
          <p:nvPr/>
        </p:nvSpPr>
        <p:spPr>
          <a:xfrm>
            <a:off x="2834640" y="1645920"/>
            <a:ext cx="2240280" cy="566928"/>
          </a:xfrm>
          <a:prstGeom prst="roundRect">
            <a:avLst>
              <a:gd name="adj" fmla="val 16129"/>
            </a:avLst>
          </a:prstGeom>
          <a:solidFill>
            <a:schemeClr val="accent3"/>
          </a:solidFill>
          <a:ln w="12700">
            <a:solidFill>
              <a:schemeClr val="accent3"/>
            </a:solidFill>
            <a:prstDash val="solid"/>
          </a:ln>
        </p:spPr>
        <p:txBody>
          <a:bodyPr/>
          <a:lstStyle/>
          <a:p>
            <a:endParaRPr lang="en-IN"/>
          </a:p>
        </p:txBody>
      </p:sp>
      <p:sp>
        <p:nvSpPr>
          <p:cNvPr id="9" name="Text 7"/>
          <p:cNvSpPr txBox="1"/>
          <p:nvPr/>
        </p:nvSpPr>
        <p:spPr>
          <a:xfrm>
            <a:off x="2971800" y="1700784"/>
            <a:ext cx="2011680" cy="219456"/>
          </a:xfrm>
          <a:prstGeom prst="rect">
            <a:avLst/>
          </a:prstGeom>
          <a:noFill/>
          <a:ln/>
        </p:spPr>
        <p:txBody>
          <a:bodyPr wrap="square" lIns="0" tIns="0" rIns="0" bIns="0" rtlCol="0" anchor="t"/>
          <a:lstStyle/>
          <a:p>
            <a:pPr marL="0" indent="0">
              <a:buNone/>
            </a:pPr>
            <a:r>
              <a:rPr lang="en-US" sz="1200" b="1" dirty="0">
                <a:solidFill>
                  <a:srgbClr val="0F5F5C"/>
                </a:solidFill>
              </a:rPr>
              <a:t>Service Manager</a:t>
            </a:r>
            <a:endParaRPr lang="en-US" sz="1200" dirty="0"/>
          </a:p>
        </p:txBody>
      </p:sp>
      <p:sp>
        <p:nvSpPr>
          <p:cNvPr id="10" name="Text 8"/>
          <p:cNvSpPr txBox="1"/>
          <p:nvPr/>
        </p:nvSpPr>
        <p:spPr>
          <a:xfrm>
            <a:off x="2971800" y="1920240"/>
            <a:ext cx="2057400" cy="219456"/>
          </a:xfrm>
          <a:prstGeom prst="rect">
            <a:avLst/>
          </a:prstGeom>
          <a:noFill/>
          <a:ln/>
        </p:spPr>
        <p:txBody>
          <a:bodyPr wrap="square" lIns="0" tIns="0" rIns="0" bIns="0" rtlCol="0" anchor="t"/>
          <a:lstStyle/>
          <a:p>
            <a:pPr marL="0" indent="0">
              <a:buNone/>
            </a:pPr>
            <a:r>
              <a:rPr lang="en-US" sz="1000" dirty="0">
                <a:solidFill>
                  <a:srgbClr val="16202E"/>
                </a:solidFill>
              </a:rPr>
              <a:t>Approves reviews, can send to Owner</a:t>
            </a:r>
            <a:endParaRPr lang="en-US" sz="1000" dirty="0"/>
          </a:p>
        </p:txBody>
      </p:sp>
      <p:sp>
        <p:nvSpPr>
          <p:cNvPr id="11" name="Owner"/>
          <p:cNvSpPr/>
          <p:nvPr/>
        </p:nvSpPr>
        <p:spPr>
          <a:xfrm>
            <a:off x="5212080" y="1645920"/>
            <a:ext cx="2240280" cy="566928"/>
          </a:xfrm>
          <a:prstGeom prst="roundRect">
            <a:avLst>
              <a:gd name="adj" fmla="val 16129"/>
            </a:avLst>
          </a:prstGeom>
          <a:solidFill>
            <a:srgbClr val="FCE9CF"/>
          </a:solidFill>
          <a:ln w="12700">
            <a:solidFill>
              <a:srgbClr val="FCE9CF"/>
            </a:solidFill>
            <a:prstDash val="solid"/>
          </a:ln>
        </p:spPr>
        <p:txBody>
          <a:bodyPr/>
          <a:lstStyle/>
          <a:p>
            <a:endParaRPr lang="en-IN"/>
          </a:p>
        </p:txBody>
      </p:sp>
      <p:sp>
        <p:nvSpPr>
          <p:cNvPr id="12" name="Text 10"/>
          <p:cNvSpPr txBox="1"/>
          <p:nvPr/>
        </p:nvSpPr>
        <p:spPr>
          <a:xfrm>
            <a:off x="5349240" y="1700784"/>
            <a:ext cx="2011680" cy="219456"/>
          </a:xfrm>
          <a:prstGeom prst="rect">
            <a:avLst/>
          </a:prstGeom>
          <a:noFill/>
          <a:ln/>
        </p:spPr>
        <p:txBody>
          <a:bodyPr wrap="square" lIns="0" tIns="0" rIns="0" bIns="0" rtlCol="0" anchor="t"/>
          <a:lstStyle/>
          <a:p>
            <a:pPr marL="0" indent="0">
              <a:buNone/>
            </a:pPr>
            <a:r>
              <a:rPr lang="en-US" sz="1200" b="1" dirty="0">
                <a:solidFill>
                  <a:srgbClr val="8A4B00"/>
                </a:solidFill>
              </a:rPr>
              <a:t>Owner</a:t>
            </a:r>
            <a:endParaRPr lang="en-US" sz="1200" dirty="0"/>
          </a:p>
        </p:txBody>
      </p:sp>
      <p:sp>
        <p:nvSpPr>
          <p:cNvPr id="13" name="Text 11"/>
          <p:cNvSpPr txBox="1"/>
          <p:nvPr/>
        </p:nvSpPr>
        <p:spPr>
          <a:xfrm>
            <a:off x="5349240" y="1920240"/>
            <a:ext cx="2057400" cy="219456"/>
          </a:xfrm>
          <a:prstGeom prst="rect">
            <a:avLst/>
          </a:prstGeom>
          <a:noFill/>
          <a:ln/>
        </p:spPr>
        <p:txBody>
          <a:bodyPr wrap="square" lIns="0" tIns="0" rIns="0" bIns="0" rtlCol="0" anchor="t"/>
          <a:lstStyle/>
          <a:p>
            <a:pPr marL="0" indent="0">
              <a:buNone/>
            </a:pPr>
            <a:r>
              <a:rPr lang="en-US" sz="1000" dirty="0">
                <a:solidFill>
                  <a:srgbClr val="16202E"/>
                </a:solidFill>
              </a:rPr>
              <a:t>Sets any discount, policy, imports</a:t>
            </a:r>
            <a:endParaRPr lang="en-US" sz="1000" dirty="0"/>
          </a:p>
        </p:txBody>
      </p:sp>
      <p:sp>
        <p:nvSpPr>
          <p:cNvPr id="14" name="Request"/>
          <p:cNvSpPr/>
          <p:nvPr/>
        </p:nvSpPr>
        <p:spPr>
          <a:xfrm>
            <a:off x="457200" y="2514600"/>
            <a:ext cx="2121408" cy="1143000"/>
          </a:xfrm>
          <a:prstGeom prst="roundRect">
            <a:avLst>
              <a:gd name="adj" fmla="val 8000"/>
            </a:avLst>
          </a:prstGeom>
          <a:solidFill>
            <a:srgbClr val="FFFFFF"/>
          </a:solidFill>
          <a:ln w="12700">
            <a:solidFill>
              <a:srgbClr val="E2DED4"/>
            </a:solidFill>
            <a:prstDash val="solid"/>
          </a:ln>
        </p:spPr>
        <p:txBody>
          <a:bodyPr/>
          <a:lstStyle/>
          <a:p>
            <a:endParaRPr lang="en-IN"/>
          </a:p>
        </p:txBody>
      </p:sp>
      <p:sp>
        <p:nvSpPr>
          <p:cNvPr id="15" name="Shape 13"/>
          <p:cNvSpPr/>
          <p:nvPr/>
        </p:nvSpPr>
        <p:spPr>
          <a:xfrm>
            <a:off x="594360" y="2651760"/>
            <a:ext cx="384048" cy="384048"/>
          </a:xfrm>
          <a:prstGeom prst="ellipse">
            <a:avLst/>
          </a:prstGeom>
          <a:solidFill>
            <a:srgbClr val="0F5F5C"/>
          </a:solidFill>
          <a:ln w="12700">
            <a:solidFill>
              <a:srgbClr val="0F5F5C"/>
            </a:solidFill>
            <a:prstDash val="solid"/>
          </a:ln>
        </p:spPr>
        <p:txBody>
          <a:bodyPr/>
          <a:lstStyle/>
          <a:p>
            <a:endParaRPr lang="en-IN"/>
          </a:p>
        </p:txBody>
      </p:sp>
      <p:pic>
        <p:nvPicPr>
          <p:cNvPr id="16" name="Image 0" descr="preencoded.png"/>
          <p:cNvPicPr>
            <a:picLocks noChangeAspect="1"/>
          </p:cNvPicPr>
          <p:nvPr/>
        </p:nvPicPr>
        <p:blipFill>
          <a:blip r:embed="rId3"/>
          <a:stretch>
            <a:fillRect/>
          </a:stretch>
        </p:blipFill>
        <p:spPr>
          <a:xfrm>
            <a:off x="678851" y="2736251"/>
            <a:ext cx="215067" cy="215067"/>
          </a:xfrm>
          <a:prstGeom prst="rect">
            <a:avLst/>
          </a:prstGeom>
        </p:spPr>
      </p:pic>
      <p:sp>
        <p:nvSpPr>
          <p:cNvPr id="17" name="Text 14"/>
          <p:cNvSpPr txBox="1"/>
          <p:nvPr/>
        </p:nvSpPr>
        <p:spPr>
          <a:xfrm>
            <a:off x="1069848" y="2697480"/>
            <a:ext cx="1389888" cy="274320"/>
          </a:xfrm>
          <a:prstGeom prst="rect">
            <a:avLst/>
          </a:prstGeom>
          <a:noFill/>
          <a:ln/>
        </p:spPr>
        <p:txBody>
          <a:bodyPr wrap="square" lIns="0" tIns="0" rIns="0" bIns="0" rtlCol="0" anchor="t"/>
          <a:lstStyle/>
          <a:p>
            <a:pPr marL="0" indent="0">
              <a:buNone/>
            </a:pPr>
            <a:r>
              <a:rPr lang="en-US" sz="1250" b="1" dirty="0">
                <a:solidFill>
                  <a:srgbClr val="16202E"/>
                </a:solidFill>
              </a:rPr>
              <a:t>1  Request</a:t>
            </a:r>
            <a:endParaRPr lang="en-US" sz="1250" dirty="0"/>
          </a:p>
        </p:txBody>
      </p:sp>
      <p:sp>
        <p:nvSpPr>
          <p:cNvPr id="18" name="Text 15"/>
          <p:cNvSpPr txBox="1"/>
          <p:nvPr/>
        </p:nvSpPr>
        <p:spPr>
          <a:xfrm>
            <a:off x="594360" y="3127248"/>
            <a:ext cx="1847088" cy="457200"/>
          </a:xfrm>
          <a:prstGeom prst="rect">
            <a:avLst/>
          </a:prstGeom>
          <a:noFill/>
          <a:ln/>
        </p:spPr>
        <p:txBody>
          <a:bodyPr wrap="square" lIns="0" tIns="0" rIns="0" bIns="0" rtlCol="0" anchor="t"/>
          <a:lstStyle/>
          <a:p>
            <a:pPr marL="0" indent="0">
              <a:buNone/>
            </a:pPr>
            <a:r>
              <a:rPr lang="en-US" sz="1050" dirty="0">
                <a:solidFill>
                  <a:srgbClr val="5B6472"/>
                </a:solidFill>
              </a:rPr>
              <a:t>Group, dates, rooms, blocks, discount</a:t>
            </a:r>
            <a:endParaRPr lang="en-US" sz="1050" dirty="0"/>
          </a:p>
        </p:txBody>
      </p:sp>
      <p:sp>
        <p:nvSpPr>
          <p:cNvPr id="19" name="Shape 16"/>
          <p:cNvSpPr/>
          <p:nvPr/>
        </p:nvSpPr>
        <p:spPr>
          <a:xfrm>
            <a:off x="2606040" y="3086100"/>
            <a:ext cx="219456" cy="0"/>
          </a:xfrm>
          <a:prstGeom prst="line">
            <a:avLst/>
          </a:prstGeom>
          <a:noFill/>
          <a:ln w="19050">
            <a:solidFill>
              <a:srgbClr val="5B6472"/>
            </a:solidFill>
            <a:prstDash val="solid"/>
            <a:tailEnd type="triangle"/>
          </a:ln>
        </p:spPr>
        <p:txBody>
          <a:bodyPr/>
          <a:lstStyle/>
          <a:p>
            <a:endParaRPr lang="en-IN"/>
          </a:p>
        </p:txBody>
      </p:sp>
      <p:sp>
        <p:nvSpPr>
          <p:cNvPr id="20" name="Price check"/>
          <p:cNvSpPr/>
          <p:nvPr/>
        </p:nvSpPr>
        <p:spPr>
          <a:xfrm>
            <a:off x="2852928" y="2514600"/>
            <a:ext cx="2121408" cy="1143000"/>
          </a:xfrm>
          <a:prstGeom prst="roundRect">
            <a:avLst>
              <a:gd name="adj" fmla="val 8000"/>
            </a:avLst>
          </a:prstGeom>
          <a:solidFill>
            <a:srgbClr val="FFFFFF"/>
          </a:solidFill>
          <a:ln w="12700">
            <a:solidFill>
              <a:srgbClr val="E2DED4"/>
            </a:solidFill>
            <a:prstDash val="solid"/>
          </a:ln>
        </p:spPr>
        <p:txBody>
          <a:bodyPr/>
          <a:lstStyle/>
          <a:p>
            <a:endParaRPr lang="en-IN"/>
          </a:p>
        </p:txBody>
      </p:sp>
      <p:sp>
        <p:nvSpPr>
          <p:cNvPr id="21" name="Shape 18"/>
          <p:cNvSpPr/>
          <p:nvPr/>
        </p:nvSpPr>
        <p:spPr>
          <a:xfrm>
            <a:off x="2990088" y="2651760"/>
            <a:ext cx="384048" cy="384048"/>
          </a:xfrm>
          <a:prstGeom prst="ellipse">
            <a:avLst/>
          </a:prstGeom>
          <a:solidFill>
            <a:srgbClr val="0F5F5C"/>
          </a:solidFill>
          <a:ln w="12700">
            <a:solidFill>
              <a:srgbClr val="0F5F5C"/>
            </a:solidFill>
            <a:prstDash val="solid"/>
          </a:ln>
        </p:spPr>
        <p:txBody>
          <a:bodyPr/>
          <a:lstStyle/>
          <a:p>
            <a:endParaRPr lang="en-IN"/>
          </a:p>
        </p:txBody>
      </p:sp>
      <p:pic>
        <p:nvPicPr>
          <p:cNvPr id="22" name="Image 1" descr="preencoded.png"/>
          <p:cNvPicPr>
            <a:picLocks noChangeAspect="1"/>
          </p:cNvPicPr>
          <p:nvPr/>
        </p:nvPicPr>
        <p:blipFill>
          <a:blip r:embed="rId4"/>
          <a:stretch>
            <a:fillRect/>
          </a:stretch>
        </p:blipFill>
        <p:spPr>
          <a:xfrm>
            <a:off x="3074579" y="2736251"/>
            <a:ext cx="215067" cy="215067"/>
          </a:xfrm>
          <a:prstGeom prst="rect">
            <a:avLst/>
          </a:prstGeom>
        </p:spPr>
      </p:pic>
      <p:sp>
        <p:nvSpPr>
          <p:cNvPr id="23" name="Text 19"/>
          <p:cNvSpPr txBox="1"/>
          <p:nvPr/>
        </p:nvSpPr>
        <p:spPr>
          <a:xfrm>
            <a:off x="3465576" y="2697480"/>
            <a:ext cx="1389888" cy="274320"/>
          </a:xfrm>
          <a:prstGeom prst="rect">
            <a:avLst/>
          </a:prstGeom>
          <a:noFill/>
          <a:ln/>
        </p:spPr>
        <p:txBody>
          <a:bodyPr wrap="square" lIns="0" tIns="0" rIns="0" bIns="0" rtlCol="0" anchor="t"/>
          <a:lstStyle/>
          <a:p>
            <a:pPr marL="0" indent="0">
              <a:buNone/>
            </a:pPr>
            <a:r>
              <a:rPr lang="en-US" sz="1250" b="1" dirty="0">
                <a:solidFill>
                  <a:srgbClr val="16202E"/>
                </a:solidFill>
              </a:rPr>
              <a:t>2  Price check</a:t>
            </a:r>
            <a:endParaRPr lang="en-US" sz="1250" dirty="0"/>
          </a:p>
        </p:txBody>
      </p:sp>
      <p:sp>
        <p:nvSpPr>
          <p:cNvPr id="24" name="Text 20"/>
          <p:cNvSpPr txBox="1"/>
          <p:nvPr/>
        </p:nvSpPr>
        <p:spPr>
          <a:xfrm>
            <a:off x="2990088" y="3127248"/>
            <a:ext cx="1847088" cy="457200"/>
          </a:xfrm>
          <a:prstGeom prst="rect">
            <a:avLst/>
          </a:prstGeom>
          <a:noFill/>
          <a:ln/>
        </p:spPr>
        <p:txBody>
          <a:bodyPr wrap="square" lIns="0" tIns="0" rIns="0" bIns="0" rtlCol="0" anchor="t"/>
          <a:lstStyle/>
          <a:p>
            <a:pPr marL="0" indent="0">
              <a:buNone/>
            </a:pPr>
            <a:r>
              <a:rPr lang="en-US" sz="1050" dirty="0">
                <a:solidFill>
                  <a:srgbClr val="5B6472"/>
                </a:solidFill>
              </a:rPr>
              <a:t>Availability, floor and contribution, live</a:t>
            </a:r>
            <a:endParaRPr lang="en-US" sz="1050" dirty="0"/>
          </a:p>
        </p:txBody>
      </p:sp>
      <p:sp>
        <p:nvSpPr>
          <p:cNvPr id="25" name="Shape 21"/>
          <p:cNvSpPr/>
          <p:nvPr/>
        </p:nvSpPr>
        <p:spPr>
          <a:xfrm>
            <a:off x="5001768" y="3086100"/>
            <a:ext cx="219456" cy="0"/>
          </a:xfrm>
          <a:prstGeom prst="line">
            <a:avLst/>
          </a:prstGeom>
          <a:noFill/>
          <a:ln w="19050">
            <a:solidFill>
              <a:srgbClr val="5B6472"/>
            </a:solidFill>
            <a:prstDash val="solid"/>
            <a:tailEnd type="triangle"/>
          </a:ln>
        </p:spPr>
        <p:txBody>
          <a:bodyPr/>
          <a:lstStyle/>
          <a:p>
            <a:endParaRPr lang="en-IN"/>
          </a:p>
        </p:txBody>
      </p:sp>
      <p:sp>
        <p:nvSpPr>
          <p:cNvPr id="26" name="Decision"/>
          <p:cNvSpPr/>
          <p:nvPr/>
        </p:nvSpPr>
        <p:spPr>
          <a:xfrm>
            <a:off x="5248656" y="2514600"/>
            <a:ext cx="2121408" cy="1143000"/>
          </a:xfrm>
          <a:prstGeom prst="roundRect">
            <a:avLst>
              <a:gd name="adj" fmla="val 8000"/>
            </a:avLst>
          </a:prstGeom>
          <a:solidFill>
            <a:srgbClr val="FFFFFF"/>
          </a:solidFill>
          <a:ln w="12700">
            <a:solidFill>
              <a:srgbClr val="E2DED4"/>
            </a:solidFill>
            <a:prstDash val="solid"/>
          </a:ln>
        </p:spPr>
        <p:txBody>
          <a:bodyPr/>
          <a:lstStyle/>
          <a:p>
            <a:endParaRPr lang="en-IN"/>
          </a:p>
        </p:txBody>
      </p:sp>
      <p:sp>
        <p:nvSpPr>
          <p:cNvPr id="27" name="Shape 23"/>
          <p:cNvSpPr/>
          <p:nvPr/>
        </p:nvSpPr>
        <p:spPr>
          <a:xfrm>
            <a:off x="5385816" y="2651760"/>
            <a:ext cx="384048" cy="384048"/>
          </a:xfrm>
          <a:prstGeom prst="ellipse">
            <a:avLst/>
          </a:prstGeom>
          <a:solidFill>
            <a:srgbClr val="0F5F5C"/>
          </a:solidFill>
          <a:ln w="12700">
            <a:solidFill>
              <a:srgbClr val="0F5F5C"/>
            </a:solidFill>
            <a:prstDash val="solid"/>
          </a:ln>
        </p:spPr>
        <p:txBody>
          <a:bodyPr/>
          <a:lstStyle/>
          <a:p>
            <a:endParaRPr lang="en-IN"/>
          </a:p>
        </p:txBody>
      </p:sp>
      <p:pic>
        <p:nvPicPr>
          <p:cNvPr id="28" name="Image 2" descr="preencoded.png"/>
          <p:cNvPicPr>
            <a:picLocks noChangeAspect="1"/>
          </p:cNvPicPr>
          <p:nvPr/>
        </p:nvPicPr>
        <p:blipFill>
          <a:blip r:embed="rId5"/>
          <a:stretch>
            <a:fillRect/>
          </a:stretch>
        </p:blipFill>
        <p:spPr>
          <a:xfrm>
            <a:off x="5470307" y="2736251"/>
            <a:ext cx="215067" cy="215067"/>
          </a:xfrm>
          <a:prstGeom prst="rect">
            <a:avLst/>
          </a:prstGeom>
        </p:spPr>
      </p:pic>
      <p:sp>
        <p:nvSpPr>
          <p:cNvPr id="29" name="Text 24"/>
          <p:cNvSpPr txBox="1"/>
          <p:nvPr/>
        </p:nvSpPr>
        <p:spPr>
          <a:xfrm>
            <a:off x="5861304" y="2697480"/>
            <a:ext cx="1389888" cy="274320"/>
          </a:xfrm>
          <a:prstGeom prst="rect">
            <a:avLst/>
          </a:prstGeom>
          <a:noFill/>
          <a:ln/>
        </p:spPr>
        <p:txBody>
          <a:bodyPr wrap="square" lIns="0" tIns="0" rIns="0" bIns="0" rtlCol="0" anchor="t"/>
          <a:lstStyle/>
          <a:p>
            <a:pPr marL="0" indent="0">
              <a:buNone/>
            </a:pPr>
            <a:r>
              <a:rPr lang="en-US" sz="1250" b="1" dirty="0">
                <a:solidFill>
                  <a:srgbClr val="16202E"/>
                </a:solidFill>
              </a:rPr>
              <a:t>3  Decision</a:t>
            </a:r>
            <a:endParaRPr lang="en-US" sz="1250" dirty="0"/>
          </a:p>
        </p:txBody>
      </p:sp>
      <p:sp>
        <p:nvSpPr>
          <p:cNvPr id="30" name="Text 25"/>
          <p:cNvSpPr txBox="1"/>
          <p:nvPr/>
        </p:nvSpPr>
        <p:spPr>
          <a:xfrm>
            <a:off x="5385816" y="3127248"/>
            <a:ext cx="1847088" cy="457200"/>
          </a:xfrm>
          <a:prstGeom prst="rect">
            <a:avLst/>
          </a:prstGeom>
          <a:noFill/>
          <a:ln/>
        </p:spPr>
        <p:txBody>
          <a:bodyPr wrap="square" lIns="0" tIns="0" rIns="0" bIns="0" rtlCol="0" anchor="t"/>
          <a:lstStyle/>
          <a:p>
            <a:pPr marL="0" indent="0">
              <a:buNone/>
            </a:pPr>
            <a:r>
              <a:rPr lang="en-US" sz="1050" dirty="0">
                <a:solidFill>
                  <a:srgbClr val="5B6472"/>
                </a:solidFill>
              </a:rPr>
              <a:t>Offer, review or decline; rooms held</a:t>
            </a:r>
            <a:endParaRPr lang="en-US" sz="1050" dirty="0"/>
          </a:p>
        </p:txBody>
      </p:sp>
      <p:sp>
        <p:nvSpPr>
          <p:cNvPr id="31" name="Review"/>
          <p:cNvSpPr/>
          <p:nvPr/>
        </p:nvSpPr>
        <p:spPr>
          <a:xfrm>
            <a:off x="457200" y="3931920"/>
            <a:ext cx="2121408" cy="1143000"/>
          </a:xfrm>
          <a:prstGeom prst="roundRect">
            <a:avLst>
              <a:gd name="adj" fmla="val 8000"/>
            </a:avLst>
          </a:prstGeom>
          <a:solidFill>
            <a:srgbClr val="FFFFFF"/>
          </a:solidFill>
          <a:ln w="12700">
            <a:solidFill>
              <a:srgbClr val="E2DED4"/>
            </a:solidFill>
            <a:prstDash val="solid"/>
          </a:ln>
        </p:spPr>
        <p:txBody>
          <a:bodyPr/>
          <a:lstStyle/>
          <a:p>
            <a:endParaRPr lang="en-IN"/>
          </a:p>
        </p:txBody>
      </p:sp>
      <p:sp>
        <p:nvSpPr>
          <p:cNvPr id="32" name="Shape 27"/>
          <p:cNvSpPr/>
          <p:nvPr/>
        </p:nvSpPr>
        <p:spPr>
          <a:xfrm>
            <a:off x="594360" y="4069080"/>
            <a:ext cx="384048" cy="384048"/>
          </a:xfrm>
          <a:prstGeom prst="ellipse">
            <a:avLst/>
          </a:prstGeom>
          <a:solidFill>
            <a:srgbClr val="E3A23B"/>
          </a:solidFill>
          <a:ln w="12700">
            <a:solidFill>
              <a:srgbClr val="E3A23B"/>
            </a:solidFill>
            <a:prstDash val="solid"/>
          </a:ln>
        </p:spPr>
        <p:txBody>
          <a:bodyPr/>
          <a:lstStyle/>
          <a:p>
            <a:endParaRPr lang="en-IN"/>
          </a:p>
        </p:txBody>
      </p:sp>
      <p:pic>
        <p:nvPicPr>
          <p:cNvPr id="33" name="Image 3" descr="preencoded.png"/>
          <p:cNvPicPr>
            <a:picLocks noChangeAspect="1"/>
          </p:cNvPicPr>
          <p:nvPr/>
        </p:nvPicPr>
        <p:blipFill>
          <a:blip r:embed="rId6"/>
          <a:stretch>
            <a:fillRect/>
          </a:stretch>
        </p:blipFill>
        <p:spPr>
          <a:xfrm>
            <a:off x="678851" y="4153571"/>
            <a:ext cx="215067" cy="215067"/>
          </a:xfrm>
          <a:prstGeom prst="rect">
            <a:avLst/>
          </a:prstGeom>
        </p:spPr>
      </p:pic>
      <p:sp>
        <p:nvSpPr>
          <p:cNvPr id="34" name="Text 28"/>
          <p:cNvSpPr txBox="1"/>
          <p:nvPr/>
        </p:nvSpPr>
        <p:spPr>
          <a:xfrm>
            <a:off x="1069848" y="4114800"/>
            <a:ext cx="1389888" cy="274320"/>
          </a:xfrm>
          <a:prstGeom prst="rect">
            <a:avLst/>
          </a:prstGeom>
          <a:noFill/>
          <a:ln/>
        </p:spPr>
        <p:txBody>
          <a:bodyPr wrap="square" lIns="0" tIns="0" rIns="0" bIns="0" rtlCol="0" anchor="t"/>
          <a:lstStyle/>
          <a:p>
            <a:pPr marL="0" indent="0">
              <a:buNone/>
            </a:pPr>
            <a:r>
              <a:rPr lang="en-US" sz="1250" b="1" dirty="0">
                <a:solidFill>
                  <a:srgbClr val="16202E"/>
                </a:solidFill>
              </a:rPr>
              <a:t>4  Review</a:t>
            </a:r>
            <a:endParaRPr lang="en-US" sz="1250" dirty="0"/>
          </a:p>
        </p:txBody>
      </p:sp>
      <p:sp>
        <p:nvSpPr>
          <p:cNvPr id="35" name="Text 29"/>
          <p:cNvSpPr txBox="1"/>
          <p:nvPr/>
        </p:nvSpPr>
        <p:spPr>
          <a:xfrm>
            <a:off x="594360" y="4544568"/>
            <a:ext cx="1847088" cy="457200"/>
          </a:xfrm>
          <a:prstGeom prst="rect">
            <a:avLst/>
          </a:prstGeom>
          <a:noFill/>
          <a:ln/>
        </p:spPr>
        <p:txBody>
          <a:bodyPr wrap="square" lIns="0" tIns="0" rIns="0" bIns="0" rtlCol="0" anchor="t"/>
          <a:lstStyle/>
          <a:p>
            <a:pPr marL="0" indent="0">
              <a:buNone/>
            </a:pPr>
            <a:r>
              <a:rPr lang="en-US" sz="1050" dirty="0">
                <a:solidFill>
                  <a:srgbClr val="5B6472"/>
                </a:solidFill>
              </a:rPr>
              <a:t>Service Manager approves, or Owner sets discount</a:t>
            </a:r>
            <a:endParaRPr lang="en-US" sz="1050" dirty="0"/>
          </a:p>
        </p:txBody>
      </p:sp>
      <p:sp>
        <p:nvSpPr>
          <p:cNvPr id="36" name="Shape 30"/>
          <p:cNvSpPr/>
          <p:nvPr/>
        </p:nvSpPr>
        <p:spPr>
          <a:xfrm>
            <a:off x="2606040" y="4503420"/>
            <a:ext cx="219456" cy="0"/>
          </a:xfrm>
          <a:prstGeom prst="line">
            <a:avLst/>
          </a:prstGeom>
          <a:noFill/>
          <a:ln w="19050">
            <a:solidFill>
              <a:srgbClr val="5B6472"/>
            </a:solidFill>
            <a:prstDash val="solid"/>
            <a:tailEnd type="triangle"/>
          </a:ln>
        </p:spPr>
        <p:txBody>
          <a:bodyPr/>
          <a:lstStyle/>
          <a:p>
            <a:endParaRPr lang="en-IN"/>
          </a:p>
        </p:txBody>
      </p:sp>
      <p:sp>
        <p:nvSpPr>
          <p:cNvPr id="37" name="Email quote"/>
          <p:cNvSpPr/>
          <p:nvPr/>
        </p:nvSpPr>
        <p:spPr>
          <a:xfrm>
            <a:off x="2852928" y="3931920"/>
            <a:ext cx="2121408" cy="1143000"/>
          </a:xfrm>
          <a:prstGeom prst="roundRect">
            <a:avLst>
              <a:gd name="adj" fmla="val 8000"/>
            </a:avLst>
          </a:prstGeom>
          <a:solidFill>
            <a:srgbClr val="FFFFFF"/>
          </a:solidFill>
          <a:ln w="12700">
            <a:solidFill>
              <a:srgbClr val="E2DED4"/>
            </a:solidFill>
            <a:prstDash val="solid"/>
          </a:ln>
        </p:spPr>
        <p:txBody>
          <a:bodyPr/>
          <a:lstStyle/>
          <a:p>
            <a:endParaRPr lang="en-IN"/>
          </a:p>
        </p:txBody>
      </p:sp>
      <p:sp>
        <p:nvSpPr>
          <p:cNvPr id="38" name="Shape 32"/>
          <p:cNvSpPr/>
          <p:nvPr/>
        </p:nvSpPr>
        <p:spPr>
          <a:xfrm>
            <a:off x="2990088" y="4069080"/>
            <a:ext cx="384048" cy="384048"/>
          </a:xfrm>
          <a:prstGeom prst="ellipse">
            <a:avLst/>
          </a:prstGeom>
          <a:solidFill>
            <a:srgbClr val="0F5F5C"/>
          </a:solidFill>
          <a:ln w="12700">
            <a:solidFill>
              <a:srgbClr val="0F5F5C"/>
            </a:solidFill>
            <a:prstDash val="solid"/>
          </a:ln>
        </p:spPr>
        <p:txBody>
          <a:bodyPr/>
          <a:lstStyle/>
          <a:p>
            <a:endParaRPr lang="en-IN"/>
          </a:p>
        </p:txBody>
      </p:sp>
      <p:pic>
        <p:nvPicPr>
          <p:cNvPr id="39" name="Image 4" descr="preencoded.png"/>
          <p:cNvPicPr>
            <a:picLocks noChangeAspect="1"/>
          </p:cNvPicPr>
          <p:nvPr/>
        </p:nvPicPr>
        <p:blipFill>
          <a:blip r:embed="rId7"/>
          <a:stretch>
            <a:fillRect/>
          </a:stretch>
        </p:blipFill>
        <p:spPr>
          <a:xfrm>
            <a:off x="3074579" y="4153571"/>
            <a:ext cx="215067" cy="215067"/>
          </a:xfrm>
          <a:prstGeom prst="rect">
            <a:avLst/>
          </a:prstGeom>
        </p:spPr>
      </p:pic>
      <p:sp>
        <p:nvSpPr>
          <p:cNvPr id="40" name="Text 33"/>
          <p:cNvSpPr txBox="1"/>
          <p:nvPr/>
        </p:nvSpPr>
        <p:spPr>
          <a:xfrm>
            <a:off x="3465576" y="4114800"/>
            <a:ext cx="1389888" cy="274320"/>
          </a:xfrm>
          <a:prstGeom prst="rect">
            <a:avLst/>
          </a:prstGeom>
          <a:noFill/>
          <a:ln/>
        </p:spPr>
        <p:txBody>
          <a:bodyPr wrap="square" lIns="0" tIns="0" rIns="0" bIns="0" rtlCol="0" anchor="t"/>
          <a:lstStyle/>
          <a:p>
            <a:pPr marL="0" indent="0">
              <a:buNone/>
            </a:pPr>
            <a:r>
              <a:rPr lang="en-US" sz="1250" b="1" dirty="0">
                <a:solidFill>
                  <a:srgbClr val="16202E"/>
                </a:solidFill>
              </a:rPr>
              <a:t>5  Email quote</a:t>
            </a:r>
            <a:endParaRPr lang="en-US" sz="1250" dirty="0"/>
          </a:p>
        </p:txBody>
      </p:sp>
      <p:sp>
        <p:nvSpPr>
          <p:cNvPr id="41" name="Text 34"/>
          <p:cNvSpPr txBox="1"/>
          <p:nvPr/>
        </p:nvSpPr>
        <p:spPr>
          <a:xfrm>
            <a:off x="2990088" y="4544568"/>
            <a:ext cx="1847088" cy="457200"/>
          </a:xfrm>
          <a:prstGeom prst="rect">
            <a:avLst/>
          </a:prstGeom>
          <a:noFill/>
          <a:ln/>
        </p:spPr>
        <p:txBody>
          <a:bodyPr wrap="square" lIns="0" tIns="0" rIns="0" bIns="0" rtlCol="0" anchor="t"/>
          <a:lstStyle/>
          <a:p>
            <a:pPr marL="0" indent="0">
              <a:buNone/>
            </a:pPr>
            <a:r>
              <a:rPr lang="en-US" sz="1050" dirty="0">
                <a:solidFill>
                  <a:srgbClr val="5B6472"/>
                </a:solidFill>
              </a:rPr>
              <a:t>PDF with hotel details to the organiser</a:t>
            </a:r>
            <a:endParaRPr lang="en-US" sz="1050" dirty="0"/>
          </a:p>
        </p:txBody>
      </p:sp>
      <p:sp>
        <p:nvSpPr>
          <p:cNvPr id="42" name="Shape 35"/>
          <p:cNvSpPr/>
          <p:nvPr/>
        </p:nvSpPr>
        <p:spPr>
          <a:xfrm>
            <a:off x="5001768" y="4503420"/>
            <a:ext cx="219456" cy="0"/>
          </a:xfrm>
          <a:prstGeom prst="line">
            <a:avLst/>
          </a:prstGeom>
          <a:noFill/>
          <a:ln w="19050">
            <a:solidFill>
              <a:srgbClr val="5B6472"/>
            </a:solidFill>
            <a:prstDash val="solid"/>
            <a:tailEnd type="triangle"/>
          </a:ln>
        </p:spPr>
        <p:txBody>
          <a:bodyPr/>
          <a:lstStyle/>
          <a:p>
            <a:endParaRPr lang="en-IN"/>
          </a:p>
        </p:txBody>
      </p:sp>
      <p:sp>
        <p:nvSpPr>
          <p:cNvPr id="43" name="Book and pay"/>
          <p:cNvSpPr/>
          <p:nvPr/>
        </p:nvSpPr>
        <p:spPr>
          <a:xfrm>
            <a:off x="5248656" y="3931920"/>
            <a:ext cx="2121408" cy="1143000"/>
          </a:xfrm>
          <a:prstGeom prst="roundRect">
            <a:avLst>
              <a:gd name="adj" fmla="val 8000"/>
            </a:avLst>
          </a:prstGeom>
          <a:solidFill>
            <a:srgbClr val="FFFFFF"/>
          </a:solidFill>
          <a:ln w="12700">
            <a:solidFill>
              <a:srgbClr val="E2DED4"/>
            </a:solidFill>
            <a:prstDash val="solid"/>
          </a:ln>
        </p:spPr>
        <p:txBody>
          <a:bodyPr/>
          <a:lstStyle/>
          <a:p>
            <a:endParaRPr lang="en-IN"/>
          </a:p>
        </p:txBody>
      </p:sp>
      <p:sp>
        <p:nvSpPr>
          <p:cNvPr id="44" name="Shape 37"/>
          <p:cNvSpPr/>
          <p:nvPr/>
        </p:nvSpPr>
        <p:spPr>
          <a:xfrm>
            <a:off x="5385816" y="4069080"/>
            <a:ext cx="384048" cy="384048"/>
          </a:xfrm>
          <a:prstGeom prst="ellipse">
            <a:avLst/>
          </a:prstGeom>
          <a:solidFill>
            <a:srgbClr val="0F5F5C"/>
          </a:solidFill>
          <a:ln w="12700">
            <a:solidFill>
              <a:srgbClr val="0F5F5C"/>
            </a:solidFill>
            <a:prstDash val="solid"/>
          </a:ln>
        </p:spPr>
        <p:txBody>
          <a:bodyPr/>
          <a:lstStyle/>
          <a:p>
            <a:endParaRPr lang="en-IN"/>
          </a:p>
        </p:txBody>
      </p:sp>
      <p:pic>
        <p:nvPicPr>
          <p:cNvPr id="45" name="Image 5" descr="preencoded.png"/>
          <p:cNvPicPr>
            <a:picLocks noChangeAspect="1"/>
          </p:cNvPicPr>
          <p:nvPr/>
        </p:nvPicPr>
        <p:blipFill>
          <a:blip r:embed="rId8"/>
          <a:stretch>
            <a:fillRect/>
          </a:stretch>
        </p:blipFill>
        <p:spPr>
          <a:xfrm>
            <a:off x="5470307" y="4153571"/>
            <a:ext cx="215067" cy="215067"/>
          </a:xfrm>
          <a:prstGeom prst="rect">
            <a:avLst/>
          </a:prstGeom>
        </p:spPr>
      </p:pic>
      <p:sp>
        <p:nvSpPr>
          <p:cNvPr id="46" name="Text 38"/>
          <p:cNvSpPr txBox="1"/>
          <p:nvPr/>
        </p:nvSpPr>
        <p:spPr>
          <a:xfrm>
            <a:off x="5861304" y="4114800"/>
            <a:ext cx="1389888" cy="274320"/>
          </a:xfrm>
          <a:prstGeom prst="rect">
            <a:avLst/>
          </a:prstGeom>
          <a:noFill/>
          <a:ln/>
        </p:spPr>
        <p:txBody>
          <a:bodyPr wrap="square" lIns="0" tIns="0" rIns="0" bIns="0" rtlCol="0" anchor="t"/>
          <a:lstStyle/>
          <a:p>
            <a:pPr marL="0" indent="0">
              <a:buNone/>
            </a:pPr>
            <a:r>
              <a:rPr lang="en-US" sz="1250" b="1" dirty="0">
                <a:solidFill>
                  <a:srgbClr val="16202E"/>
                </a:solidFill>
              </a:rPr>
              <a:t>6  Book and pay</a:t>
            </a:r>
            <a:endParaRPr lang="en-US" sz="1250" dirty="0"/>
          </a:p>
        </p:txBody>
      </p:sp>
      <p:sp>
        <p:nvSpPr>
          <p:cNvPr id="47" name="Text 39"/>
          <p:cNvSpPr txBox="1"/>
          <p:nvPr/>
        </p:nvSpPr>
        <p:spPr>
          <a:xfrm>
            <a:off x="5385816" y="4544568"/>
            <a:ext cx="1847088" cy="457200"/>
          </a:xfrm>
          <a:prstGeom prst="rect">
            <a:avLst/>
          </a:prstGeom>
          <a:noFill/>
          <a:ln/>
        </p:spPr>
        <p:txBody>
          <a:bodyPr wrap="square" lIns="0" tIns="0" rIns="0" bIns="0" rtlCol="0" anchor="t"/>
          <a:lstStyle/>
          <a:p>
            <a:pPr marL="0" indent="0">
              <a:buNone/>
            </a:pPr>
            <a:r>
              <a:rPr lang="en-US" sz="1050" dirty="0">
                <a:solidFill>
                  <a:srgbClr val="5B6472"/>
                </a:solidFill>
              </a:rPr>
              <a:t>Confirm, record payment, email invoice</a:t>
            </a:r>
            <a:endParaRPr lang="en-US" sz="1050" dirty="0"/>
          </a:p>
        </p:txBody>
      </p:sp>
      <p:sp>
        <p:nvSpPr>
          <p:cNvPr id="48" name="Shape 40"/>
          <p:cNvSpPr/>
          <p:nvPr/>
        </p:nvSpPr>
        <p:spPr>
          <a:xfrm flipH="1">
            <a:off x="1517904" y="3685032"/>
            <a:ext cx="4791456" cy="219456"/>
          </a:xfrm>
          <a:prstGeom prst="line">
            <a:avLst/>
          </a:prstGeom>
          <a:noFill/>
          <a:ln w="19050">
            <a:solidFill>
              <a:srgbClr val="5B6472"/>
            </a:solidFill>
            <a:prstDash val="solid"/>
            <a:tailEnd type="triangle"/>
          </a:ln>
        </p:spPr>
        <p:txBody>
          <a:bodyPr/>
          <a:lstStyle/>
          <a:p>
            <a:endParaRPr lang="en-IN"/>
          </a:p>
        </p:txBody>
      </p:sp>
      <p:sp>
        <p:nvSpPr>
          <p:cNvPr id="49" name="Rules"/>
          <p:cNvSpPr/>
          <p:nvPr/>
        </p:nvSpPr>
        <p:spPr>
          <a:xfrm>
            <a:off x="457200" y="5349240"/>
            <a:ext cx="6912864" cy="822960"/>
          </a:xfrm>
          <a:prstGeom prst="roundRect">
            <a:avLst>
              <a:gd name="adj" fmla="val 11111"/>
            </a:avLst>
          </a:prstGeom>
          <a:solidFill>
            <a:srgbClr val="FCE9CF"/>
          </a:solidFill>
          <a:ln w="12700">
            <a:solidFill>
              <a:srgbClr val="FCE9CF"/>
            </a:solidFill>
            <a:prstDash val="solid"/>
          </a:ln>
        </p:spPr>
        <p:txBody>
          <a:bodyPr/>
          <a:lstStyle/>
          <a:p>
            <a:endParaRPr lang="en-IN"/>
          </a:p>
        </p:txBody>
      </p:sp>
      <p:sp>
        <p:nvSpPr>
          <p:cNvPr id="50" name="Text 42"/>
          <p:cNvSpPr txBox="1"/>
          <p:nvPr/>
        </p:nvSpPr>
        <p:spPr>
          <a:xfrm>
            <a:off x="640080" y="5468112"/>
            <a:ext cx="6583680" cy="731520"/>
          </a:xfrm>
          <a:prstGeom prst="rect">
            <a:avLst/>
          </a:prstGeom>
          <a:noFill/>
          <a:ln/>
        </p:spPr>
        <p:txBody>
          <a:bodyPr wrap="square" lIns="0" tIns="0" rIns="0" bIns="0" rtlCol="0" anchor="t"/>
          <a:lstStyle/>
          <a:p>
            <a:pPr marL="0" indent="0">
              <a:buNone/>
            </a:pPr>
            <a:r>
              <a:rPr lang="en-US" sz="1100" b="1" dirty="0">
                <a:solidFill>
                  <a:srgbClr val="8A4B00"/>
                </a:solidFill>
              </a:rPr>
              <a:t>Built-in rules: </a:t>
            </a:r>
            <a:r>
              <a:rPr lang="en-US" sz="1100" dirty="0">
                <a:solidFill>
                  <a:srgbClr val="16202E"/>
                </a:solidFill>
              </a:rPr>
              <a:t>floor rate = package floor ÷ total rooms; Reception discount capped at 10%; four-eyes approval; holds expire automatically; every change is an audited, version-checked write; amounts shown as full price minus discount (₹).</a:t>
            </a:r>
            <a:endParaRPr lang="en-US" sz="1100" dirty="0"/>
          </a:p>
        </p:txBody>
      </p:sp>
      <p:sp>
        <p:nvSpPr>
          <p:cNvPr id="51" name="Development process"/>
          <p:cNvSpPr/>
          <p:nvPr/>
        </p:nvSpPr>
        <p:spPr>
          <a:xfrm>
            <a:off x="7644384" y="1645920"/>
            <a:ext cx="4087368" cy="4663440"/>
          </a:xfrm>
          <a:prstGeom prst="roundRect">
            <a:avLst>
              <a:gd name="adj" fmla="val 2237"/>
            </a:avLst>
          </a:prstGeom>
          <a:solidFill>
            <a:srgbClr val="0F5F5C"/>
          </a:solidFill>
          <a:ln w="12700">
            <a:solidFill>
              <a:srgbClr val="0F5F5C"/>
            </a:solidFill>
            <a:prstDash val="solid"/>
          </a:ln>
        </p:spPr>
        <p:txBody>
          <a:bodyPr/>
          <a:lstStyle/>
          <a:p>
            <a:endParaRPr lang="en-IN"/>
          </a:p>
        </p:txBody>
      </p:sp>
      <p:sp>
        <p:nvSpPr>
          <p:cNvPr id="52" name="Text 44"/>
          <p:cNvSpPr txBox="1"/>
          <p:nvPr/>
        </p:nvSpPr>
        <p:spPr>
          <a:xfrm>
            <a:off x="7872984" y="1783080"/>
            <a:ext cx="3630168" cy="292608"/>
          </a:xfrm>
          <a:prstGeom prst="rect">
            <a:avLst/>
          </a:prstGeom>
          <a:noFill/>
          <a:ln/>
        </p:spPr>
        <p:txBody>
          <a:bodyPr wrap="square" lIns="0" tIns="0" rIns="0" bIns="0" rtlCol="0" anchor="t"/>
          <a:lstStyle/>
          <a:p>
            <a:pPr marL="0" indent="0">
              <a:buNone/>
            </a:pPr>
            <a:r>
              <a:rPr lang="en-US" sz="1500" b="1" dirty="0">
                <a:solidFill>
                  <a:srgbClr val="FFFFFF"/>
                </a:solidFill>
              </a:rPr>
              <a:t>How we build it</a:t>
            </a:r>
            <a:endParaRPr lang="en-US" sz="1500" dirty="0"/>
          </a:p>
        </p:txBody>
      </p:sp>
      <p:sp>
        <p:nvSpPr>
          <p:cNvPr id="53" name="Shape 45"/>
          <p:cNvSpPr/>
          <p:nvPr/>
        </p:nvSpPr>
        <p:spPr>
          <a:xfrm>
            <a:off x="7872984" y="2240280"/>
            <a:ext cx="384048" cy="384048"/>
          </a:xfrm>
          <a:prstGeom prst="ellipse">
            <a:avLst/>
          </a:prstGeom>
          <a:solidFill>
            <a:srgbClr val="FFFFFF"/>
          </a:solidFill>
          <a:ln w="12700">
            <a:solidFill>
              <a:srgbClr val="FFFFFF"/>
            </a:solidFill>
            <a:prstDash val="solid"/>
          </a:ln>
        </p:spPr>
        <p:txBody>
          <a:bodyPr/>
          <a:lstStyle/>
          <a:p>
            <a:endParaRPr lang="en-IN"/>
          </a:p>
        </p:txBody>
      </p:sp>
      <p:pic>
        <p:nvPicPr>
          <p:cNvPr id="54" name="Image 6" descr="preencoded.png"/>
          <p:cNvPicPr>
            <a:picLocks noChangeAspect="1"/>
          </p:cNvPicPr>
          <p:nvPr/>
        </p:nvPicPr>
        <p:blipFill>
          <a:blip r:embed="rId9"/>
          <a:stretch>
            <a:fillRect/>
          </a:stretch>
        </p:blipFill>
        <p:spPr>
          <a:xfrm>
            <a:off x="7957475" y="2324771"/>
            <a:ext cx="215067" cy="215067"/>
          </a:xfrm>
          <a:prstGeom prst="rect">
            <a:avLst/>
          </a:prstGeom>
        </p:spPr>
      </p:pic>
      <p:sp>
        <p:nvSpPr>
          <p:cNvPr id="55" name="Text 46"/>
          <p:cNvSpPr txBox="1"/>
          <p:nvPr/>
        </p:nvSpPr>
        <p:spPr>
          <a:xfrm>
            <a:off x="8375904" y="2221992"/>
            <a:ext cx="3172968" cy="237744"/>
          </a:xfrm>
          <a:prstGeom prst="rect">
            <a:avLst/>
          </a:prstGeom>
          <a:noFill/>
          <a:ln/>
        </p:spPr>
        <p:txBody>
          <a:bodyPr wrap="square" lIns="0" tIns="0" rIns="0" bIns="0" rtlCol="0" anchor="t"/>
          <a:lstStyle/>
          <a:p>
            <a:pPr marL="0" indent="0">
              <a:buNone/>
            </a:pPr>
            <a:r>
              <a:rPr lang="en-US" sz="1250" b="1" dirty="0">
                <a:solidFill>
                  <a:srgbClr val="FFFFFF"/>
                </a:solidFill>
              </a:rPr>
              <a:t>Contract first</a:t>
            </a:r>
            <a:endParaRPr lang="en-US" sz="1250" dirty="0"/>
          </a:p>
        </p:txBody>
      </p:sp>
      <p:sp>
        <p:nvSpPr>
          <p:cNvPr id="56" name="Text 47"/>
          <p:cNvSpPr txBox="1"/>
          <p:nvPr/>
        </p:nvSpPr>
        <p:spPr>
          <a:xfrm>
            <a:off x="8375904" y="2468880"/>
            <a:ext cx="3172968" cy="457200"/>
          </a:xfrm>
          <a:prstGeom prst="rect">
            <a:avLst/>
          </a:prstGeom>
          <a:noFill/>
          <a:ln/>
        </p:spPr>
        <p:txBody>
          <a:bodyPr wrap="square" lIns="0" tIns="0" rIns="0" bIns="0" rtlCol="0" anchor="t"/>
          <a:lstStyle/>
          <a:p>
            <a:pPr marL="0" indent="0">
              <a:buNone/>
            </a:pPr>
            <a:r>
              <a:rPr lang="en-US" sz="1050" dirty="0">
                <a:solidFill>
                  <a:srgbClr val="E6F2F0"/>
                </a:solidFill>
              </a:rPr>
              <a:t>Zod schemas in packages/core; OpenAPI generated</a:t>
            </a:r>
            <a:endParaRPr lang="en-US" sz="1050" dirty="0"/>
          </a:p>
        </p:txBody>
      </p:sp>
      <p:sp>
        <p:nvSpPr>
          <p:cNvPr id="57" name="Shape 48"/>
          <p:cNvSpPr/>
          <p:nvPr/>
        </p:nvSpPr>
        <p:spPr>
          <a:xfrm>
            <a:off x="7872984" y="3044952"/>
            <a:ext cx="384048" cy="384048"/>
          </a:xfrm>
          <a:prstGeom prst="ellipse">
            <a:avLst/>
          </a:prstGeom>
          <a:solidFill>
            <a:srgbClr val="FFFFFF"/>
          </a:solidFill>
          <a:ln w="12700">
            <a:solidFill>
              <a:srgbClr val="FFFFFF"/>
            </a:solidFill>
            <a:prstDash val="solid"/>
          </a:ln>
        </p:spPr>
        <p:txBody>
          <a:bodyPr/>
          <a:lstStyle/>
          <a:p>
            <a:endParaRPr lang="en-IN"/>
          </a:p>
        </p:txBody>
      </p:sp>
      <p:pic>
        <p:nvPicPr>
          <p:cNvPr id="58" name="Image 7" descr="preencoded.png"/>
          <p:cNvPicPr>
            <a:picLocks noChangeAspect="1"/>
          </p:cNvPicPr>
          <p:nvPr/>
        </p:nvPicPr>
        <p:blipFill>
          <a:blip r:embed="rId10"/>
          <a:stretch>
            <a:fillRect/>
          </a:stretch>
        </p:blipFill>
        <p:spPr>
          <a:xfrm>
            <a:off x="7957475" y="3129443"/>
            <a:ext cx="215067" cy="215067"/>
          </a:xfrm>
          <a:prstGeom prst="rect">
            <a:avLst/>
          </a:prstGeom>
        </p:spPr>
      </p:pic>
      <p:sp>
        <p:nvSpPr>
          <p:cNvPr id="59" name="Text 49"/>
          <p:cNvSpPr txBox="1"/>
          <p:nvPr/>
        </p:nvSpPr>
        <p:spPr>
          <a:xfrm>
            <a:off x="8375904" y="3026664"/>
            <a:ext cx="3172968" cy="237744"/>
          </a:xfrm>
          <a:prstGeom prst="rect">
            <a:avLst/>
          </a:prstGeom>
          <a:noFill/>
          <a:ln/>
        </p:spPr>
        <p:txBody>
          <a:bodyPr wrap="square" lIns="0" tIns="0" rIns="0" bIns="0" rtlCol="0" anchor="t"/>
          <a:lstStyle/>
          <a:p>
            <a:pPr marL="0" indent="0">
              <a:buNone/>
            </a:pPr>
            <a:r>
              <a:rPr lang="en-US" sz="1250" b="1" dirty="0">
                <a:solidFill>
                  <a:srgbClr val="FFFFFF"/>
                </a:solidFill>
              </a:rPr>
              <a:t>Test first</a:t>
            </a:r>
            <a:endParaRPr lang="en-US" sz="1250" dirty="0"/>
          </a:p>
        </p:txBody>
      </p:sp>
      <p:sp>
        <p:nvSpPr>
          <p:cNvPr id="60" name="Text 50"/>
          <p:cNvSpPr txBox="1"/>
          <p:nvPr/>
        </p:nvSpPr>
        <p:spPr>
          <a:xfrm>
            <a:off x="8375904" y="3273552"/>
            <a:ext cx="3172968" cy="457200"/>
          </a:xfrm>
          <a:prstGeom prst="rect">
            <a:avLst/>
          </a:prstGeom>
          <a:noFill/>
          <a:ln/>
        </p:spPr>
        <p:txBody>
          <a:bodyPr wrap="square" lIns="0" tIns="0" rIns="0" bIns="0" rtlCol="0" anchor="t"/>
          <a:lstStyle/>
          <a:p>
            <a:pPr marL="0" indent="0">
              <a:buNone/>
            </a:pPr>
            <a:r>
              <a:rPr lang="en-US" sz="1050" dirty="0">
                <a:solidFill>
                  <a:srgbClr val="E6F2F0"/>
                </a:solidFill>
              </a:rPr>
              <a:t>Pure engine unit tests; API on DynamoDB Local; web on MSW mocks</a:t>
            </a:r>
            <a:endParaRPr lang="en-US" sz="1050" dirty="0"/>
          </a:p>
        </p:txBody>
      </p:sp>
      <p:sp>
        <p:nvSpPr>
          <p:cNvPr id="61" name="Shape 51"/>
          <p:cNvSpPr/>
          <p:nvPr/>
        </p:nvSpPr>
        <p:spPr>
          <a:xfrm>
            <a:off x="7872984" y="3849624"/>
            <a:ext cx="384048" cy="384048"/>
          </a:xfrm>
          <a:prstGeom prst="ellipse">
            <a:avLst/>
          </a:prstGeom>
          <a:solidFill>
            <a:srgbClr val="FFFFFF"/>
          </a:solidFill>
          <a:ln w="12700">
            <a:solidFill>
              <a:srgbClr val="FFFFFF"/>
            </a:solidFill>
            <a:prstDash val="solid"/>
          </a:ln>
        </p:spPr>
        <p:txBody>
          <a:bodyPr/>
          <a:lstStyle/>
          <a:p>
            <a:endParaRPr lang="en-IN"/>
          </a:p>
        </p:txBody>
      </p:sp>
      <p:pic>
        <p:nvPicPr>
          <p:cNvPr id="62" name="Image 8" descr="preencoded.png"/>
          <p:cNvPicPr>
            <a:picLocks noChangeAspect="1"/>
          </p:cNvPicPr>
          <p:nvPr/>
        </p:nvPicPr>
        <p:blipFill>
          <a:blip r:embed="rId11"/>
          <a:stretch>
            <a:fillRect/>
          </a:stretch>
        </p:blipFill>
        <p:spPr>
          <a:xfrm>
            <a:off x="7957475" y="3934115"/>
            <a:ext cx="215067" cy="215067"/>
          </a:xfrm>
          <a:prstGeom prst="rect">
            <a:avLst/>
          </a:prstGeom>
        </p:spPr>
      </p:pic>
      <p:sp>
        <p:nvSpPr>
          <p:cNvPr id="63" name="Text 52"/>
          <p:cNvSpPr txBox="1"/>
          <p:nvPr/>
        </p:nvSpPr>
        <p:spPr>
          <a:xfrm>
            <a:off x="8375904" y="3831336"/>
            <a:ext cx="3172968" cy="237744"/>
          </a:xfrm>
          <a:prstGeom prst="rect">
            <a:avLst/>
          </a:prstGeom>
          <a:noFill/>
          <a:ln/>
        </p:spPr>
        <p:txBody>
          <a:bodyPr wrap="square" lIns="0" tIns="0" rIns="0" bIns="0" rtlCol="0" anchor="t"/>
          <a:lstStyle/>
          <a:p>
            <a:pPr marL="0" indent="0">
              <a:buNone/>
            </a:pPr>
            <a:r>
              <a:rPr lang="en-US" sz="1250" b="1" dirty="0">
                <a:solidFill>
                  <a:srgbClr val="FFFFFF"/>
                </a:solidFill>
              </a:rPr>
              <a:t>Four tracks</a:t>
            </a:r>
            <a:endParaRPr lang="en-US" sz="1250" dirty="0"/>
          </a:p>
        </p:txBody>
      </p:sp>
      <p:sp>
        <p:nvSpPr>
          <p:cNvPr id="64" name="Text 53"/>
          <p:cNvSpPr txBox="1"/>
          <p:nvPr/>
        </p:nvSpPr>
        <p:spPr>
          <a:xfrm>
            <a:off x="8375904" y="4078224"/>
            <a:ext cx="3172968" cy="457200"/>
          </a:xfrm>
          <a:prstGeom prst="rect">
            <a:avLst/>
          </a:prstGeom>
          <a:noFill/>
          <a:ln/>
        </p:spPr>
        <p:txBody>
          <a:bodyPr wrap="square" lIns="0" tIns="0" rIns="0" bIns="0" rtlCol="0" anchor="t"/>
          <a:lstStyle/>
          <a:p>
            <a:pPr marL="0" indent="0">
              <a:buNone/>
            </a:pPr>
            <a:r>
              <a:rPr lang="en-US" sz="1050" dirty="0">
                <a:solidFill>
                  <a:srgbClr val="E6F2F0"/>
                </a:solidFill>
              </a:rPr>
              <a:t>Branches T1 to T4, tagged work packages, merged --no-ff</a:t>
            </a:r>
            <a:endParaRPr lang="en-US" sz="1050" dirty="0"/>
          </a:p>
        </p:txBody>
      </p:sp>
      <p:sp>
        <p:nvSpPr>
          <p:cNvPr id="65" name="Shape 54"/>
          <p:cNvSpPr/>
          <p:nvPr/>
        </p:nvSpPr>
        <p:spPr>
          <a:xfrm>
            <a:off x="7872984" y="4654296"/>
            <a:ext cx="384048" cy="384048"/>
          </a:xfrm>
          <a:prstGeom prst="ellipse">
            <a:avLst/>
          </a:prstGeom>
          <a:solidFill>
            <a:srgbClr val="FFFFFF"/>
          </a:solidFill>
          <a:ln w="12700">
            <a:solidFill>
              <a:srgbClr val="FFFFFF"/>
            </a:solidFill>
            <a:prstDash val="solid"/>
          </a:ln>
        </p:spPr>
        <p:txBody>
          <a:bodyPr/>
          <a:lstStyle/>
          <a:p>
            <a:endParaRPr lang="en-IN"/>
          </a:p>
        </p:txBody>
      </p:sp>
      <p:pic>
        <p:nvPicPr>
          <p:cNvPr id="66" name="Image 9" descr="preencoded.png"/>
          <p:cNvPicPr>
            <a:picLocks noChangeAspect="1"/>
          </p:cNvPicPr>
          <p:nvPr/>
        </p:nvPicPr>
        <p:blipFill>
          <a:blip r:embed="rId12"/>
          <a:stretch>
            <a:fillRect/>
          </a:stretch>
        </p:blipFill>
        <p:spPr>
          <a:xfrm>
            <a:off x="7957475" y="4738787"/>
            <a:ext cx="215067" cy="215067"/>
          </a:xfrm>
          <a:prstGeom prst="rect">
            <a:avLst/>
          </a:prstGeom>
        </p:spPr>
      </p:pic>
      <p:sp>
        <p:nvSpPr>
          <p:cNvPr id="67" name="Text 55"/>
          <p:cNvSpPr txBox="1"/>
          <p:nvPr/>
        </p:nvSpPr>
        <p:spPr>
          <a:xfrm>
            <a:off x="8375904" y="4636008"/>
            <a:ext cx="3172968" cy="237744"/>
          </a:xfrm>
          <a:prstGeom prst="rect">
            <a:avLst/>
          </a:prstGeom>
          <a:noFill/>
          <a:ln/>
        </p:spPr>
        <p:txBody>
          <a:bodyPr wrap="square" lIns="0" tIns="0" rIns="0" bIns="0" rtlCol="0" anchor="t"/>
          <a:lstStyle/>
          <a:p>
            <a:pPr marL="0" indent="0">
              <a:buNone/>
            </a:pPr>
            <a:r>
              <a:rPr lang="en-US" sz="1250" b="1" dirty="0">
                <a:solidFill>
                  <a:srgbClr val="FFFFFF"/>
                </a:solidFill>
              </a:rPr>
              <a:t>One verify gate</a:t>
            </a:r>
            <a:endParaRPr lang="en-US" sz="1250" dirty="0"/>
          </a:p>
        </p:txBody>
      </p:sp>
      <p:sp>
        <p:nvSpPr>
          <p:cNvPr id="68" name="Text 56"/>
          <p:cNvSpPr txBox="1"/>
          <p:nvPr/>
        </p:nvSpPr>
        <p:spPr>
          <a:xfrm>
            <a:off x="8375904" y="4882896"/>
            <a:ext cx="3172968" cy="457200"/>
          </a:xfrm>
          <a:prstGeom prst="rect">
            <a:avLst/>
          </a:prstGeom>
          <a:noFill/>
          <a:ln/>
        </p:spPr>
        <p:txBody>
          <a:bodyPr wrap="square" lIns="0" tIns="0" rIns="0" bIns="0" rtlCol="0" anchor="t"/>
          <a:lstStyle/>
          <a:p>
            <a:pPr marL="0" indent="0">
              <a:buNone/>
            </a:pPr>
            <a:r>
              <a:rPr lang="en-US" sz="1050" dirty="0">
                <a:solidFill>
                  <a:srgbClr val="E6F2F0"/>
                </a:solidFill>
              </a:rPr>
              <a:t>Format, lint, typecheck, coverage before every merge</a:t>
            </a:r>
            <a:endParaRPr lang="en-US" sz="1050" dirty="0"/>
          </a:p>
        </p:txBody>
      </p:sp>
      <p:sp>
        <p:nvSpPr>
          <p:cNvPr id="69" name="Shape 57"/>
          <p:cNvSpPr/>
          <p:nvPr/>
        </p:nvSpPr>
        <p:spPr>
          <a:xfrm>
            <a:off x="7872984" y="5458968"/>
            <a:ext cx="384048" cy="384048"/>
          </a:xfrm>
          <a:prstGeom prst="ellipse">
            <a:avLst/>
          </a:prstGeom>
          <a:solidFill>
            <a:srgbClr val="FFFFFF"/>
          </a:solidFill>
          <a:ln w="12700">
            <a:solidFill>
              <a:srgbClr val="FFFFFF"/>
            </a:solidFill>
            <a:prstDash val="solid"/>
          </a:ln>
        </p:spPr>
        <p:txBody>
          <a:bodyPr/>
          <a:lstStyle/>
          <a:p>
            <a:endParaRPr lang="en-IN"/>
          </a:p>
        </p:txBody>
      </p:sp>
      <p:pic>
        <p:nvPicPr>
          <p:cNvPr id="70" name="Image 10" descr="preencoded.png"/>
          <p:cNvPicPr>
            <a:picLocks noChangeAspect="1"/>
          </p:cNvPicPr>
          <p:nvPr/>
        </p:nvPicPr>
        <p:blipFill>
          <a:blip r:embed="rId13"/>
          <a:stretch>
            <a:fillRect/>
          </a:stretch>
        </p:blipFill>
        <p:spPr>
          <a:xfrm>
            <a:off x="7957475" y="5543459"/>
            <a:ext cx="215067" cy="215067"/>
          </a:xfrm>
          <a:prstGeom prst="rect">
            <a:avLst/>
          </a:prstGeom>
        </p:spPr>
      </p:pic>
      <p:sp>
        <p:nvSpPr>
          <p:cNvPr id="71" name="Text 58"/>
          <p:cNvSpPr txBox="1"/>
          <p:nvPr/>
        </p:nvSpPr>
        <p:spPr>
          <a:xfrm>
            <a:off x="8375904" y="5440680"/>
            <a:ext cx="3172968" cy="237744"/>
          </a:xfrm>
          <a:prstGeom prst="rect">
            <a:avLst/>
          </a:prstGeom>
          <a:noFill/>
          <a:ln/>
        </p:spPr>
        <p:txBody>
          <a:bodyPr wrap="square" lIns="0" tIns="0" rIns="0" bIns="0" rtlCol="0" anchor="t"/>
          <a:lstStyle/>
          <a:p>
            <a:pPr marL="0" indent="0">
              <a:buNone/>
            </a:pPr>
            <a:r>
              <a:rPr lang="en-US" sz="1250" b="1" dirty="0">
                <a:solidFill>
                  <a:srgbClr val="FFFFFF"/>
                </a:solidFill>
              </a:rPr>
              <a:t>Deploy with CDK</a:t>
            </a:r>
            <a:endParaRPr lang="en-US" sz="1250" dirty="0"/>
          </a:p>
        </p:txBody>
      </p:sp>
      <p:sp>
        <p:nvSpPr>
          <p:cNvPr id="72" name="Text 59"/>
          <p:cNvSpPr txBox="1"/>
          <p:nvPr/>
        </p:nvSpPr>
        <p:spPr>
          <a:xfrm>
            <a:off x="8375904" y="5687568"/>
            <a:ext cx="3172968" cy="457200"/>
          </a:xfrm>
          <a:prstGeom prst="rect">
            <a:avLst/>
          </a:prstGeom>
          <a:noFill/>
          <a:ln/>
        </p:spPr>
        <p:txBody>
          <a:bodyPr wrap="square" lIns="0" tIns="0" rIns="0" bIns="0" rtlCol="0" anchor="t"/>
          <a:lstStyle/>
          <a:p>
            <a:pPr marL="0" indent="0">
              <a:buNone/>
            </a:pPr>
            <a:r>
              <a:rPr lang="en-US" sz="1050" dirty="0">
                <a:solidFill>
                  <a:srgbClr val="E6F2F0"/>
                </a:solidFill>
              </a:rPr>
              <a:t>Bundle, cdk deploy to dev; decisions logged (D‑001 to D‑069)</a:t>
            </a:r>
            <a:endParaRPr lang="en-US" sz="1050" dirty="0"/>
          </a:p>
        </p:txBody>
      </p:sp>
    </p:spTree>
  </p:cSld>
  <p:clrMapOvr>
    <a:masterClrMapping/>
  </p:clrMapOvr>
</p:sld>
</file>

<file path=ppt/theme/theme1.xml><?xml version="1.0" encoding="utf-8"?>
<a:theme xmlns:a="http://schemas.openxmlformats.org/drawingml/2006/main" name="Group Stay">
  <a:themeElements>
    <a:clrScheme name="Group Stay">
      <a:dk1>
        <a:srgbClr val="16202E"/>
      </a:dk1>
      <a:lt1>
        <a:srgbClr val="FFFFFF"/>
      </a:lt1>
      <a:dk2>
        <a:srgbClr val="0F5F5C"/>
      </a:dk2>
      <a:lt2>
        <a:srgbClr val="F4F2EC"/>
      </a:lt2>
      <a:accent1>
        <a:srgbClr val="0F6E6A"/>
      </a:accent1>
      <a:accent2>
        <a:srgbClr val="E3A23B"/>
      </a:accent2>
      <a:accent3>
        <a:srgbClr val="E6F2F0"/>
      </a:accent3>
      <a:accent4>
        <a:srgbClr val="EFEBE2"/>
      </a:accent4>
      <a:accent5>
        <a:srgbClr val="FCE9CF"/>
      </a:accent5>
      <a:accent6>
        <a:srgbClr val="5B6472"/>
      </a:accent6>
      <a:hlink>
        <a:srgbClr val="0F6E6A"/>
      </a:hlink>
      <a:folHlink>
        <a:srgbClr val="0F5F5C"/>
      </a:folHlink>
    </a:clrScheme>
    <a:fontScheme name="Group Sta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537</Words>
  <Application>Microsoft Office PowerPoint</Application>
  <PresentationFormat>Widescreen</PresentationFormat>
  <Paragraphs>74</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Group Stay</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Stay Quote Builder: tech and flow</dc:title>
  <dc:subject>PptxGenJS Presentation</dc:subject>
  <dc:creator>PptxGenJS</dc:creator>
  <cp:lastModifiedBy>vikram gumudavelli</cp:lastModifiedBy>
  <cp:revision>3</cp:revision>
  <dcterms:created xsi:type="dcterms:W3CDTF">2026-10-18T08:16:18Z</dcterms:created>
  <dcterms:modified xsi:type="dcterms:W3CDTF">2026-10-18T08:51:32Z</dcterms:modified>
</cp:coreProperties>
</file>